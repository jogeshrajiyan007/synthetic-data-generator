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10"/>
  </p:normalViewPr>
  <p:slideViewPr>
    <p:cSldViewPr snapToGrid="0" snapToObjects="1">
      <p:cViewPr varScale="1">
        <p:scale>
          <a:sx n="100" d="100"/>
          <a:sy n="100" d="100"/>
        </p:scale>
        <p:origin x="3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599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6366F1">
              <a:alpha val="12000"/>
            </a:srgbClr>
          </a:solidFill>
          <a:ln w="12700">
            <a:solidFill>
              <a:srgbClr val="6366F1">
                <a:alpha val="12000"/>
              </a:srgbClr>
            </a:solidFill>
            <a:prstDash val="solid"/>
          </a:ln>
        </p:spPr>
        <p:txBody>
          <a:bodyPr/>
          <a:lstStyle/>
          <a:p>
            <a:endParaRPr lang="en-US" dirty="0"/>
          </a:p>
        </p:txBody>
      </p:sp>
      <p:sp>
        <p:nvSpPr>
          <p:cNvPr id="3" name="Shape 1"/>
          <p:cNvSpPr/>
          <p:nvPr/>
        </p:nvSpPr>
        <p:spPr>
          <a:xfrm>
            <a:off x="6858000" y="2286000"/>
            <a:ext cx="3657600" cy="3657600"/>
          </a:xfrm>
          <a:prstGeom prst="ellipse">
            <a:avLst/>
          </a:prstGeom>
          <a:solidFill>
            <a:srgbClr val="14B8A6">
              <a:alpha val="10000"/>
            </a:srgbClr>
          </a:solidFill>
          <a:ln w="12700">
            <a:solidFill>
              <a:srgbClr val="14B8A6">
                <a:alpha val="10000"/>
              </a:srgbClr>
            </a:solidFill>
            <a:prstDash val="solid"/>
          </a:ln>
        </p:spPr>
        <p:txBody>
          <a:bodyPr/>
          <a:lstStyle/>
          <a:p>
            <a:endParaRPr lang="en-US"/>
          </a:p>
        </p:txBody>
      </p:sp>
      <p:sp>
        <p:nvSpPr>
          <p:cNvPr id="4" name="Shape 2"/>
          <p:cNvSpPr/>
          <p:nvPr/>
        </p:nvSpPr>
        <p:spPr>
          <a:xfrm>
            <a:off x="0" y="0"/>
            <a:ext cx="146304" cy="5143500"/>
          </a:xfrm>
          <a:prstGeom prst="rect">
            <a:avLst/>
          </a:prstGeom>
          <a:solidFill>
            <a:srgbClr val="6366F1"/>
          </a:solidFill>
          <a:ln w="12700">
            <a:solidFill>
              <a:srgbClr val="6366F1"/>
            </a:solidFill>
            <a:prstDash val="solid"/>
          </a:ln>
        </p:spPr>
        <p:txBody>
          <a:bodyPr/>
          <a:lstStyle/>
          <a:p>
            <a:endParaRPr lang="en-US"/>
          </a:p>
        </p:txBody>
      </p:sp>
      <p:sp>
        <p:nvSpPr>
          <p:cNvPr id="5" name="Shape 3"/>
          <p:cNvSpPr/>
          <p:nvPr/>
        </p:nvSpPr>
        <p:spPr>
          <a:xfrm>
            <a:off x="384048" y="292608"/>
            <a:ext cx="3840480" cy="329184"/>
          </a:xfrm>
          <a:prstGeom prst="rect">
            <a:avLst/>
          </a:prstGeom>
          <a:solidFill>
            <a:srgbClr val="1F2937"/>
          </a:solidFill>
          <a:ln w="12700">
            <a:solidFill>
              <a:srgbClr val="1E293B"/>
            </a:solidFill>
            <a:prstDash val="solid"/>
          </a:ln>
        </p:spPr>
        <p:txBody>
          <a:bodyPr/>
          <a:lstStyle/>
          <a:p>
            <a:endParaRPr lang="en-US"/>
          </a:p>
        </p:txBody>
      </p:sp>
      <p:sp>
        <p:nvSpPr>
          <p:cNvPr id="6" name="Text 4"/>
          <p:cNvSpPr/>
          <p:nvPr/>
        </p:nvSpPr>
        <p:spPr>
          <a:xfrm>
            <a:off x="384048" y="292608"/>
            <a:ext cx="3840480" cy="329184"/>
          </a:xfrm>
          <a:prstGeom prst="rect">
            <a:avLst/>
          </a:prstGeom>
          <a:noFill/>
          <a:ln/>
        </p:spPr>
        <p:txBody>
          <a:bodyPr wrap="square" lIns="0" tIns="0" rIns="0" bIns="0" rtlCol="0" anchor="ctr"/>
          <a:lstStyle/>
          <a:p>
            <a:pPr marL="0" indent="0" algn="ctr">
              <a:buNone/>
            </a:pPr>
            <a:r>
              <a:rPr lang="en-US" sz="850" b="1" kern="0" spc="200" dirty="0">
                <a:solidFill>
                  <a:srgbClr val="818CF8"/>
                </a:solidFill>
                <a:latin typeface="Calibri" pitchFamily="34" charset="0"/>
                <a:ea typeface="Calibri" pitchFamily="34" charset="-122"/>
                <a:cs typeface="Calibri" pitchFamily="34" charset="-120"/>
              </a:rPr>
              <a:t>USE CASE  ·  DATA GOVERNANCE  </a:t>
            </a:r>
            <a:endParaRPr lang="en-US" sz="850" dirty="0"/>
          </a:p>
        </p:txBody>
      </p:sp>
      <p:pic>
        <p:nvPicPr>
          <p:cNvPr id="7" name="Image 0" descr="preencoded.png"/>
          <p:cNvPicPr>
            <a:picLocks noChangeAspect="1"/>
          </p:cNvPicPr>
          <p:nvPr/>
        </p:nvPicPr>
        <p:blipFill>
          <a:blip r:embed="rId3"/>
          <a:stretch>
            <a:fillRect/>
          </a:stretch>
        </p:blipFill>
        <p:spPr>
          <a:xfrm>
            <a:off x="384048" y="804672"/>
            <a:ext cx="438912" cy="438912"/>
          </a:xfrm>
          <a:prstGeom prst="rect">
            <a:avLst/>
          </a:prstGeom>
        </p:spPr>
      </p:pic>
      <p:sp>
        <p:nvSpPr>
          <p:cNvPr id="8" name="Text 5"/>
          <p:cNvSpPr/>
          <p:nvPr/>
        </p:nvSpPr>
        <p:spPr>
          <a:xfrm>
            <a:off x="932688" y="822960"/>
            <a:ext cx="7863840" cy="420624"/>
          </a:xfrm>
          <a:prstGeom prst="rect">
            <a:avLst/>
          </a:prstGeom>
          <a:noFill/>
          <a:ln/>
        </p:spPr>
        <p:txBody>
          <a:bodyPr wrap="square" lIns="0" tIns="0" rIns="0" bIns="0" rtlCol="0" anchor="ctr"/>
          <a:lstStyle/>
          <a:p>
            <a:pPr marL="0" indent="0" algn="l">
              <a:buNone/>
            </a:pPr>
            <a:r>
              <a:rPr lang="en-US" sz="1600" dirty="0">
                <a:solidFill>
                  <a:srgbClr val="9CA3AF"/>
                </a:solidFill>
                <a:latin typeface="Calibri" pitchFamily="34" charset="0"/>
                <a:ea typeface="Calibri" pitchFamily="34" charset="-122"/>
                <a:cs typeface="Calibri" pitchFamily="34" charset="-120"/>
              </a:rPr>
              <a:t>Closing the</a:t>
            </a:r>
            <a:endParaRPr lang="en-US" sz="1600" dirty="0"/>
          </a:p>
        </p:txBody>
      </p:sp>
      <p:sp>
        <p:nvSpPr>
          <p:cNvPr id="9" name="Text 6"/>
          <p:cNvSpPr/>
          <p:nvPr/>
        </p:nvSpPr>
        <p:spPr>
          <a:xfrm>
            <a:off x="384048" y="1261872"/>
            <a:ext cx="8503920" cy="1207008"/>
          </a:xfrm>
          <a:prstGeom prst="rect">
            <a:avLst/>
          </a:prstGeom>
          <a:noFill/>
          <a:ln/>
        </p:spPr>
        <p:txBody>
          <a:bodyPr wrap="square" lIns="0" tIns="0" rIns="0" bIns="0" rtlCol="0" anchor="ctr"/>
          <a:lstStyle/>
          <a:p>
            <a:pPr marL="0" indent="0" algn="l">
              <a:lnSpc>
                <a:spcPct val="108000"/>
              </a:lnSpc>
              <a:buNone/>
            </a:pPr>
            <a:r>
              <a:rPr lang="en-US" sz="4200" b="1" dirty="0">
                <a:solidFill>
                  <a:srgbClr val="FFFFFF"/>
                </a:solidFill>
                <a:latin typeface="Georgia" pitchFamily="34" charset="0"/>
                <a:ea typeface="Georgia" pitchFamily="34" charset="-122"/>
                <a:cs typeface="Georgia" pitchFamily="34" charset="-120"/>
              </a:rPr>
              <a:t>Institutional Knowledge Gap</a:t>
            </a:r>
            <a:endParaRPr lang="en-US" sz="4200" dirty="0"/>
          </a:p>
        </p:txBody>
      </p:sp>
      <p:sp>
        <p:nvSpPr>
          <p:cNvPr id="10" name="Text 7"/>
          <p:cNvSpPr/>
          <p:nvPr/>
        </p:nvSpPr>
        <p:spPr>
          <a:xfrm>
            <a:off x="384048" y="2523744"/>
            <a:ext cx="7132320" cy="566928"/>
          </a:xfrm>
          <a:prstGeom prst="rect">
            <a:avLst/>
          </a:prstGeom>
          <a:noFill/>
          <a:ln/>
        </p:spPr>
        <p:txBody>
          <a:bodyPr wrap="square" lIns="0" tIns="0" rIns="0" bIns="0" rtlCol="0" anchor="ctr"/>
          <a:lstStyle/>
          <a:p>
            <a:pPr marL="0" indent="0" algn="l">
              <a:buNone/>
            </a:pPr>
            <a:r>
              <a:rPr lang="en-US" sz="1400" dirty="0">
                <a:solidFill>
                  <a:srgbClr val="818CF8"/>
                </a:solidFill>
                <a:latin typeface="Calibri" pitchFamily="34" charset="0"/>
                <a:ea typeface="Calibri" pitchFamily="34" charset="-122"/>
                <a:cs typeface="Calibri" pitchFamily="34" charset="-120"/>
              </a:rPr>
              <a:t>How AI Agents Preserve What People Know — So Organisations Never Lose It Again</a:t>
            </a:r>
            <a:endParaRPr lang="en-US" sz="1400" dirty="0"/>
          </a:p>
        </p:txBody>
      </p:sp>
      <p:sp>
        <p:nvSpPr>
          <p:cNvPr id="11" name="Shape 8"/>
          <p:cNvSpPr/>
          <p:nvPr/>
        </p:nvSpPr>
        <p:spPr>
          <a:xfrm>
            <a:off x="384048" y="3566160"/>
            <a:ext cx="5943600" cy="36576"/>
          </a:xfrm>
          <a:prstGeom prst="rect">
            <a:avLst/>
          </a:prstGeom>
          <a:solidFill>
            <a:srgbClr val="1F2937"/>
          </a:solidFill>
          <a:ln w="12700">
            <a:solidFill>
              <a:srgbClr val="1F2937"/>
            </a:solidFill>
            <a:prstDash val="solid"/>
          </a:ln>
        </p:spPr>
        <p:txBody>
          <a:bodyPr/>
          <a:lstStyle/>
          <a:p>
            <a:endParaRPr lang="en-US"/>
          </a:p>
        </p:txBody>
      </p:sp>
      <p:sp>
        <p:nvSpPr>
          <p:cNvPr id="12" name="Shape 9"/>
          <p:cNvSpPr/>
          <p:nvPr/>
        </p:nvSpPr>
        <p:spPr>
          <a:xfrm>
            <a:off x="384048" y="3749040"/>
            <a:ext cx="1536192" cy="329184"/>
          </a:xfrm>
          <a:prstGeom prst="rect">
            <a:avLst/>
          </a:prstGeom>
          <a:solidFill>
            <a:srgbClr val="1F2937"/>
          </a:solidFill>
          <a:ln w="12700">
            <a:solidFill>
              <a:srgbClr val="1E293B"/>
            </a:solidFill>
            <a:prstDash val="solid"/>
          </a:ln>
        </p:spPr>
        <p:txBody>
          <a:bodyPr/>
          <a:lstStyle/>
          <a:p>
            <a:endParaRPr lang="en-US"/>
          </a:p>
        </p:txBody>
      </p:sp>
      <p:sp>
        <p:nvSpPr>
          <p:cNvPr id="13" name="Text 10"/>
          <p:cNvSpPr/>
          <p:nvPr/>
        </p:nvSpPr>
        <p:spPr>
          <a:xfrm>
            <a:off x="384048" y="3749040"/>
            <a:ext cx="1536192" cy="329184"/>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Product Owners</a:t>
            </a:r>
            <a:endParaRPr lang="en-US" sz="850" dirty="0"/>
          </a:p>
        </p:txBody>
      </p:sp>
      <p:sp>
        <p:nvSpPr>
          <p:cNvPr id="14" name="Shape 11"/>
          <p:cNvSpPr/>
          <p:nvPr/>
        </p:nvSpPr>
        <p:spPr>
          <a:xfrm>
            <a:off x="2048256" y="3749040"/>
            <a:ext cx="1536192" cy="329184"/>
          </a:xfrm>
          <a:prstGeom prst="rect">
            <a:avLst/>
          </a:prstGeom>
          <a:solidFill>
            <a:srgbClr val="1F2937"/>
          </a:solidFill>
          <a:ln w="12700">
            <a:solidFill>
              <a:srgbClr val="1E293B"/>
            </a:solidFill>
            <a:prstDash val="solid"/>
          </a:ln>
        </p:spPr>
        <p:txBody>
          <a:bodyPr/>
          <a:lstStyle/>
          <a:p>
            <a:endParaRPr lang="en-US"/>
          </a:p>
        </p:txBody>
      </p:sp>
      <p:sp>
        <p:nvSpPr>
          <p:cNvPr id="15" name="Text 12"/>
          <p:cNvSpPr/>
          <p:nvPr/>
        </p:nvSpPr>
        <p:spPr>
          <a:xfrm>
            <a:off x="2048256" y="3749040"/>
            <a:ext cx="1536192" cy="329184"/>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Chief Data Officers</a:t>
            </a:r>
            <a:endParaRPr lang="en-US" sz="850" dirty="0"/>
          </a:p>
        </p:txBody>
      </p:sp>
      <p:sp>
        <p:nvSpPr>
          <p:cNvPr id="16" name="Shape 13"/>
          <p:cNvSpPr/>
          <p:nvPr/>
        </p:nvSpPr>
        <p:spPr>
          <a:xfrm>
            <a:off x="3712464" y="3749040"/>
            <a:ext cx="1536192" cy="329184"/>
          </a:xfrm>
          <a:prstGeom prst="rect">
            <a:avLst/>
          </a:prstGeom>
          <a:solidFill>
            <a:srgbClr val="1F2937"/>
          </a:solidFill>
          <a:ln w="12700">
            <a:solidFill>
              <a:srgbClr val="1E293B"/>
            </a:solidFill>
            <a:prstDash val="solid"/>
          </a:ln>
        </p:spPr>
        <p:txBody>
          <a:bodyPr/>
          <a:lstStyle/>
          <a:p>
            <a:endParaRPr lang="en-US"/>
          </a:p>
        </p:txBody>
      </p:sp>
      <p:sp>
        <p:nvSpPr>
          <p:cNvPr id="17" name="Text 14"/>
          <p:cNvSpPr/>
          <p:nvPr/>
        </p:nvSpPr>
        <p:spPr>
          <a:xfrm>
            <a:off x="3712464" y="3749040"/>
            <a:ext cx="1536192" cy="329184"/>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Governance Experts</a:t>
            </a:r>
            <a:endParaRPr lang="en-US" sz="850" dirty="0"/>
          </a:p>
        </p:txBody>
      </p:sp>
      <p:sp>
        <p:nvSpPr>
          <p:cNvPr id="18" name="Shape 15"/>
          <p:cNvSpPr/>
          <p:nvPr/>
        </p:nvSpPr>
        <p:spPr>
          <a:xfrm>
            <a:off x="5376672" y="3749040"/>
            <a:ext cx="1536192" cy="329184"/>
          </a:xfrm>
          <a:prstGeom prst="rect">
            <a:avLst/>
          </a:prstGeom>
          <a:solidFill>
            <a:srgbClr val="1F2937"/>
          </a:solidFill>
          <a:ln w="12700">
            <a:solidFill>
              <a:srgbClr val="1E293B"/>
            </a:solidFill>
            <a:prstDash val="solid"/>
          </a:ln>
        </p:spPr>
        <p:txBody>
          <a:bodyPr/>
          <a:lstStyle/>
          <a:p>
            <a:endParaRPr lang="en-US"/>
          </a:p>
        </p:txBody>
      </p:sp>
      <p:sp>
        <p:nvSpPr>
          <p:cNvPr id="19" name="Text 16"/>
          <p:cNvSpPr/>
          <p:nvPr/>
        </p:nvSpPr>
        <p:spPr>
          <a:xfrm>
            <a:off x="5376672" y="3749040"/>
            <a:ext cx="1536192" cy="329184"/>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Data Eng. Leads</a:t>
            </a:r>
            <a:endParaRPr lang="en-US" sz="850" dirty="0"/>
          </a:p>
        </p:txBody>
      </p:sp>
      <p:sp>
        <p:nvSpPr>
          <p:cNvPr id="20" name="Text 17"/>
          <p:cNvSpPr/>
          <p:nvPr/>
        </p:nvSpPr>
        <p:spPr>
          <a:xfrm>
            <a:off x="384048" y="4617720"/>
            <a:ext cx="8503920" cy="274320"/>
          </a:xfrm>
          <a:prstGeom prst="rect">
            <a:avLst/>
          </a:prstGeom>
          <a:noFill/>
          <a:ln/>
        </p:spPr>
        <p:txBody>
          <a:bodyPr wrap="square" lIns="0" tIns="0" rIns="0" bIns="0" rtlCol="0" anchor="ctr"/>
          <a:lstStyle/>
          <a:p>
            <a:pPr marL="0" indent="0" algn="l">
              <a:buNone/>
            </a:pPr>
            <a:r>
              <a:rPr lang="en-US" sz="750" dirty="0">
                <a:solidFill>
                  <a:schemeClr val="bg1"/>
                </a:solidFill>
                <a:latin typeface="Calibri" pitchFamily="34" charset="0"/>
                <a:ea typeface="Calibri" pitchFamily="34" charset="-122"/>
                <a:cs typeface="Calibri" pitchFamily="34" charset="-120"/>
              </a:rPr>
              <a:t>Sources: Panopto 2025 · Bloomfire 2025 · Deloitte 2025–26 · McKinsey 2025 · MIT Sloan 2025–26 · Gartner 2025 · LangChain State of AI Agents 2025</a:t>
            </a:r>
            <a:endParaRPr lang="en-US" sz="750" dirty="0">
              <a:solidFill>
                <a:schemeClr val="bg1"/>
              </a:solidFill>
            </a:endParaRPr>
          </a:p>
        </p:txBody>
      </p:sp>
      <p:sp>
        <p:nvSpPr>
          <p:cNvPr id="21" name="Shape 18"/>
          <p:cNvSpPr/>
          <p:nvPr/>
        </p:nvSpPr>
        <p:spPr>
          <a:xfrm>
            <a:off x="7315200" y="3291840"/>
            <a:ext cx="1645920" cy="1600200"/>
          </a:xfrm>
          <a:prstGeom prst="rect">
            <a:avLst/>
          </a:prstGeom>
          <a:solidFill>
            <a:srgbClr val="6366F1"/>
          </a:solidFill>
          <a:ln w="12700">
            <a:solidFill>
              <a:srgbClr val="6366F1"/>
            </a:solidFill>
            <a:prstDash val="solid"/>
          </a:ln>
          <a:effectLst>
            <a:outerShdw blurRad="127000" dist="38100" dir="8100000" algn="bl" rotWithShape="0">
              <a:srgbClr val="000000">
                <a:alpha val="18000"/>
              </a:srgbClr>
            </a:outerShdw>
          </a:effectLst>
        </p:spPr>
        <p:txBody>
          <a:bodyPr/>
          <a:lstStyle/>
          <a:p>
            <a:endParaRPr lang="en-US"/>
          </a:p>
        </p:txBody>
      </p:sp>
      <p:sp>
        <p:nvSpPr>
          <p:cNvPr id="22" name="Text 19"/>
          <p:cNvSpPr/>
          <p:nvPr/>
        </p:nvSpPr>
        <p:spPr>
          <a:xfrm>
            <a:off x="7315200" y="3364992"/>
            <a:ext cx="1645920" cy="658368"/>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$47M</a:t>
            </a:r>
            <a:endParaRPr lang="en-US" sz="2800" dirty="0"/>
          </a:p>
        </p:txBody>
      </p:sp>
      <p:sp>
        <p:nvSpPr>
          <p:cNvPr id="23" name="Text 20"/>
          <p:cNvSpPr/>
          <p:nvPr/>
        </p:nvSpPr>
        <p:spPr>
          <a:xfrm>
            <a:off x="7315200" y="4023360"/>
            <a:ext cx="1645920" cy="804672"/>
          </a:xfrm>
          <a:prstGeom prst="rect">
            <a:avLst/>
          </a:prstGeom>
          <a:noFill/>
          <a:ln/>
        </p:spPr>
        <p:txBody>
          <a:bodyPr wrap="square" lIns="0" tIns="0" rIns="0" bIns="0" rtlCol="0" anchor="ctr"/>
          <a:lstStyle/>
          <a:p>
            <a:pPr marL="0" indent="0" algn="ctr">
              <a:lnSpc>
                <a:spcPct val="135000"/>
              </a:lnSpc>
              <a:buNone/>
            </a:pPr>
            <a:r>
              <a:rPr lang="en-US" sz="850" dirty="0">
                <a:solidFill>
                  <a:srgbClr val="FFFFFF"/>
                </a:solidFill>
                <a:latin typeface="Calibri" pitchFamily="34" charset="0"/>
                <a:ea typeface="Calibri" pitchFamily="34" charset="-122"/>
                <a:cs typeface="Calibri" pitchFamily="34" charset="-120"/>
              </a:rPr>
              <a:t>lost every year</a:t>
            </a:r>
            <a:endParaRPr lang="en-US" sz="850" dirty="0"/>
          </a:p>
          <a:p>
            <a:pPr marL="0" indent="0" algn="ctr">
              <a:lnSpc>
                <a:spcPct val="135000"/>
              </a:lnSpc>
              <a:buNone/>
            </a:pPr>
            <a:r>
              <a:rPr lang="en-US" sz="850" dirty="0">
                <a:solidFill>
                  <a:srgbClr val="FFFFFF"/>
                </a:solidFill>
                <a:latin typeface="Calibri" pitchFamily="34" charset="0"/>
                <a:ea typeface="Calibri" pitchFamily="34" charset="-122"/>
                <a:cs typeface="Calibri" pitchFamily="34" charset="-120"/>
              </a:rPr>
              <a:t>per enterprise</a:t>
            </a:r>
            <a:endParaRPr lang="en-US" sz="850" dirty="0"/>
          </a:p>
          <a:p>
            <a:pPr marL="0" indent="0" algn="ctr">
              <a:lnSpc>
                <a:spcPct val="135000"/>
              </a:lnSpc>
              <a:buNone/>
            </a:pPr>
            <a:r>
              <a:rPr lang="en-US" sz="850" dirty="0">
                <a:solidFill>
                  <a:srgbClr val="FFFFFF"/>
                </a:solidFill>
                <a:latin typeface="Calibri" pitchFamily="34" charset="0"/>
                <a:ea typeface="Calibri" pitchFamily="34" charset="-122"/>
                <a:cs typeface="Calibri" pitchFamily="34" charset="-120"/>
              </a:rPr>
              <a:t>(Panopto, 2025)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4444"/>
          </a:solidFill>
          <a:ln w="12700">
            <a:solidFill>
              <a:srgbClr val="EF4444"/>
            </a:solidFill>
            <a:prstDash val="solid"/>
          </a:ln>
        </p:spPr>
        <p:txBody>
          <a:bodyPr/>
          <a:lstStyle/>
          <a:p>
            <a:endParaRPr lang="en-US"/>
          </a:p>
        </p:txBody>
      </p:sp>
      <p:sp>
        <p:nvSpPr>
          <p:cNvPr id="3" name="Text 1"/>
          <p:cNvSpPr/>
          <p:nvPr/>
        </p:nvSpPr>
        <p:spPr>
          <a:xfrm>
            <a:off x="347472" y="256032"/>
            <a:ext cx="8229600" cy="292608"/>
          </a:xfrm>
          <a:prstGeom prst="rect">
            <a:avLst/>
          </a:prstGeom>
          <a:noFill/>
          <a:ln/>
        </p:spPr>
        <p:txBody>
          <a:bodyPr wrap="square" lIns="0" tIns="0" rIns="0" bIns="0" rtlCol="0" anchor="ctr"/>
          <a:lstStyle/>
          <a:p>
            <a:pPr marL="0" indent="0" algn="l">
              <a:buNone/>
            </a:pPr>
            <a:r>
              <a:rPr lang="en-US" sz="900" b="1" kern="0" spc="300" dirty="0">
                <a:solidFill>
                  <a:srgbClr val="EF4444"/>
                </a:solidFill>
                <a:latin typeface="Calibri" pitchFamily="34" charset="0"/>
                <a:ea typeface="Calibri" pitchFamily="34" charset="-122"/>
                <a:cs typeface="Calibri" pitchFamily="34" charset="-120"/>
              </a:rPr>
              <a:t>THE SCALE OF THE PROBLEM</a:t>
            </a:r>
            <a:endParaRPr lang="en-US" sz="900" dirty="0"/>
          </a:p>
        </p:txBody>
      </p:sp>
      <p:sp>
        <p:nvSpPr>
          <p:cNvPr id="4" name="Text 2"/>
          <p:cNvSpPr/>
          <p:nvPr/>
        </p:nvSpPr>
        <p:spPr>
          <a:xfrm>
            <a:off x="347472" y="566928"/>
            <a:ext cx="8412480" cy="713232"/>
          </a:xfrm>
          <a:prstGeom prst="rect">
            <a:avLst/>
          </a:prstGeom>
          <a:noFill/>
          <a:ln/>
        </p:spPr>
        <p:txBody>
          <a:bodyPr wrap="square" lIns="0" tIns="0" rIns="0" bIns="0" rtlCol="0" anchor="ctr"/>
          <a:lstStyle/>
          <a:p>
            <a:pPr marL="0" indent="0" algn="l">
              <a:lnSpc>
                <a:spcPct val="110000"/>
              </a:lnSpc>
              <a:buNone/>
            </a:pPr>
            <a:r>
              <a:rPr lang="en-US" sz="2600" b="1" dirty="0">
                <a:solidFill>
                  <a:srgbClr val="FFFFFF"/>
                </a:solidFill>
                <a:latin typeface="Georgia" pitchFamily="34" charset="0"/>
                <a:ea typeface="Georgia" pitchFamily="34" charset="-122"/>
                <a:cs typeface="Georgia" pitchFamily="34" charset="-120"/>
              </a:rPr>
              <a:t>The Numbers Industry Leaders Are Not Looking At</a:t>
            </a:r>
            <a:endParaRPr lang="en-US" sz="2600" dirty="0"/>
          </a:p>
        </p:txBody>
      </p:sp>
      <p:sp>
        <p:nvSpPr>
          <p:cNvPr id="5" name="Shape 3"/>
          <p:cNvSpPr/>
          <p:nvPr/>
        </p:nvSpPr>
        <p:spPr>
          <a:xfrm>
            <a:off x="320040" y="1737360"/>
            <a:ext cx="2029968" cy="3127248"/>
          </a:xfrm>
          <a:prstGeom prst="rect">
            <a:avLst/>
          </a:prstGeom>
          <a:solidFill>
            <a:srgbClr val="111827"/>
          </a:solidFill>
          <a:ln w="12700">
            <a:solidFill>
              <a:srgbClr val="1E293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20040" y="1737360"/>
            <a:ext cx="2029968" cy="73152"/>
          </a:xfrm>
          <a:prstGeom prst="rect">
            <a:avLst/>
          </a:prstGeom>
          <a:solidFill>
            <a:srgbClr val="EF4444"/>
          </a:solidFill>
          <a:ln w="12700">
            <a:solidFill>
              <a:srgbClr val="EF4444"/>
            </a:solidFill>
            <a:prstDash val="solid"/>
          </a:ln>
        </p:spPr>
        <p:txBody>
          <a:bodyPr/>
          <a:lstStyle/>
          <a:p>
            <a:endParaRPr lang="en-US"/>
          </a:p>
        </p:txBody>
      </p:sp>
      <p:sp>
        <p:nvSpPr>
          <p:cNvPr id="7" name="Text 5"/>
          <p:cNvSpPr/>
          <p:nvPr/>
        </p:nvSpPr>
        <p:spPr>
          <a:xfrm>
            <a:off x="320040" y="1828800"/>
            <a:ext cx="2029968" cy="987552"/>
          </a:xfrm>
          <a:prstGeom prst="rect">
            <a:avLst/>
          </a:prstGeom>
          <a:noFill/>
          <a:ln/>
        </p:spPr>
        <p:txBody>
          <a:bodyPr wrap="square" lIns="0" tIns="0" rIns="0" bIns="0" rtlCol="0" anchor="ctr"/>
          <a:lstStyle/>
          <a:p>
            <a:pPr marL="0" indent="0" algn="ctr">
              <a:buNone/>
            </a:pPr>
            <a:r>
              <a:rPr lang="en-US" sz="3800" b="1" dirty="0">
                <a:solidFill>
                  <a:srgbClr val="EF4444"/>
                </a:solidFill>
                <a:latin typeface="Georgia" pitchFamily="34" charset="0"/>
                <a:ea typeface="Georgia" pitchFamily="34" charset="-122"/>
                <a:cs typeface="Georgia" pitchFamily="34" charset="-120"/>
              </a:rPr>
              <a:t>$47M</a:t>
            </a:r>
            <a:endParaRPr lang="en-US" sz="3800" dirty="0"/>
          </a:p>
        </p:txBody>
      </p:sp>
      <p:sp>
        <p:nvSpPr>
          <p:cNvPr id="8" name="Text 6"/>
          <p:cNvSpPr/>
          <p:nvPr/>
        </p:nvSpPr>
        <p:spPr>
          <a:xfrm>
            <a:off x="429768" y="2880360"/>
            <a:ext cx="1810512" cy="1207008"/>
          </a:xfrm>
          <a:prstGeom prst="rect">
            <a:avLst/>
          </a:prstGeom>
          <a:noFill/>
          <a:ln/>
        </p:spPr>
        <p:txBody>
          <a:bodyPr wrap="square" lIns="0" tIns="0" rIns="0" bIns="0" rtlCol="0" anchor="t"/>
          <a:lstStyle/>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avg. annual loss per large enterprise</a:t>
            </a:r>
            <a:endParaRPr lang="en-US" sz="1000" dirty="0"/>
          </a:p>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from inefficient knowledge sharing</a:t>
            </a:r>
            <a:endParaRPr lang="en-US" sz="1000" dirty="0"/>
          </a:p>
        </p:txBody>
      </p:sp>
      <p:sp>
        <p:nvSpPr>
          <p:cNvPr id="9" name="Text 7"/>
          <p:cNvSpPr/>
          <p:nvPr/>
        </p:nvSpPr>
        <p:spPr>
          <a:xfrm>
            <a:off x="429768" y="4160520"/>
            <a:ext cx="1810512" cy="502920"/>
          </a:xfrm>
          <a:prstGeom prst="rect">
            <a:avLst/>
          </a:prstGeom>
          <a:noFill/>
          <a:ln/>
        </p:spPr>
        <p:txBody>
          <a:bodyPr wrap="square" lIns="0" tIns="0" rIns="0" bIns="0" rtlCol="0" anchor="b"/>
          <a:lstStyle/>
          <a:p>
            <a:pPr marL="0" indent="0" algn="l">
              <a:buNone/>
            </a:pPr>
            <a:r>
              <a:rPr lang="en-US" sz="800" i="1" dirty="0">
                <a:solidFill>
                  <a:srgbClr val="9CA3AF"/>
                </a:solidFill>
                <a:latin typeface="Calibri" pitchFamily="34" charset="0"/>
                <a:ea typeface="Calibri" pitchFamily="34" charset="-122"/>
                <a:cs typeface="Calibri" pitchFamily="34" charset="-120"/>
              </a:rPr>
              <a:t>Panopto, 2025</a:t>
            </a:r>
            <a:endParaRPr lang="en-US" sz="800" dirty="0"/>
          </a:p>
        </p:txBody>
      </p:sp>
      <p:sp>
        <p:nvSpPr>
          <p:cNvPr id="10" name="Shape 8"/>
          <p:cNvSpPr/>
          <p:nvPr/>
        </p:nvSpPr>
        <p:spPr>
          <a:xfrm>
            <a:off x="2496312" y="1737360"/>
            <a:ext cx="2029968" cy="3127248"/>
          </a:xfrm>
          <a:prstGeom prst="rect">
            <a:avLst/>
          </a:prstGeom>
          <a:solidFill>
            <a:srgbClr val="111827"/>
          </a:solidFill>
          <a:ln w="12700">
            <a:solidFill>
              <a:srgbClr val="1E293B"/>
            </a:solidFill>
            <a:prstDash val="solid"/>
          </a:ln>
          <a:effectLst>
            <a:outerShdw blurRad="127000" dist="38100" dir="8100000" algn="bl" rotWithShape="0">
              <a:srgbClr val="000000">
                <a:alpha val="18000"/>
              </a:srgbClr>
            </a:outerShdw>
          </a:effectLst>
        </p:spPr>
        <p:txBody>
          <a:bodyPr/>
          <a:lstStyle/>
          <a:p>
            <a:endParaRPr lang="en-US"/>
          </a:p>
        </p:txBody>
      </p:sp>
      <p:sp>
        <p:nvSpPr>
          <p:cNvPr id="11" name="Shape 9"/>
          <p:cNvSpPr/>
          <p:nvPr/>
        </p:nvSpPr>
        <p:spPr>
          <a:xfrm>
            <a:off x="2496312" y="1737360"/>
            <a:ext cx="2029968" cy="73152"/>
          </a:xfrm>
          <a:prstGeom prst="rect">
            <a:avLst/>
          </a:prstGeom>
          <a:solidFill>
            <a:srgbClr val="6366F1"/>
          </a:solidFill>
          <a:ln w="12700">
            <a:solidFill>
              <a:srgbClr val="6366F1"/>
            </a:solidFill>
            <a:prstDash val="solid"/>
          </a:ln>
        </p:spPr>
        <p:txBody>
          <a:bodyPr/>
          <a:lstStyle/>
          <a:p>
            <a:endParaRPr lang="en-US"/>
          </a:p>
        </p:txBody>
      </p:sp>
      <p:sp>
        <p:nvSpPr>
          <p:cNvPr id="12" name="Text 10"/>
          <p:cNvSpPr/>
          <p:nvPr/>
        </p:nvSpPr>
        <p:spPr>
          <a:xfrm>
            <a:off x="2496312" y="1828800"/>
            <a:ext cx="2029968" cy="987552"/>
          </a:xfrm>
          <a:prstGeom prst="rect">
            <a:avLst/>
          </a:prstGeom>
          <a:noFill/>
          <a:ln/>
        </p:spPr>
        <p:txBody>
          <a:bodyPr wrap="square" lIns="0" tIns="0" rIns="0" bIns="0" rtlCol="0" anchor="ctr"/>
          <a:lstStyle/>
          <a:p>
            <a:pPr marL="0" indent="0" algn="ctr">
              <a:buNone/>
            </a:pPr>
            <a:r>
              <a:rPr lang="en-US" sz="3800" b="1" dirty="0">
                <a:solidFill>
                  <a:srgbClr val="6366F1"/>
                </a:solidFill>
                <a:latin typeface="Georgia" pitchFamily="34" charset="0"/>
                <a:ea typeface="Georgia" pitchFamily="34" charset="-122"/>
                <a:cs typeface="Georgia" pitchFamily="34" charset="-120"/>
              </a:rPr>
              <a:t>42%</a:t>
            </a:r>
            <a:endParaRPr lang="en-US" sz="3800" dirty="0"/>
          </a:p>
        </p:txBody>
      </p:sp>
      <p:sp>
        <p:nvSpPr>
          <p:cNvPr id="13" name="Text 11"/>
          <p:cNvSpPr/>
          <p:nvPr/>
        </p:nvSpPr>
        <p:spPr>
          <a:xfrm>
            <a:off x="2606040" y="2880360"/>
            <a:ext cx="1810512" cy="1207008"/>
          </a:xfrm>
          <a:prstGeom prst="rect">
            <a:avLst/>
          </a:prstGeom>
          <a:noFill/>
          <a:ln/>
        </p:spPr>
        <p:txBody>
          <a:bodyPr wrap="square" lIns="0" tIns="0" rIns="0" bIns="0" rtlCol="0" anchor="t"/>
          <a:lstStyle/>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of institutional knowledge exists only</a:t>
            </a:r>
            <a:endParaRPr lang="en-US" sz="1000" dirty="0"/>
          </a:p>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in one person's head — never shared</a:t>
            </a:r>
            <a:endParaRPr lang="en-US" sz="1000" dirty="0"/>
          </a:p>
        </p:txBody>
      </p:sp>
      <p:sp>
        <p:nvSpPr>
          <p:cNvPr id="14" name="Text 12"/>
          <p:cNvSpPr/>
          <p:nvPr/>
        </p:nvSpPr>
        <p:spPr>
          <a:xfrm>
            <a:off x="2606040" y="4160520"/>
            <a:ext cx="1810512" cy="502920"/>
          </a:xfrm>
          <a:prstGeom prst="rect">
            <a:avLst/>
          </a:prstGeom>
          <a:noFill/>
          <a:ln/>
        </p:spPr>
        <p:txBody>
          <a:bodyPr wrap="square" lIns="0" tIns="0" rIns="0" bIns="0" rtlCol="0" anchor="b"/>
          <a:lstStyle/>
          <a:p>
            <a:pPr marL="0" indent="0" algn="l">
              <a:buNone/>
            </a:pPr>
            <a:r>
              <a:rPr lang="en-US" sz="800" i="1" dirty="0">
                <a:solidFill>
                  <a:srgbClr val="9CA3AF"/>
                </a:solidFill>
                <a:latin typeface="Calibri" pitchFamily="34" charset="0"/>
                <a:ea typeface="Calibri" pitchFamily="34" charset="-122"/>
                <a:cs typeface="Calibri" pitchFamily="34" charset="-120"/>
              </a:rPr>
              <a:t>Panopto / IDC, 2025</a:t>
            </a:r>
            <a:endParaRPr lang="en-US" sz="800" dirty="0"/>
          </a:p>
        </p:txBody>
      </p:sp>
      <p:sp>
        <p:nvSpPr>
          <p:cNvPr id="15" name="Shape 13"/>
          <p:cNvSpPr/>
          <p:nvPr/>
        </p:nvSpPr>
        <p:spPr>
          <a:xfrm>
            <a:off x="4672584" y="1737360"/>
            <a:ext cx="2029968" cy="3127248"/>
          </a:xfrm>
          <a:prstGeom prst="rect">
            <a:avLst/>
          </a:prstGeom>
          <a:solidFill>
            <a:srgbClr val="111827"/>
          </a:solidFill>
          <a:ln w="12700">
            <a:solidFill>
              <a:srgbClr val="1E293B"/>
            </a:solidFill>
            <a:prstDash val="solid"/>
          </a:ln>
          <a:effectLst>
            <a:outerShdw blurRad="127000" dist="38100" dir="8100000" algn="bl" rotWithShape="0">
              <a:srgbClr val="000000">
                <a:alpha val="18000"/>
              </a:srgbClr>
            </a:outerShdw>
          </a:effectLst>
        </p:spPr>
        <p:txBody>
          <a:bodyPr/>
          <a:lstStyle/>
          <a:p>
            <a:endParaRPr lang="en-US"/>
          </a:p>
        </p:txBody>
      </p:sp>
      <p:sp>
        <p:nvSpPr>
          <p:cNvPr id="16" name="Shape 14"/>
          <p:cNvSpPr/>
          <p:nvPr/>
        </p:nvSpPr>
        <p:spPr>
          <a:xfrm>
            <a:off x="4672584" y="1737360"/>
            <a:ext cx="2029968" cy="73152"/>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4672584" y="1828800"/>
            <a:ext cx="2029968" cy="987552"/>
          </a:xfrm>
          <a:prstGeom prst="rect">
            <a:avLst/>
          </a:prstGeom>
          <a:noFill/>
          <a:ln/>
        </p:spPr>
        <p:txBody>
          <a:bodyPr wrap="square" lIns="0" tIns="0" rIns="0" bIns="0" rtlCol="0" anchor="ctr"/>
          <a:lstStyle/>
          <a:p>
            <a:pPr marL="0" indent="0" algn="ctr">
              <a:buNone/>
            </a:pPr>
            <a:r>
              <a:rPr lang="en-US" sz="3800" b="1" dirty="0">
                <a:solidFill>
                  <a:srgbClr val="F59E0B"/>
                </a:solidFill>
                <a:latin typeface="Georgia" pitchFamily="34" charset="0"/>
                <a:ea typeface="Georgia" pitchFamily="34" charset="-122"/>
                <a:cs typeface="Georgia" pitchFamily="34" charset="-120"/>
              </a:rPr>
              <a:t>80%</a:t>
            </a:r>
            <a:endParaRPr lang="en-US" sz="3800" dirty="0"/>
          </a:p>
        </p:txBody>
      </p:sp>
      <p:sp>
        <p:nvSpPr>
          <p:cNvPr id="18" name="Text 16"/>
          <p:cNvSpPr/>
          <p:nvPr/>
        </p:nvSpPr>
        <p:spPr>
          <a:xfrm>
            <a:off x="4782312" y="2880360"/>
            <a:ext cx="1810512" cy="1207008"/>
          </a:xfrm>
          <a:prstGeom prst="rect">
            <a:avLst/>
          </a:prstGeom>
          <a:noFill/>
          <a:ln/>
        </p:spPr>
        <p:txBody>
          <a:bodyPr wrap="square" lIns="0" tIns="0" rIns="0" bIns="0" rtlCol="0" anchor="t"/>
          <a:lstStyle/>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of critical organisational knowledge</a:t>
            </a:r>
            <a:endParaRPr lang="en-US" sz="1000" dirty="0"/>
          </a:p>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is never formally documented</a:t>
            </a:r>
            <a:endParaRPr lang="en-US" sz="1000" dirty="0"/>
          </a:p>
        </p:txBody>
      </p:sp>
      <p:sp>
        <p:nvSpPr>
          <p:cNvPr id="19" name="Text 17"/>
          <p:cNvSpPr/>
          <p:nvPr/>
        </p:nvSpPr>
        <p:spPr>
          <a:xfrm>
            <a:off x="4782312" y="4160520"/>
            <a:ext cx="1810512" cy="502920"/>
          </a:xfrm>
          <a:prstGeom prst="rect">
            <a:avLst/>
          </a:prstGeom>
          <a:noFill/>
          <a:ln/>
        </p:spPr>
        <p:txBody>
          <a:bodyPr wrap="square" lIns="0" tIns="0" rIns="0" bIns="0" rtlCol="0" anchor="b"/>
          <a:lstStyle/>
          <a:p>
            <a:pPr marL="0" indent="0" algn="l">
              <a:buNone/>
            </a:pPr>
            <a:r>
              <a:rPr lang="en-US" sz="800" i="1" dirty="0">
                <a:solidFill>
                  <a:srgbClr val="9CA3AF"/>
                </a:solidFill>
                <a:latin typeface="Calibri" pitchFamily="34" charset="0"/>
                <a:ea typeface="Calibri" pitchFamily="34" charset="-122"/>
                <a:cs typeface="Calibri" pitchFamily="34" charset="-120"/>
              </a:rPr>
              <a:t>Bloomfire, 2025</a:t>
            </a:r>
            <a:endParaRPr lang="en-US" sz="800" dirty="0"/>
          </a:p>
        </p:txBody>
      </p:sp>
      <p:sp>
        <p:nvSpPr>
          <p:cNvPr id="20" name="Shape 18"/>
          <p:cNvSpPr/>
          <p:nvPr/>
        </p:nvSpPr>
        <p:spPr>
          <a:xfrm>
            <a:off x="6848856" y="1737360"/>
            <a:ext cx="2029968" cy="3127248"/>
          </a:xfrm>
          <a:prstGeom prst="rect">
            <a:avLst/>
          </a:prstGeom>
          <a:solidFill>
            <a:srgbClr val="111827"/>
          </a:solidFill>
          <a:ln w="12700">
            <a:solidFill>
              <a:srgbClr val="1E293B"/>
            </a:solidFill>
            <a:prstDash val="solid"/>
          </a:ln>
          <a:effectLst>
            <a:outerShdw blurRad="127000" dist="38100" dir="8100000" algn="bl" rotWithShape="0">
              <a:srgbClr val="000000">
                <a:alpha val="18000"/>
              </a:srgbClr>
            </a:outerShdw>
          </a:effectLst>
        </p:spPr>
        <p:txBody>
          <a:bodyPr/>
          <a:lstStyle/>
          <a:p>
            <a:endParaRPr lang="en-US"/>
          </a:p>
        </p:txBody>
      </p:sp>
      <p:sp>
        <p:nvSpPr>
          <p:cNvPr id="21" name="Shape 19"/>
          <p:cNvSpPr/>
          <p:nvPr/>
        </p:nvSpPr>
        <p:spPr>
          <a:xfrm>
            <a:off x="6848856" y="1737360"/>
            <a:ext cx="2029968" cy="73152"/>
          </a:xfrm>
          <a:prstGeom prst="rect">
            <a:avLst/>
          </a:prstGeom>
          <a:solidFill>
            <a:srgbClr val="14B8A6"/>
          </a:solidFill>
          <a:ln w="12700">
            <a:solidFill>
              <a:srgbClr val="14B8A6"/>
            </a:solidFill>
            <a:prstDash val="solid"/>
          </a:ln>
        </p:spPr>
        <p:txBody>
          <a:bodyPr/>
          <a:lstStyle/>
          <a:p>
            <a:endParaRPr lang="en-US"/>
          </a:p>
        </p:txBody>
      </p:sp>
      <p:sp>
        <p:nvSpPr>
          <p:cNvPr id="22" name="Text 20"/>
          <p:cNvSpPr/>
          <p:nvPr/>
        </p:nvSpPr>
        <p:spPr>
          <a:xfrm>
            <a:off x="6848856" y="1828800"/>
            <a:ext cx="2029968" cy="987552"/>
          </a:xfrm>
          <a:prstGeom prst="rect">
            <a:avLst/>
          </a:prstGeom>
          <a:noFill/>
          <a:ln/>
        </p:spPr>
        <p:txBody>
          <a:bodyPr wrap="square" lIns="0" tIns="0" rIns="0" bIns="0" rtlCol="0" anchor="ctr"/>
          <a:lstStyle/>
          <a:p>
            <a:pPr marL="0" indent="0" algn="ctr">
              <a:buNone/>
            </a:pPr>
            <a:r>
              <a:rPr lang="en-US" sz="3800" b="1" dirty="0">
                <a:solidFill>
                  <a:srgbClr val="14B8A6"/>
                </a:solidFill>
                <a:latin typeface="Georgia" pitchFamily="34" charset="0"/>
                <a:ea typeface="Georgia" pitchFamily="34" charset="-122"/>
                <a:cs typeface="Georgia" pitchFamily="34" charset="-120"/>
              </a:rPr>
              <a:t>$31.5B</a:t>
            </a:r>
            <a:endParaRPr lang="en-US" sz="3800" dirty="0"/>
          </a:p>
        </p:txBody>
      </p:sp>
      <p:sp>
        <p:nvSpPr>
          <p:cNvPr id="23" name="Text 21"/>
          <p:cNvSpPr/>
          <p:nvPr/>
        </p:nvSpPr>
        <p:spPr>
          <a:xfrm>
            <a:off x="6958584" y="2880360"/>
            <a:ext cx="1810512" cy="1207008"/>
          </a:xfrm>
          <a:prstGeom prst="rect">
            <a:avLst/>
          </a:prstGeom>
          <a:noFill/>
          <a:ln/>
        </p:spPr>
        <p:txBody>
          <a:bodyPr wrap="square" lIns="0" tIns="0" rIns="0" bIns="0" rtlCol="0" anchor="t"/>
          <a:lstStyle/>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lost annually across Fortune 500s</a:t>
            </a:r>
            <a:endParaRPr lang="en-US" sz="1000" dirty="0"/>
          </a:p>
          <a:p>
            <a:pPr marL="0" indent="0" algn="l">
              <a:lnSpc>
                <a:spcPct val="140000"/>
              </a:lnSpc>
              <a:buNone/>
            </a:pPr>
            <a:r>
              <a:rPr lang="en-US" sz="1000" dirty="0">
                <a:solidFill>
                  <a:srgbClr val="D1D5DB"/>
                </a:solidFill>
                <a:latin typeface="Calibri" pitchFamily="34" charset="0"/>
                <a:ea typeface="Calibri" pitchFamily="34" charset="-122"/>
                <a:cs typeface="Calibri" pitchFamily="34" charset="-120"/>
              </a:rPr>
              <a:t>from failure to share knowledge</a:t>
            </a:r>
            <a:endParaRPr lang="en-US" sz="1000" dirty="0"/>
          </a:p>
        </p:txBody>
      </p:sp>
      <p:sp>
        <p:nvSpPr>
          <p:cNvPr id="24" name="Text 22"/>
          <p:cNvSpPr/>
          <p:nvPr/>
        </p:nvSpPr>
        <p:spPr>
          <a:xfrm>
            <a:off x="6958584" y="4160520"/>
            <a:ext cx="1810512" cy="502920"/>
          </a:xfrm>
          <a:prstGeom prst="rect">
            <a:avLst/>
          </a:prstGeom>
          <a:noFill/>
          <a:ln/>
        </p:spPr>
        <p:txBody>
          <a:bodyPr wrap="square" lIns="0" tIns="0" rIns="0" bIns="0" rtlCol="0" anchor="b"/>
          <a:lstStyle/>
          <a:p>
            <a:pPr marL="0" indent="0" algn="l">
              <a:buNone/>
            </a:pPr>
            <a:r>
              <a:rPr lang="en-US" sz="800" i="1" dirty="0">
                <a:solidFill>
                  <a:srgbClr val="9CA3AF"/>
                </a:solidFill>
                <a:latin typeface="Calibri" pitchFamily="34" charset="0"/>
                <a:ea typeface="Calibri" pitchFamily="34" charset="-122"/>
                <a:cs typeface="Calibri" pitchFamily="34" charset="-120"/>
              </a:rPr>
              <a:t>IDC, 2024–25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818CF8"/>
                </a:solidFill>
                <a:latin typeface="Calibri" pitchFamily="34" charset="0"/>
                <a:ea typeface="Calibri" pitchFamily="34" charset="-122"/>
                <a:cs typeface="Calibri" pitchFamily="34" charset="-120"/>
              </a:rPr>
              <a:t>01 · UNDERSTANDING THE PROBLEM</a:t>
            </a:r>
            <a:endParaRPr lang="en-US" sz="950" dirty="0"/>
          </a:p>
        </p:txBody>
      </p:sp>
      <p:sp>
        <p:nvSpPr>
          <p:cNvPr id="4" name="Text 2"/>
          <p:cNvSpPr/>
          <p:nvPr/>
        </p:nvSpPr>
        <p:spPr>
          <a:xfrm>
            <a:off x="384048" y="932688"/>
            <a:ext cx="8412480" cy="1024128"/>
          </a:xfrm>
          <a:prstGeom prst="rect">
            <a:avLst/>
          </a:prstGeom>
          <a:noFill/>
          <a:ln/>
        </p:spPr>
        <p:txBody>
          <a:bodyPr wrap="square" lIns="0" tIns="0" rIns="0" bIns="0" rtlCol="0" anchor="ctr"/>
          <a:lstStyle/>
          <a:p>
            <a:pPr marL="0" indent="0" algn="l">
              <a:lnSpc>
                <a:spcPct val="115000"/>
              </a:lnSpc>
              <a:buNone/>
            </a:pPr>
            <a:r>
              <a:rPr lang="en-US" sz="2800" b="1" dirty="0">
                <a:solidFill>
                  <a:srgbClr val="111827"/>
                </a:solidFill>
                <a:latin typeface="Georgia" pitchFamily="34" charset="0"/>
                <a:ea typeface="Georgia" pitchFamily="34" charset="-122"/>
                <a:cs typeface="Georgia" pitchFamily="34" charset="-120"/>
              </a:rPr>
              <a:t>Two Types of Knowledge —</a:t>
            </a:r>
            <a:endParaRPr lang="en-US" sz="2800" dirty="0"/>
          </a:p>
          <a:p>
            <a:pPr marL="0" indent="0" algn="l">
              <a:lnSpc>
                <a:spcPct val="115000"/>
              </a:lnSpc>
              <a:buNone/>
            </a:pPr>
            <a:r>
              <a:rPr lang="en-US" sz="2800" b="1" dirty="0">
                <a:solidFill>
                  <a:srgbClr val="111827"/>
                </a:solidFill>
                <a:latin typeface="Georgia" pitchFamily="34" charset="0"/>
                <a:ea typeface="Georgia" pitchFamily="34" charset="-122"/>
                <a:cs typeface="Georgia" pitchFamily="34" charset="-120"/>
              </a:rPr>
              <a:t>Only One Survives Transitions</a:t>
            </a:r>
            <a:endParaRPr lang="en-US" sz="2800" dirty="0"/>
          </a:p>
        </p:txBody>
      </p:sp>
      <p:sp>
        <p:nvSpPr>
          <p:cNvPr id="5" name="Shape 3"/>
          <p:cNvSpPr/>
          <p:nvPr/>
        </p:nvSpPr>
        <p:spPr>
          <a:xfrm>
            <a:off x="384048" y="2103120"/>
            <a:ext cx="3977640" cy="2743200"/>
          </a:xfrm>
          <a:prstGeom prst="rect">
            <a:avLst/>
          </a:prstGeom>
          <a:solidFill>
            <a:srgbClr val="FFFFFF"/>
          </a:solidFill>
          <a:ln w="12700">
            <a:solidFill>
              <a:srgbClr val="D1D5D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84048" y="2103120"/>
            <a:ext cx="3977640" cy="73152"/>
          </a:xfrm>
          <a:prstGeom prst="rect">
            <a:avLst/>
          </a:prstGeom>
          <a:solidFill>
            <a:srgbClr val="6366F1"/>
          </a:solidFill>
          <a:ln w="12700">
            <a:solidFill>
              <a:srgbClr val="6366F1"/>
            </a:solidFill>
            <a:prstDash val="solid"/>
          </a:ln>
        </p:spPr>
        <p:txBody>
          <a:bodyPr/>
          <a:lstStyle/>
          <a:p>
            <a:endParaRPr lang="en-US"/>
          </a:p>
        </p:txBody>
      </p:sp>
      <p:sp>
        <p:nvSpPr>
          <p:cNvPr id="7" name="Text 5"/>
          <p:cNvSpPr/>
          <p:nvPr/>
        </p:nvSpPr>
        <p:spPr>
          <a:xfrm>
            <a:off x="530352" y="2212848"/>
            <a:ext cx="3657600" cy="292608"/>
          </a:xfrm>
          <a:prstGeom prst="rect">
            <a:avLst/>
          </a:prstGeom>
          <a:noFill/>
          <a:ln/>
        </p:spPr>
        <p:txBody>
          <a:bodyPr wrap="square" lIns="0" tIns="0" rIns="0" bIns="0" rtlCol="0" anchor="ctr"/>
          <a:lstStyle/>
          <a:p>
            <a:pPr marL="0" indent="0" algn="l">
              <a:buNone/>
            </a:pPr>
            <a:r>
              <a:rPr lang="en-US" sz="900" b="1" kern="0" spc="200" dirty="0">
                <a:solidFill>
                  <a:srgbClr val="6366F1"/>
                </a:solidFill>
                <a:latin typeface="Calibri" pitchFamily="34" charset="0"/>
                <a:ea typeface="Calibri" pitchFamily="34" charset="-122"/>
                <a:cs typeface="Calibri" pitchFamily="34" charset="-120"/>
              </a:rPr>
              <a:t>EXPLICIT KNOWLEDGE</a:t>
            </a:r>
            <a:endParaRPr lang="en-US" sz="900" dirty="0"/>
          </a:p>
        </p:txBody>
      </p:sp>
      <p:sp>
        <p:nvSpPr>
          <p:cNvPr id="8" name="Text 6"/>
          <p:cNvSpPr/>
          <p:nvPr/>
        </p:nvSpPr>
        <p:spPr>
          <a:xfrm>
            <a:off x="530352" y="2523744"/>
            <a:ext cx="3657600" cy="320040"/>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Documented. Transferable. Visible.</a:t>
            </a:r>
            <a:endParaRPr lang="en-US" sz="1300" dirty="0"/>
          </a:p>
        </p:txBody>
      </p:sp>
      <p:sp>
        <p:nvSpPr>
          <p:cNvPr id="9" name="Text 7"/>
          <p:cNvSpPr/>
          <p:nvPr/>
        </p:nvSpPr>
        <p:spPr>
          <a:xfrm>
            <a:off x="530352" y="2907792"/>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Pipeline schemas and table definitions</a:t>
            </a:r>
            <a:endParaRPr lang="en-US" sz="1150" dirty="0"/>
          </a:p>
        </p:txBody>
      </p:sp>
      <p:sp>
        <p:nvSpPr>
          <p:cNvPr id="10" name="Text 8"/>
          <p:cNvSpPr/>
          <p:nvPr/>
        </p:nvSpPr>
        <p:spPr>
          <a:xfrm>
            <a:off x="530352" y="3255264"/>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API specifications and integration docs</a:t>
            </a:r>
            <a:endParaRPr lang="en-US" sz="1150" dirty="0"/>
          </a:p>
        </p:txBody>
      </p:sp>
      <p:sp>
        <p:nvSpPr>
          <p:cNvPr id="11" name="Text 9"/>
          <p:cNvSpPr/>
          <p:nvPr/>
        </p:nvSpPr>
        <p:spPr>
          <a:xfrm>
            <a:off x="530352" y="3602736"/>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SLA thresholds and quality rule configs</a:t>
            </a:r>
            <a:endParaRPr lang="en-US" sz="1150" dirty="0"/>
          </a:p>
        </p:txBody>
      </p:sp>
      <p:sp>
        <p:nvSpPr>
          <p:cNvPr id="12" name="Text 10"/>
          <p:cNvSpPr/>
          <p:nvPr/>
        </p:nvSpPr>
        <p:spPr>
          <a:xfrm>
            <a:off x="530352" y="3950208"/>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Data dictionaries and glossary entries</a:t>
            </a:r>
            <a:endParaRPr lang="en-US" sz="1150" dirty="0"/>
          </a:p>
        </p:txBody>
      </p:sp>
      <p:sp>
        <p:nvSpPr>
          <p:cNvPr id="13" name="Text 11"/>
          <p:cNvSpPr/>
          <p:nvPr/>
        </p:nvSpPr>
        <p:spPr>
          <a:xfrm>
            <a:off x="530352" y="4297680"/>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Compliance checklists and audit logs</a:t>
            </a:r>
            <a:endParaRPr lang="en-US" sz="1150" dirty="0"/>
          </a:p>
        </p:txBody>
      </p:sp>
      <p:sp>
        <p:nvSpPr>
          <p:cNvPr id="14" name="Text 12"/>
          <p:cNvSpPr/>
          <p:nvPr/>
        </p:nvSpPr>
        <p:spPr>
          <a:xfrm>
            <a:off x="530352" y="4617720"/>
            <a:ext cx="3657600" cy="182880"/>
          </a:xfrm>
          <a:prstGeom prst="rect">
            <a:avLst/>
          </a:prstGeom>
          <a:noFill/>
          <a:ln/>
        </p:spPr>
        <p:txBody>
          <a:bodyPr wrap="square" lIns="0" tIns="0" rIns="0" bIns="0" rtlCol="0" anchor="ctr"/>
          <a:lstStyle/>
          <a:p>
            <a:pPr marL="0" indent="0" algn="l">
              <a:buNone/>
            </a:pPr>
            <a:r>
              <a:rPr lang="en-US" sz="1000" i="1" dirty="0">
                <a:solidFill>
                  <a:srgbClr val="6366F1"/>
                </a:solidFill>
                <a:latin typeface="Calibri" pitchFamily="34" charset="0"/>
                <a:ea typeface="Calibri" pitchFamily="34" charset="-122"/>
                <a:cs typeface="Calibri" pitchFamily="34" charset="-120"/>
              </a:rPr>
              <a:t>Painful to transfer — but possible.</a:t>
            </a:r>
            <a:endParaRPr lang="en-US" sz="1000" dirty="0"/>
          </a:p>
        </p:txBody>
      </p:sp>
      <p:sp>
        <p:nvSpPr>
          <p:cNvPr id="15" name="Shape 13"/>
          <p:cNvSpPr/>
          <p:nvPr/>
        </p:nvSpPr>
        <p:spPr>
          <a:xfrm>
            <a:off x="4773168" y="2103120"/>
            <a:ext cx="3977640" cy="2743200"/>
          </a:xfrm>
          <a:prstGeom prst="rect">
            <a:avLst/>
          </a:prstGeom>
          <a:solidFill>
            <a:srgbClr val="FEF2F2"/>
          </a:solidFill>
          <a:ln w="12700">
            <a:solidFill>
              <a:srgbClr val="FECACA"/>
            </a:solidFill>
            <a:prstDash val="solid"/>
          </a:ln>
          <a:effectLst>
            <a:outerShdw blurRad="127000" dist="38100" dir="8100000" algn="bl" rotWithShape="0">
              <a:srgbClr val="000000">
                <a:alpha val="18000"/>
              </a:srgbClr>
            </a:outerShdw>
          </a:effectLst>
        </p:spPr>
        <p:txBody>
          <a:bodyPr/>
          <a:lstStyle/>
          <a:p>
            <a:endParaRPr lang="en-US"/>
          </a:p>
        </p:txBody>
      </p:sp>
      <p:sp>
        <p:nvSpPr>
          <p:cNvPr id="16" name="Shape 14"/>
          <p:cNvSpPr/>
          <p:nvPr/>
        </p:nvSpPr>
        <p:spPr>
          <a:xfrm>
            <a:off x="4773168" y="2103120"/>
            <a:ext cx="3977640" cy="73152"/>
          </a:xfrm>
          <a:prstGeom prst="rect">
            <a:avLst/>
          </a:prstGeom>
          <a:solidFill>
            <a:srgbClr val="EF4444"/>
          </a:solidFill>
          <a:ln w="12700">
            <a:solidFill>
              <a:srgbClr val="EF4444"/>
            </a:solidFill>
            <a:prstDash val="solid"/>
          </a:ln>
        </p:spPr>
        <p:txBody>
          <a:bodyPr/>
          <a:lstStyle/>
          <a:p>
            <a:endParaRPr lang="en-US"/>
          </a:p>
        </p:txBody>
      </p:sp>
      <p:sp>
        <p:nvSpPr>
          <p:cNvPr id="17" name="Text 15"/>
          <p:cNvSpPr/>
          <p:nvPr/>
        </p:nvSpPr>
        <p:spPr>
          <a:xfrm>
            <a:off x="4919472" y="2212848"/>
            <a:ext cx="3657600" cy="292608"/>
          </a:xfrm>
          <a:prstGeom prst="rect">
            <a:avLst/>
          </a:prstGeom>
          <a:noFill/>
          <a:ln/>
        </p:spPr>
        <p:txBody>
          <a:bodyPr wrap="square" lIns="0" tIns="0" rIns="0" bIns="0" rtlCol="0" anchor="ctr"/>
          <a:lstStyle/>
          <a:p>
            <a:pPr marL="0" indent="0" algn="l">
              <a:buNone/>
            </a:pPr>
            <a:r>
              <a:rPr lang="en-US" sz="900" b="1" kern="0" spc="200" dirty="0">
                <a:solidFill>
                  <a:srgbClr val="EF4444"/>
                </a:solidFill>
                <a:latin typeface="Calibri" pitchFamily="34" charset="0"/>
                <a:ea typeface="Calibri" pitchFamily="34" charset="-122"/>
                <a:cs typeface="Calibri" pitchFamily="34" charset="-120"/>
              </a:rPr>
              <a:t>TACIT KNOWLEDGE  ⚠</a:t>
            </a:r>
            <a:endParaRPr lang="en-US" sz="900" dirty="0"/>
          </a:p>
        </p:txBody>
      </p:sp>
      <p:sp>
        <p:nvSpPr>
          <p:cNvPr id="18" name="Text 16"/>
          <p:cNvSpPr/>
          <p:nvPr/>
        </p:nvSpPr>
        <p:spPr>
          <a:xfrm>
            <a:off x="4919472" y="2523744"/>
            <a:ext cx="3657600" cy="320040"/>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Invisible. Irreplaceable. At Risk.</a:t>
            </a:r>
            <a:endParaRPr lang="en-US" sz="1300" dirty="0"/>
          </a:p>
        </p:txBody>
      </p:sp>
      <p:sp>
        <p:nvSpPr>
          <p:cNvPr id="19" name="Text 17"/>
          <p:cNvSpPr/>
          <p:nvPr/>
        </p:nvSpPr>
        <p:spPr>
          <a:xfrm>
            <a:off x="4919472" y="2907792"/>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WHY a workaround exists in that pipeline</a:t>
            </a:r>
            <a:endParaRPr lang="en-US" sz="1150" dirty="0"/>
          </a:p>
        </p:txBody>
      </p:sp>
      <p:sp>
        <p:nvSpPr>
          <p:cNvPr id="20" name="Text 18"/>
          <p:cNvSpPr/>
          <p:nvPr/>
        </p:nvSpPr>
        <p:spPr>
          <a:xfrm>
            <a:off x="4919472" y="3255264"/>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WHY a DQ threshold was set at that value</a:t>
            </a:r>
            <a:endParaRPr lang="en-US" sz="1150" dirty="0"/>
          </a:p>
        </p:txBody>
      </p:sp>
      <p:sp>
        <p:nvSpPr>
          <p:cNvPr id="21" name="Text 19"/>
          <p:cNvSpPr/>
          <p:nvPr/>
        </p:nvSpPr>
        <p:spPr>
          <a:xfrm>
            <a:off x="4919472" y="3602736"/>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Business rule from an unrecorded meeting</a:t>
            </a:r>
            <a:endParaRPr lang="en-US" sz="1150" dirty="0"/>
          </a:p>
        </p:txBody>
      </p:sp>
      <p:sp>
        <p:nvSpPr>
          <p:cNvPr id="22" name="Text 20"/>
          <p:cNvSpPr/>
          <p:nvPr/>
        </p:nvSpPr>
        <p:spPr>
          <a:xfrm>
            <a:off x="4919472" y="3950208"/>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The edge case found during a 2 AM incident</a:t>
            </a:r>
            <a:endParaRPr lang="en-US" sz="1150" dirty="0"/>
          </a:p>
        </p:txBody>
      </p:sp>
      <p:sp>
        <p:nvSpPr>
          <p:cNvPr id="23" name="Text 21"/>
          <p:cNvSpPr/>
          <p:nvPr/>
        </p:nvSpPr>
        <p:spPr>
          <a:xfrm>
            <a:off x="4919472" y="4297680"/>
            <a:ext cx="3657600" cy="320040"/>
          </a:xfrm>
          <a:prstGeom prst="rect">
            <a:avLst/>
          </a:prstGeom>
          <a:noFill/>
          <a:ln/>
        </p:spPr>
        <p:txBody>
          <a:bodyPr wrap="square" lIns="0" tIns="0" rIns="0" bIns="0" rtlCol="0" anchor="ctr"/>
          <a:lstStyle/>
          <a:p>
            <a:pPr marL="342900" indent="-342900" algn="l">
              <a:buSzPct val="100000"/>
              <a:buChar char="•"/>
            </a:pPr>
            <a:r>
              <a:rPr lang="en-US" sz="1150" dirty="0">
                <a:solidFill>
                  <a:srgbClr val="374151"/>
                </a:solidFill>
                <a:latin typeface="Calibri" pitchFamily="34" charset="0"/>
                <a:ea typeface="Calibri" pitchFamily="34" charset="-122"/>
                <a:cs typeface="Calibri" pitchFamily="34" charset="-120"/>
              </a:rPr>
              <a:t>Vendor negotiation context &amp; model rationale</a:t>
            </a:r>
            <a:endParaRPr lang="en-US" sz="1150" dirty="0"/>
          </a:p>
        </p:txBody>
      </p:sp>
      <p:sp>
        <p:nvSpPr>
          <p:cNvPr id="24" name="Text 22"/>
          <p:cNvSpPr/>
          <p:nvPr/>
        </p:nvSpPr>
        <p:spPr>
          <a:xfrm>
            <a:off x="4919472" y="4617720"/>
            <a:ext cx="3657600" cy="182880"/>
          </a:xfrm>
          <a:prstGeom prst="rect">
            <a:avLst/>
          </a:prstGeom>
          <a:noFill/>
          <a:ln/>
        </p:spPr>
        <p:txBody>
          <a:bodyPr wrap="square" lIns="0" tIns="0" rIns="0" bIns="0" rtlCol="0" anchor="ctr"/>
          <a:lstStyle/>
          <a:p>
            <a:pPr marL="0" indent="0" algn="l">
              <a:buNone/>
            </a:pPr>
            <a:r>
              <a:rPr lang="en-US" sz="1000" i="1" dirty="0">
                <a:solidFill>
                  <a:srgbClr val="EF4444"/>
                </a:solidFill>
                <a:latin typeface="Calibri" pitchFamily="34" charset="0"/>
                <a:ea typeface="Calibri" pitchFamily="34" charset="-122"/>
                <a:cs typeface="Calibri" pitchFamily="34" charset="-120"/>
              </a:rPr>
              <a:t>Leaves permanently when the person does.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019288" cy="658368"/>
          </a:xfrm>
          <a:prstGeom prst="rect">
            <a:avLst/>
          </a:prstGeom>
          <a:noFill/>
          <a:ln/>
        </p:spPr>
        <p:txBody>
          <a:bodyPr wrap="square" lIns="0" tIns="0" rIns="0" bIns="0" rtlCol="0" anchor="ctr"/>
          <a:lstStyle/>
          <a:p>
            <a:pPr marL="0" indent="0" algn="l">
              <a:buNone/>
            </a:pPr>
            <a:r>
              <a:rPr lang="en-US" sz="950" b="1" kern="0" spc="300" dirty="0">
                <a:solidFill>
                  <a:srgbClr val="818CF8"/>
                </a:solidFill>
                <a:latin typeface="Calibri" pitchFamily="34" charset="0"/>
                <a:ea typeface="Calibri" pitchFamily="34" charset="-122"/>
                <a:cs typeface="Calibri" pitchFamily="34" charset="-120"/>
              </a:rPr>
              <a:t>02 · INDUSTRY CONTEXT 2025</a:t>
            </a:r>
            <a:endParaRPr lang="en-US" sz="950" dirty="0"/>
          </a:p>
        </p:txBody>
      </p:sp>
      <p:sp>
        <p:nvSpPr>
          <p:cNvPr id="4" name="Text 2"/>
          <p:cNvSpPr/>
          <p:nvPr/>
        </p:nvSpPr>
        <p:spPr>
          <a:xfrm>
            <a:off x="310896" y="649224"/>
            <a:ext cx="8412480" cy="566928"/>
          </a:xfrm>
          <a:prstGeom prst="rect">
            <a:avLst/>
          </a:prstGeom>
          <a:noFill/>
          <a:ln/>
        </p:spPr>
        <p:txBody>
          <a:bodyPr wrap="square" lIns="0" tIns="0" rIns="0" bIns="0" rtlCol="0" anchor="ctr"/>
          <a:lstStyle/>
          <a:p>
            <a:pPr marL="0" indent="0" algn="l">
              <a:buNone/>
            </a:pPr>
            <a:r>
              <a:rPr lang="en-US" sz="2600" b="1" dirty="0">
                <a:solidFill>
                  <a:srgbClr val="111827"/>
                </a:solidFill>
                <a:latin typeface="Georgia" pitchFamily="34" charset="0"/>
                <a:ea typeface="Georgia" pitchFamily="34" charset="-122"/>
                <a:cs typeface="Georgia" pitchFamily="34" charset="-120"/>
              </a:rPr>
              <a:t>Three Forces Making This Worse Right Now</a:t>
            </a:r>
            <a:endParaRPr lang="en-US" sz="2600" dirty="0"/>
          </a:p>
        </p:txBody>
      </p:sp>
      <p:sp>
        <p:nvSpPr>
          <p:cNvPr id="5" name="Shape 3"/>
          <p:cNvSpPr/>
          <p:nvPr/>
        </p:nvSpPr>
        <p:spPr>
          <a:xfrm>
            <a:off x="310896" y="1302258"/>
            <a:ext cx="8449056" cy="98755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10896" y="1302258"/>
            <a:ext cx="594360" cy="987552"/>
          </a:xfrm>
          <a:prstGeom prst="rect">
            <a:avLst/>
          </a:prstGeom>
          <a:solidFill>
            <a:srgbClr val="0B1120"/>
          </a:solidFill>
          <a:ln w="12700">
            <a:solidFill>
              <a:srgbClr val="0B1120"/>
            </a:solidFill>
            <a:prstDash val="solid"/>
          </a:ln>
        </p:spPr>
        <p:txBody>
          <a:bodyPr/>
          <a:lstStyle/>
          <a:p>
            <a:endParaRPr lang="en-US"/>
          </a:p>
        </p:txBody>
      </p:sp>
      <p:sp>
        <p:nvSpPr>
          <p:cNvPr id="7" name="Text 5"/>
          <p:cNvSpPr/>
          <p:nvPr/>
        </p:nvSpPr>
        <p:spPr>
          <a:xfrm>
            <a:off x="310896" y="1302258"/>
            <a:ext cx="594360" cy="502920"/>
          </a:xfrm>
          <a:prstGeom prst="rect">
            <a:avLst/>
          </a:prstGeom>
          <a:noFill/>
          <a:ln/>
        </p:spPr>
        <p:txBody>
          <a:bodyPr wrap="square" lIns="0" tIns="0" rIns="0" bIns="0" rtlCol="0" anchor="ctr"/>
          <a:lstStyle/>
          <a:p>
            <a:pPr marL="0" indent="0" algn="ctr">
              <a:buNone/>
            </a:pPr>
            <a:r>
              <a:rPr lang="en-US" sz="1800" b="1" dirty="0">
                <a:solidFill>
                  <a:srgbClr val="EF4444"/>
                </a:solidFill>
                <a:latin typeface="Georgia" pitchFamily="34" charset="0"/>
                <a:ea typeface="Georgia" pitchFamily="34" charset="-122"/>
                <a:cs typeface="Georgia" pitchFamily="34" charset="-120"/>
              </a:rPr>
              <a:t>01</a:t>
            </a:r>
            <a:endParaRPr lang="en-US" sz="1800" dirty="0"/>
          </a:p>
        </p:txBody>
      </p:sp>
      <p:pic>
        <p:nvPicPr>
          <p:cNvPr id="8" name="Image 0" descr="preencoded.png"/>
          <p:cNvPicPr>
            <a:picLocks noChangeAspect="1"/>
          </p:cNvPicPr>
          <p:nvPr/>
        </p:nvPicPr>
        <p:blipFill>
          <a:blip r:embed="rId3"/>
          <a:stretch>
            <a:fillRect/>
          </a:stretch>
        </p:blipFill>
        <p:spPr>
          <a:xfrm>
            <a:off x="420624" y="1869186"/>
            <a:ext cx="292608" cy="292608"/>
          </a:xfrm>
          <a:prstGeom prst="rect">
            <a:avLst/>
          </a:prstGeom>
        </p:spPr>
      </p:pic>
      <p:sp>
        <p:nvSpPr>
          <p:cNvPr id="9" name="Text 6"/>
          <p:cNvSpPr/>
          <p:nvPr/>
        </p:nvSpPr>
        <p:spPr>
          <a:xfrm>
            <a:off x="1042416" y="1357122"/>
            <a:ext cx="3200400"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The Talent Mobility Wave</a:t>
            </a:r>
            <a:endParaRPr lang="en-US" sz="1300" dirty="0"/>
          </a:p>
        </p:txBody>
      </p:sp>
      <p:sp>
        <p:nvSpPr>
          <p:cNvPr id="10" name="Text 7"/>
          <p:cNvSpPr/>
          <p:nvPr/>
        </p:nvSpPr>
        <p:spPr>
          <a:xfrm>
            <a:off x="1042416" y="1704594"/>
            <a:ext cx="3200400" cy="274320"/>
          </a:xfrm>
          <a:prstGeom prst="rect">
            <a:avLst/>
          </a:prstGeom>
          <a:noFill/>
          <a:ln/>
        </p:spPr>
        <p:txBody>
          <a:bodyPr wrap="square" lIns="0" tIns="0" rIns="0" bIns="0" rtlCol="0" anchor="ctr"/>
          <a:lstStyle/>
          <a:p>
            <a:pPr marL="0" indent="0" algn="l">
              <a:buNone/>
            </a:pPr>
            <a:r>
              <a:rPr lang="en-US" sz="1000" i="1" dirty="0">
                <a:solidFill>
                  <a:srgbClr val="EF4444"/>
                </a:solidFill>
                <a:latin typeface="Calibri" pitchFamily="34" charset="0"/>
                <a:ea typeface="Calibri" pitchFamily="34" charset="-122"/>
                <a:cs typeface="Calibri" pitchFamily="34" charset="-120"/>
              </a:rPr>
              <a:t>Data engineer turnover rate is near record highs in 2025</a:t>
            </a:r>
            <a:endParaRPr lang="en-US" sz="1000" dirty="0"/>
          </a:p>
        </p:txBody>
      </p:sp>
      <p:sp>
        <p:nvSpPr>
          <p:cNvPr id="11" name="Text 8"/>
          <p:cNvSpPr/>
          <p:nvPr/>
        </p:nvSpPr>
        <p:spPr>
          <a:xfrm>
            <a:off x="4425696" y="1357122"/>
            <a:ext cx="3977640" cy="868680"/>
          </a:xfrm>
          <a:prstGeom prst="rect">
            <a:avLst/>
          </a:prstGeom>
          <a:noFill/>
          <a:ln/>
        </p:spPr>
        <p:txBody>
          <a:bodyPr wrap="square" lIns="0" tIns="0" rIns="0" bIns="0" rtlCol="0" anchor="t"/>
          <a:lstStyle/>
          <a:p>
            <a:pPr marL="0" indent="0" algn="l">
              <a:lnSpc>
                <a:spcPct val="135000"/>
              </a:lnSpc>
              <a:buNone/>
            </a:pPr>
            <a:r>
              <a:rPr lang="en-US" sz="1000" dirty="0">
                <a:solidFill>
                  <a:srgbClr val="4B5563"/>
                </a:solidFill>
                <a:latin typeface="Calibri" pitchFamily="34" charset="0"/>
                <a:ea typeface="Calibri" pitchFamily="34" charset="-122"/>
                <a:cs typeface="Calibri" pitchFamily="34" charset="-120"/>
              </a:rPr>
              <a:t>McKinsey's 2025 AI State report finds demand for data &amp; AI talent is growing 3× faster than supply. Average tenure in data engineering roles dropped below 2.5 years. Every departure is a knowledge event — and they're accelerating.</a:t>
            </a:r>
            <a:endParaRPr lang="en-US" sz="1000" dirty="0"/>
          </a:p>
        </p:txBody>
      </p:sp>
      <p:sp>
        <p:nvSpPr>
          <p:cNvPr id="12" name="Text 9"/>
          <p:cNvSpPr/>
          <p:nvPr/>
        </p:nvSpPr>
        <p:spPr>
          <a:xfrm>
            <a:off x="1042416" y="2052066"/>
            <a:ext cx="3200400" cy="182880"/>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McKinsey, 2025</a:t>
            </a:r>
            <a:endParaRPr lang="en-US" sz="800" dirty="0"/>
          </a:p>
        </p:txBody>
      </p:sp>
      <p:sp>
        <p:nvSpPr>
          <p:cNvPr id="13" name="Shape 10"/>
          <p:cNvSpPr/>
          <p:nvPr/>
        </p:nvSpPr>
        <p:spPr>
          <a:xfrm>
            <a:off x="310896" y="2399538"/>
            <a:ext cx="8449056" cy="98755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4" name="Shape 11"/>
          <p:cNvSpPr/>
          <p:nvPr/>
        </p:nvSpPr>
        <p:spPr>
          <a:xfrm>
            <a:off x="310896" y="2399538"/>
            <a:ext cx="594360" cy="987552"/>
          </a:xfrm>
          <a:prstGeom prst="rect">
            <a:avLst/>
          </a:prstGeom>
          <a:solidFill>
            <a:srgbClr val="0B1120"/>
          </a:solidFill>
          <a:ln w="12700">
            <a:solidFill>
              <a:srgbClr val="0B1120"/>
            </a:solidFill>
            <a:prstDash val="solid"/>
          </a:ln>
        </p:spPr>
        <p:txBody>
          <a:bodyPr/>
          <a:lstStyle/>
          <a:p>
            <a:endParaRPr lang="en-US"/>
          </a:p>
        </p:txBody>
      </p:sp>
      <p:sp>
        <p:nvSpPr>
          <p:cNvPr id="15" name="Text 12"/>
          <p:cNvSpPr/>
          <p:nvPr/>
        </p:nvSpPr>
        <p:spPr>
          <a:xfrm>
            <a:off x="310896" y="2399538"/>
            <a:ext cx="594360" cy="502920"/>
          </a:xfrm>
          <a:prstGeom prst="rect">
            <a:avLst/>
          </a:prstGeom>
          <a:noFill/>
          <a:ln/>
        </p:spPr>
        <p:txBody>
          <a:bodyPr wrap="square" lIns="0" tIns="0" rIns="0" bIns="0" rtlCol="0" anchor="ctr"/>
          <a:lstStyle/>
          <a:p>
            <a:pPr marL="0" indent="0" algn="ctr">
              <a:buNone/>
            </a:pPr>
            <a:r>
              <a:rPr lang="en-US" sz="1800" b="1" dirty="0">
                <a:solidFill>
                  <a:srgbClr val="6366F1"/>
                </a:solidFill>
                <a:latin typeface="Georgia" pitchFamily="34" charset="0"/>
                <a:ea typeface="Georgia" pitchFamily="34" charset="-122"/>
                <a:cs typeface="Georgia" pitchFamily="34" charset="-120"/>
              </a:rPr>
              <a:t>02</a:t>
            </a:r>
            <a:endParaRPr lang="en-US" sz="1800" dirty="0"/>
          </a:p>
        </p:txBody>
      </p:sp>
      <p:pic>
        <p:nvPicPr>
          <p:cNvPr id="16" name="Image 1" descr="preencoded.png"/>
          <p:cNvPicPr>
            <a:picLocks noChangeAspect="1"/>
          </p:cNvPicPr>
          <p:nvPr/>
        </p:nvPicPr>
        <p:blipFill>
          <a:blip r:embed="rId4"/>
          <a:stretch>
            <a:fillRect/>
          </a:stretch>
        </p:blipFill>
        <p:spPr>
          <a:xfrm>
            <a:off x="420624" y="2966466"/>
            <a:ext cx="292608" cy="292608"/>
          </a:xfrm>
          <a:prstGeom prst="rect">
            <a:avLst/>
          </a:prstGeom>
        </p:spPr>
      </p:pic>
      <p:sp>
        <p:nvSpPr>
          <p:cNvPr id="17" name="Text 13"/>
          <p:cNvSpPr/>
          <p:nvPr/>
        </p:nvSpPr>
        <p:spPr>
          <a:xfrm>
            <a:off x="1042416" y="2454402"/>
            <a:ext cx="3200400"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The Outsourcing Dependency Trap</a:t>
            </a:r>
            <a:endParaRPr lang="en-US" sz="1300" dirty="0"/>
          </a:p>
        </p:txBody>
      </p:sp>
      <p:sp>
        <p:nvSpPr>
          <p:cNvPr id="18" name="Text 14"/>
          <p:cNvSpPr/>
          <p:nvPr/>
        </p:nvSpPr>
        <p:spPr>
          <a:xfrm>
            <a:off x="1042416" y="2801874"/>
            <a:ext cx="3200400" cy="274320"/>
          </a:xfrm>
          <a:prstGeom prst="rect">
            <a:avLst/>
          </a:prstGeom>
          <a:noFill/>
          <a:ln/>
        </p:spPr>
        <p:txBody>
          <a:bodyPr wrap="square" lIns="0" tIns="0" rIns="0" bIns="0" rtlCol="0" anchor="ctr"/>
          <a:lstStyle/>
          <a:p>
            <a:pPr marL="0" indent="0" algn="l">
              <a:buNone/>
            </a:pPr>
            <a:r>
              <a:rPr lang="en-US" sz="1000" i="1" dirty="0">
                <a:solidFill>
                  <a:srgbClr val="6366F1"/>
                </a:solidFill>
                <a:latin typeface="Calibri" pitchFamily="34" charset="0"/>
                <a:ea typeface="Calibri" pitchFamily="34" charset="-122"/>
                <a:cs typeface="Calibri" pitchFamily="34" charset="-120"/>
              </a:rPr>
              <a:t>65% of data infrastructure built by external vendors in large enterprises</a:t>
            </a:r>
            <a:endParaRPr lang="en-US" sz="1000" dirty="0"/>
          </a:p>
        </p:txBody>
      </p:sp>
      <p:sp>
        <p:nvSpPr>
          <p:cNvPr id="19" name="Text 15"/>
          <p:cNvSpPr/>
          <p:nvPr/>
        </p:nvSpPr>
        <p:spPr>
          <a:xfrm>
            <a:off x="4425696" y="2454402"/>
            <a:ext cx="3977640" cy="868680"/>
          </a:xfrm>
          <a:prstGeom prst="rect">
            <a:avLst/>
          </a:prstGeom>
          <a:noFill/>
          <a:ln/>
        </p:spPr>
        <p:txBody>
          <a:bodyPr wrap="square" lIns="0" tIns="0" rIns="0" bIns="0" rtlCol="0" anchor="t"/>
          <a:lstStyle/>
          <a:p>
            <a:pPr marL="0" indent="0" algn="l">
              <a:lnSpc>
                <a:spcPct val="135000"/>
              </a:lnSpc>
              <a:buNone/>
            </a:pPr>
            <a:r>
              <a:rPr lang="en-US" sz="1000" dirty="0">
                <a:solidFill>
                  <a:srgbClr val="4B5563"/>
                </a:solidFill>
                <a:latin typeface="Calibri" pitchFamily="34" charset="0"/>
                <a:ea typeface="Calibri" pitchFamily="34" charset="-122"/>
                <a:cs typeface="Calibri" pitchFamily="34" charset="-120"/>
              </a:rPr>
              <a:t>Deloitte's 2025 Agentic AI Strategy report found most organizations have delegated architectural knowledge to vendors. When contracts end, teams inherit systems nobody fully understands — the knowledge was outsourced alongside the work.</a:t>
            </a:r>
            <a:endParaRPr lang="en-US" sz="1000" dirty="0"/>
          </a:p>
        </p:txBody>
      </p:sp>
      <p:sp>
        <p:nvSpPr>
          <p:cNvPr id="20" name="Text 16"/>
          <p:cNvSpPr/>
          <p:nvPr/>
        </p:nvSpPr>
        <p:spPr>
          <a:xfrm>
            <a:off x="1042416" y="3149346"/>
            <a:ext cx="3200400" cy="182880"/>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Deloitte, 2025</a:t>
            </a:r>
            <a:endParaRPr lang="en-US" sz="800" dirty="0"/>
          </a:p>
        </p:txBody>
      </p:sp>
      <p:sp>
        <p:nvSpPr>
          <p:cNvPr id="21" name="Shape 17"/>
          <p:cNvSpPr/>
          <p:nvPr/>
        </p:nvSpPr>
        <p:spPr>
          <a:xfrm>
            <a:off x="310896" y="3497834"/>
            <a:ext cx="8449056" cy="98755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2" name="Shape 18"/>
          <p:cNvSpPr/>
          <p:nvPr/>
        </p:nvSpPr>
        <p:spPr>
          <a:xfrm>
            <a:off x="310896" y="3497834"/>
            <a:ext cx="594360" cy="987552"/>
          </a:xfrm>
          <a:prstGeom prst="rect">
            <a:avLst/>
          </a:prstGeom>
          <a:solidFill>
            <a:srgbClr val="0B1120"/>
          </a:solidFill>
          <a:ln w="12700">
            <a:solidFill>
              <a:srgbClr val="0B1120"/>
            </a:solidFill>
            <a:prstDash val="solid"/>
          </a:ln>
        </p:spPr>
        <p:txBody>
          <a:bodyPr/>
          <a:lstStyle/>
          <a:p>
            <a:endParaRPr lang="en-US"/>
          </a:p>
        </p:txBody>
      </p:sp>
      <p:sp>
        <p:nvSpPr>
          <p:cNvPr id="23" name="Text 19"/>
          <p:cNvSpPr/>
          <p:nvPr/>
        </p:nvSpPr>
        <p:spPr>
          <a:xfrm>
            <a:off x="310896" y="3497834"/>
            <a:ext cx="594360" cy="502920"/>
          </a:xfrm>
          <a:prstGeom prst="rect">
            <a:avLst/>
          </a:prstGeom>
          <a:noFill/>
          <a:ln/>
        </p:spPr>
        <p:txBody>
          <a:bodyPr wrap="square" lIns="0" tIns="0" rIns="0" bIns="0" rtlCol="0" anchor="ctr"/>
          <a:lstStyle/>
          <a:p>
            <a:pPr marL="0" indent="0" algn="ctr">
              <a:buNone/>
            </a:pPr>
            <a:r>
              <a:rPr lang="en-US" sz="1800" b="1" dirty="0">
                <a:solidFill>
                  <a:srgbClr val="F59E0B"/>
                </a:solidFill>
                <a:latin typeface="Georgia" pitchFamily="34" charset="0"/>
                <a:ea typeface="Georgia" pitchFamily="34" charset="-122"/>
                <a:cs typeface="Georgia" pitchFamily="34" charset="-120"/>
              </a:rPr>
              <a:t>03</a:t>
            </a:r>
            <a:endParaRPr lang="en-US" sz="1800" dirty="0"/>
          </a:p>
        </p:txBody>
      </p:sp>
      <p:pic>
        <p:nvPicPr>
          <p:cNvPr id="24" name="Image 2" descr="preencoded.png"/>
          <p:cNvPicPr>
            <a:picLocks noChangeAspect="1"/>
          </p:cNvPicPr>
          <p:nvPr/>
        </p:nvPicPr>
        <p:blipFill>
          <a:blip r:embed="rId5"/>
          <a:stretch>
            <a:fillRect/>
          </a:stretch>
        </p:blipFill>
        <p:spPr>
          <a:xfrm>
            <a:off x="420624" y="4064762"/>
            <a:ext cx="292608" cy="292608"/>
          </a:xfrm>
          <a:prstGeom prst="rect">
            <a:avLst/>
          </a:prstGeom>
        </p:spPr>
      </p:pic>
      <p:sp>
        <p:nvSpPr>
          <p:cNvPr id="25" name="Text 20"/>
          <p:cNvSpPr/>
          <p:nvPr/>
        </p:nvSpPr>
        <p:spPr>
          <a:xfrm>
            <a:off x="1042416" y="3552698"/>
            <a:ext cx="3200400"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The AI Complexity Multiplier</a:t>
            </a:r>
            <a:endParaRPr lang="en-US" sz="1300" dirty="0"/>
          </a:p>
        </p:txBody>
      </p:sp>
      <p:sp>
        <p:nvSpPr>
          <p:cNvPr id="26" name="Text 21"/>
          <p:cNvSpPr/>
          <p:nvPr/>
        </p:nvSpPr>
        <p:spPr>
          <a:xfrm>
            <a:off x="1042416" y="3900170"/>
            <a:ext cx="3200400" cy="274320"/>
          </a:xfrm>
          <a:prstGeom prst="rect">
            <a:avLst/>
          </a:prstGeom>
          <a:noFill/>
          <a:ln/>
        </p:spPr>
        <p:txBody>
          <a:bodyPr wrap="square" lIns="0" tIns="0" rIns="0" bIns="0" rtlCol="0" anchor="ctr"/>
          <a:lstStyle/>
          <a:p>
            <a:pPr marL="0" indent="0" algn="l">
              <a:buNone/>
            </a:pPr>
            <a:r>
              <a:rPr lang="en-US" sz="1000" i="1" dirty="0">
                <a:solidFill>
                  <a:srgbClr val="F59E0B"/>
                </a:solidFill>
                <a:latin typeface="Calibri" pitchFamily="34" charset="0"/>
                <a:ea typeface="Calibri" pitchFamily="34" charset="-122"/>
                <a:cs typeface="Calibri" pitchFamily="34" charset="-120"/>
              </a:rPr>
              <a:t>88% of enterprises now use AI in at least one business function (McKinsey 2025)</a:t>
            </a:r>
            <a:endParaRPr lang="en-US" sz="1000" dirty="0"/>
          </a:p>
        </p:txBody>
      </p:sp>
      <p:sp>
        <p:nvSpPr>
          <p:cNvPr id="27" name="Text 22"/>
          <p:cNvSpPr/>
          <p:nvPr/>
        </p:nvSpPr>
        <p:spPr>
          <a:xfrm>
            <a:off x="4425696" y="3552698"/>
            <a:ext cx="3977640" cy="868680"/>
          </a:xfrm>
          <a:prstGeom prst="rect">
            <a:avLst/>
          </a:prstGeom>
          <a:noFill/>
          <a:ln/>
        </p:spPr>
        <p:txBody>
          <a:bodyPr wrap="square" lIns="0" tIns="0" rIns="0" bIns="0" rtlCol="0" anchor="t"/>
          <a:lstStyle/>
          <a:p>
            <a:pPr marL="0" indent="0" algn="l">
              <a:lnSpc>
                <a:spcPct val="135000"/>
              </a:lnSpc>
              <a:buNone/>
            </a:pPr>
            <a:r>
              <a:rPr lang="en-US" sz="1000" dirty="0">
                <a:solidFill>
                  <a:srgbClr val="4B5563"/>
                </a:solidFill>
                <a:latin typeface="Calibri" pitchFamily="34" charset="0"/>
                <a:ea typeface="Calibri" pitchFamily="34" charset="-122"/>
                <a:cs typeface="Calibri" pitchFamily="34" charset="-120"/>
              </a:rPr>
              <a:t>Each AI model, RAG pipeline, and agentic workflow introduces deep decision rationale — feature choices, threshold calibrations, training data decisions — that regulators increasingly require to be explainable. None of it is captured by default.</a:t>
            </a:r>
            <a:endParaRPr lang="en-US" sz="1000" dirty="0"/>
          </a:p>
        </p:txBody>
      </p:sp>
      <p:sp>
        <p:nvSpPr>
          <p:cNvPr id="28" name="Text 23"/>
          <p:cNvSpPr/>
          <p:nvPr/>
        </p:nvSpPr>
        <p:spPr>
          <a:xfrm>
            <a:off x="1042416" y="4247642"/>
            <a:ext cx="3200400" cy="182880"/>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McKinsey, 2025</a:t>
            </a:r>
            <a:endParaRPr lang="en-US" sz="800" dirty="0"/>
          </a:p>
        </p:txBody>
      </p:sp>
      <p:sp>
        <p:nvSpPr>
          <p:cNvPr id="29" name="Shape 24"/>
          <p:cNvSpPr/>
          <p:nvPr/>
        </p:nvSpPr>
        <p:spPr>
          <a:xfrm>
            <a:off x="0" y="4650486"/>
            <a:ext cx="9144000" cy="484632"/>
          </a:xfrm>
          <a:prstGeom prst="rect">
            <a:avLst/>
          </a:prstGeom>
          <a:solidFill>
            <a:srgbClr val="1F2937"/>
          </a:solidFill>
          <a:ln w="12700">
            <a:solidFill>
              <a:srgbClr val="1F2937"/>
            </a:solidFill>
            <a:prstDash val="solid"/>
          </a:ln>
        </p:spPr>
        <p:txBody>
          <a:bodyPr/>
          <a:lstStyle/>
          <a:p>
            <a:endParaRPr lang="en-US" dirty="0"/>
          </a:p>
        </p:txBody>
      </p:sp>
      <p:sp>
        <p:nvSpPr>
          <p:cNvPr id="30" name="Text 25"/>
          <p:cNvSpPr/>
          <p:nvPr/>
        </p:nvSpPr>
        <p:spPr>
          <a:xfrm>
            <a:off x="217297" y="4718558"/>
            <a:ext cx="8709406" cy="384048"/>
          </a:xfrm>
          <a:prstGeom prst="rect">
            <a:avLst/>
          </a:prstGeom>
          <a:noFill/>
          <a:ln/>
        </p:spPr>
        <p:txBody>
          <a:bodyPr wrap="square" lIns="0" tIns="0" rIns="0" bIns="0" rtlCol="0" anchor="ctr"/>
          <a:lstStyle/>
          <a:p>
            <a:pPr marL="0" indent="0" algn="ctr">
              <a:buNone/>
            </a:pPr>
            <a:r>
              <a:rPr lang="en-US" sz="1100" i="1" dirty="0">
                <a:solidFill>
                  <a:srgbClr val="818CF8"/>
                </a:solidFill>
                <a:latin typeface="Georgia" pitchFamily="34" charset="0"/>
                <a:ea typeface="Georgia" pitchFamily="34" charset="-122"/>
                <a:cs typeface="Georgia" pitchFamily="34" charset="-120"/>
              </a:rPr>
              <a:t>"By 2030, an estimated 10.5 million data and analytics positions will go unfilled globally — and every unfilled position multiplies the knowledge burden on those who remain."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F59E0B"/>
                </a:solidFill>
                <a:latin typeface="Calibri" pitchFamily="34" charset="0"/>
                <a:ea typeface="Calibri" pitchFamily="34" charset="-122"/>
                <a:cs typeface="Calibri" pitchFamily="34" charset="-120"/>
              </a:rPr>
              <a:t>03 · CURRENT APPROACHES</a:t>
            </a:r>
            <a:endParaRPr lang="en-US" sz="950" dirty="0"/>
          </a:p>
        </p:txBody>
      </p:sp>
      <p:sp>
        <p:nvSpPr>
          <p:cNvPr id="4" name="Text 2"/>
          <p:cNvSpPr/>
          <p:nvPr/>
        </p:nvSpPr>
        <p:spPr>
          <a:xfrm>
            <a:off x="384048" y="932688"/>
            <a:ext cx="8412480" cy="548640"/>
          </a:xfrm>
          <a:prstGeom prst="rect">
            <a:avLst/>
          </a:prstGeom>
          <a:noFill/>
          <a:ln/>
        </p:spPr>
        <p:txBody>
          <a:bodyPr wrap="square" lIns="0" tIns="0" rIns="0" bIns="0" rtlCol="0" anchor="ctr"/>
          <a:lstStyle/>
          <a:p>
            <a:pPr marL="0" indent="0" algn="l">
              <a:buNone/>
            </a:pPr>
            <a:r>
              <a:rPr lang="en-US" sz="2600" b="1" dirty="0">
                <a:solidFill>
                  <a:srgbClr val="111827"/>
                </a:solidFill>
                <a:latin typeface="Georgia" pitchFamily="34" charset="0"/>
                <a:ea typeface="Georgia" pitchFamily="34" charset="-122"/>
                <a:cs typeface="Georgia" pitchFamily="34" charset="-120"/>
              </a:rPr>
              <a:t>We've Been Solving the Wrong Layer</a:t>
            </a:r>
            <a:endParaRPr lang="en-US" sz="2600" dirty="0"/>
          </a:p>
        </p:txBody>
      </p:sp>
      <p:sp>
        <p:nvSpPr>
          <p:cNvPr id="5" name="Shape 3"/>
          <p:cNvSpPr/>
          <p:nvPr/>
        </p:nvSpPr>
        <p:spPr>
          <a:xfrm>
            <a:off x="347472" y="1600200"/>
            <a:ext cx="4187952" cy="15087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47472" y="1600200"/>
            <a:ext cx="658368" cy="1508760"/>
          </a:xfrm>
          <a:prstGeom prst="rect">
            <a:avLst/>
          </a:prstGeom>
          <a:solidFill>
            <a:srgbClr val="FEF2F2"/>
          </a:solidFill>
          <a:ln w="12700">
            <a:solidFill>
              <a:srgbClr val="FECAC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02920" y="1746504"/>
            <a:ext cx="329184" cy="329184"/>
          </a:xfrm>
          <a:prstGeom prst="rect">
            <a:avLst/>
          </a:prstGeom>
        </p:spPr>
      </p:pic>
      <p:pic>
        <p:nvPicPr>
          <p:cNvPr id="8" name="Image 1" descr="preencoded.png"/>
          <p:cNvPicPr>
            <a:picLocks noChangeAspect="1"/>
          </p:cNvPicPr>
          <p:nvPr/>
        </p:nvPicPr>
        <p:blipFill>
          <a:blip r:embed="rId4"/>
          <a:stretch>
            <a:fillRect/>
          </a:stretch>
        </p:blipFill>
        <p:spPr>
          <a:xfrm>
            <a:off x="502920" y="2221992"/>
            <a:ext cx="329184" cy="329184"/>
          </a:xfrm>
          <a:prstGeom prst="rect">
            <a:avLst/>
          </a:prstGeom>
        </p:spPr>
      </p:pic>
      <p:sp>
        <p:nvSpPr>
          <p:cNvPr id="9" name="Text 5"/>
          <p:cNvSpPr/>
          <p:nvPr/>
        </p:nvSpPr>
        <p:spPr>
          <a:xfrm>
            <a:off x="1133856" y="1691640"/>
            <a:ext cx="3255264"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Documentation Mandates</a:t>
            </a:r>
            <a:endParaRPr lang="en-US" sz="1300" dirty="0"/>
          </a:p>
        </p:txBody>
      </p:sp>
      <p:sp>
        <p:nvSpPr>
          <p:cNvPr id="10" name="Text 6"/>
          <p:cNvSpPr/>
          <p:nvPr/>
        </p:nvSpPr>
        <p:spPr>
          <a:xfrm>
            <a:off x="1133856" y="2039112"/>
            <a:ext cx="3255264" cy="256032"/>
          </a:xfrm>
          <a:prstGeom prst="rect">
            <a:avLst/>
          </a:prstGeom>
          <a:noFill/>
          <a:ln/>
        </p:spPr>
        <p:txBody>
          <a:bodyPr wrap="square" lIns="0" tIns="0" rIns="0" bIns="0" rtlCol="0" anchor="ctr"/>
          <a:lstStyle/>
          <a:p>
            <a:pPr marL="0" indent="0" algn="l">
              <a:buNone/>
            </a:pPr>
            <a:r>
              <a:rPr lang="en-US" sz="950" i="1" dirty="0">
                <a:solidFill>
                  <a:srgbClr val="6366F1"/>
                </a:solidFill>
                <a:latin typeface="Calibri" pitchFamily="34" charset="0"/>
                <a:ea typeface="Calibri" pitchFamily="34" charset="-122"/>
                <a:cs typeface="Calibri" pitchFamily="34" charset="-120"/>
              </a:rPr>
              <a:t>Confluence, Word Documents, wikis, SOPs</a:t>
            </a:r>
            <a:endParaRPr lang="en-US" sz="950" dirty="0"/>
          </a:p>
        </p:txBody>
      </p:sp>
      <p:sp>
        <p:nvSpPr>
          <p:cNvPr id="11" name="Text 7"/>
          <p:cNvSpPr/>
          <p:nvPr/>
        </p:nvSpPr>
        <p:spPr>
          <a:xfrm>
            <a:off x="1133856" y="2331720"/>
            <a:ext cx="3255264" cy="731520"/>
          </a:xfrm>
          <a:prstGeom prst="rect">
            <a:avLst/>
          </a:prstGeom>
          <a:noFill/>
          <a:ln/>
        </p:spPr>
        <p:txBody>
          <a:bodyPr wrap="square" lIns="0" tIns="0" rIns="0" bIns="0" rtlCol="0" anchor="t"/>
          <a:lstStyle/>
          <a:p>
            <a:pPr marL="0" indent="0" algn="l">
              <a:lnSpc>
                <a:spcPct val="130000"/>
              </a:lnSpc>
              <a:buNone/>
            </a:pPr>
            <a:r>
              <a:rPr lang="en-US" sz="950" dirty="0">
                <a:solidFill>
                  <a:srgbClr val="4B5563"/>
                </a:solidFill>
                <a:latin typeface="Calibri" pitchFamily="34" charset="0"/>
                <a:ea typeface="Calibri" pitchFamily="34" charset="-122"/>
                <a:cs typeface="Calibri" pitchFamily="34" charset="-120"/>
              </a:rPr>
              <a:t>People document when they have time. They rarely do. 80% of tacit knowledge never gets written down — and what does goes stale within months.</a:t>
            </a:r>
            <a:endParaRPr lang="en-US" sz="950" dirty="0"/>
          </a:p>
        </p:txBody>
      </p:sp>
      <p:sp>
        <p:nvSpPr>
          <p:cNvPr id="12" name="Shape 8"/>
          <p:cNvSpPr/>
          <p:nvPr/>
        </p:nvSpPr>
        <p:spPr>
          <a:xfrm>
            <a:off x="4754880" y="1600200"/>
            <a:ext cx="4187952" cy="15087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3" name="Shape 9"/>
          <p:cNvSpPr/>
          <p:nvPr/>
        </p:nvSpPr>
        <p:spPr>
          <a:xfrm>
            <a:off x="4754880" y="1600200"/>
            <a:ext cx="658368" cy="1508760"/>
          </a:xfrm>
          <a:prstGeom prst="rect">
            <a:avLst/>
          </a:prstGeom>
          <a:solidFill>
            <a:srgbClr val="FEF2F2"/>
          </a:solidFill>
          <a:ln w="12700">
            <a:solidFill>
              <a:srgbClr val="FECACA"/>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4910328" y="1746504"/>
            <a:ext cx="329184" cy="329184"/>
          </a:xfrm>
          <a:prstGeom prst="rect">
            <a:avLst/>
          </a:prstGeom>
        </p:spPr>
      </p:pic>
      <p:pic>
        <p:nvPicPr>
          <p:cNvPr id="15" name="Image 3" descr="preencoded.png"/>
          <p:cNvPicPr>
            <a:picLocks noChangeAspect="1"/>
          </p:cNvPicPr>
          <p:nvPr/>
        </p:nvPicPr>
        <p:blipFill>
          <a:blip r:embed="rId5"/>
          <a:stretch>
            <a:fillRect/>
          </a:stretch>
        </p:blipFill>
        <p:spPr>
          <a:xfrm>
            <a:off x="4910328" y="2221992"/>
            <a:ext cx="329184" cy="329184"/>
          </a:xfrm>
          <a:prstGeom prst="rect">
            <a:avLst/>
          </a:prstGeom>
        </p:spPr>
      </p:pic>
      <p:sp>
        <p:nvSpPr>
          <p:cNvPr id="16" name="Text 10"/>
          <p:cNvSpPr/>
          <p:nvPr/>
        </p:nvSpPr>
        <p:spPr>
          <a:xfrm>
            <a:off x="5541264" y="1691640"/>
            <a:ext cx="3255264"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Exit Interviews &amp; Offboarding</a:t>
            </a:r>
            <a:endParaRPr lang="en-US" sz="1300" dirty="0"/>
          </a:p>
        </p:txBody>
      </p:sp>
      <p:sp>
        <p:nvSpPr>
          <p:cNvPr id="17" name="Text 11"/>
          <p:cNvSpPr/>
          <p:nvPr/>
        </p:nvSpPr>
        <p:spPr>
          <a:xfrm>
            <a:off x="5541264" y="2039112"/>
            <a:ext cx="3255264" cy="256032"/>
          </a:xfrm>
          <a:prstGeom prst="rect">
            <a:avLst/>
          </a:prstGeom>
          <a:noFill/>
          <a:ln/>
        </p:spPr>
        <p:txBody>
          <a:bodyPr wrap="square" lIns="0" tIns="0" rIns="0" bIns="0" rtlCol="0" anchor="ctr"/>
          <a:lstStyle/>
          <a:p>
            <a:pPr marL="0" indent="0" algn="l">
              <a:buNone/>
            </a:pPr>
            <a:r>
              <a:rPr lang="en-US" sz="950" i="1" dirty="0">
                <a:solidFill>
                  <a:srgbClr val="6366F1"/>
                </a:solidFill>
                <a:latin typeface="Calibri" pitchFamily="34" charset="0"/>
                <a:ea typeface="Calibri" pitchFamily="34" charset="-122"/>
                <a:cs typeface="Calibri" pitchFamily="34" charset="-120"/>
              </a:rPr>
              <a:t>2-week handover sessions, knowledge transfer meetings</a:t>
            </a:r>
            <a:endParaRPr lang="en-US" sz="950" dirty="0"/>
          </a:p>
        </p:txBody>
      </p:sp>
      <p:sp>
        <p:nvSpPr>
          <p:cNvPr id="18" name="Text 12"/>
          <p:cNvSpPr/>
          <p:nvPr/>
        </p:nvSpPr>
        <p:spPr>
          <a:xfrm>
            <a:off x="5541264" y="2331720"/>
            <a:ext cx="3255264" cy="731520"/>
          </a:xfrm>
          <a:prstGeom prst="rect">
            <a:avLst/>
          </a:prstGeom>
          <a:noFill/>
          <a:ln/>
        </p:spPr>
        <p:txBody>
          <a:bodyPr wrap="square" lIns="0" tIns="0" rIns="0" bIns="0" rtlCol="0" anchor="t"/>
          <a:lstStyle/>
          <a:p>
            <a:pPr marL="0" indent="0" algn="l">
              <a:lnSpc>
                <a:spcPct val="130000"/>
              </a:lnSpc>
              <a:buNone/>
            </a:pPr>
            <a:r>
              <a:rPr lang="en-US" sz="950" dirty="0">
                <a:solidFill>
                  <a:srgbClr val="4B5563"/>
                </a:solidFill>
                <a:latin typeface="Calibri" pitchFamily="34" charset="0"/>
                <a:ea typeface="Calibri" pitchFamily="34" charset="-122"/>
                <a:cs typeface="Calibri" pitchFamily="34" charset="-120"/>
              </a:rPr>
              <a:t>60% of respondents say it's nearly impossible to extract vital info from colleagues even when everyone is actively trying. (Bloomfire, 2025)</a:t>
            </a:r>
            <a:endParaRPr lang="en-US" sz="950" dirty="0"/>
          </a:p>
        </p:txBody>
      </p:sp>
      <p:sp>
        <p:nvSpPr>
          <p:cNvPr id="19" name="Shape 13"/>
          <p:cNvSpPr/>
          <p:nvPr/>
        </p:nvSpPr>
        <p:spPr>
          <a:xfrm>
            <a:off x="347472" y="3264408"/>
            <a:ext cx="4187952" cy="15087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0" name="Shape 14"/>
          <p:cNvSpPr/>
          <p:nvPr/>
        </p:nvSpPr>
        <p:spPr>
          <a:xfrm>
            <a:off x="347472" y="3264408"/>
            <a:ext cx="658368" cy="1508760"/>
          </a:xfrm>
          <a:prstGeom prst="rect">
            <a:avLst/>
          </a:prstGeom>
          <a:solidFill>
            <a:srgbClr val="FEF2F2"/>
          </a:solidFill>
          <a:ln w="12700">
            <a:solidFill>
              <a:srgbClr val="FECACA"/>
            </a:solidFill>
            <a:prstDash val="solid"/>
          </a:ln>
        </p:spPr>
        <p:txBody>
          <a:bodyPr/>
          <a:lstStyle/>
          <a:p>
            <a:endParaRPr lang="en-US"/>
          </a:p>
        </p:txBody>
      </p:sp>
      <p:pic>
        <p:nvPicPr>
          <p:cNvPr id="21" name="Image 4" descr="preencoded.png"/>
          <p:cNvPicPr>
            <a:picLocks noChangeAspect="1"/>
          </p:cNvPicPr>
          <p:nvPr/>
        </p:nvPicPr>
        <p:blipFill>
          <a:blip r:embed="rId3"/>
          <a:stretch>
            <a:fillRect/>
          </a:stretch>
        </p:blipFill>
        <p:spPr>
          <a:xfrm>
            <a:off x="502920" y="3410712"/>
            <a:ext cx="329184" cy="329184"/>
          </a:xfrm>
          <a:prstGeom prst="rect">
            <a:avLst/>
          </a:prstGeom>
        </p:spPr>
      </p:pic>
      <p:pic>
        <p:nvPicPr>
          <p:cNvPr id="22" name="Image 5" descr="preencoded.png"/>
          <p:cNvPicPr>
            <a:picLocks noChangeAspect="1"/>
          </p:cNvPicPr>
          <p:nvPr/>
        </p:nvPicPr>
        <p:blipFill>
          <a:blip r:embed="rId6"/>
          <a:stretch>
            <a:fillRect/>
          </a:stretch>
        </p:blipFill>
        <p:spPr>
          <a:xfrm>
            <a:off x="502920" y="3886200"/>
            <a:ext cx="329184" cy="329184"/>
          </a:xfrm>
          <a:prstGeom prst="rect">
            <a:avLst/>
          </a:prstGeom>
        </p:spPr>
      </p:pic>
      <p:sp>
        <p:nvSpPr>
          <p:cNvPr id="23" name="Text 15"/>
          <p:cNvSpPr/>
          <p:nvPr/>
        </p:nvSpPr>
        <p:spPr>
          <a:xfrm>
            <a:off x="1133856" y="3355848"/>
            <a:ext cx="3255264"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Centralised Knowledge Bases</a:t>
            </a:r>
            <a:endParaRPr lang="en-US" sz="1300" dirty="0"/>
          </a:p>
        </p:txBody>
      </p:sp>
      <p:sp>
        <p:nvSpPr>
          <p:cNvPr id="24" name="Text 16"/>
          <p:cNvSpPr/>
          <p:nvPr/>
        </p:nvSpPr>
        <p:spPr>
          <a:xfrm>
            <a:off x="1133856" y="3703320"/>
            <a:ext cx="3255264" cy="256032"/>
          </a:xfrm>
          <a:prstGeom prst="rect">
            <a:avLst/>
          </a:prstGeom>
          <a:noFill/>
          <a:ln/>
        </p:spPr>
        <p:txBody>
          <a:bodyPr wrap="square" lIns="0" tIns="0" rIns="0" bIns="0" rtlCol="0" anchor="ctr"/>
          <a:lstStyle/>
          <a:p>
            <a:pPr marL="0" indent="0" algn="l">
              <a:buNone/>
            </a:pPr>
            <a:r>
              <a:rPr lang="en-US" sz="950" i="1" dirty="0">
                <a:solidFill>
                  <a:srgbClr val="6366F1"/>
                </a:solidFill>
                <a:latin typeface="Calibri" pitchFamily="34" charset="0"/>
                <a:ea typeface="Calibri" pitchFamily="34" charset="-122"/>
                <a:cs typeface="Calibri" pitchFamily="34" charset="-120"/>
              </a:rPr>
              <a:t>SharePoint, intranet portals, internal search tools</a:t>
            </a:r>
            <a:endParaRPr lang="en-US" sz="950" dirty="0"/>
          </a:p>
        </p:txBody>
      </p:sp>
      <p:sp>
        <p:nvSpPr>
          <p:cNvPr id="25" name="Text 17"/>
          <p:cNvSpPr/>
          <p:nvPr/>
        </p:nvSpPr>
        <p:spPr>
          <a:xfrm>
            <a:off x="1133856" y="3995928"/>
            <a:ext cx="3255264" cy="731520"/>
          </a:xfrm>
          <a:prstGeom prst="rect">
            <a:avLst/>
          </a:prstGeom>
          <a:noFill/>
          <a:ln/>
        </p:spPr>
        <p:txBody>
          <a:bodyPr wrap="square" lIns="0" tIns="0" rIns="0" bIns="0" rtlCol="0" anchor="t"/>
          <a:lstStyle/>
          <a:p>
            <a:pPr marL="0" indent="0" algn="l">
              <a:lnSpc>
                <a:spcPct val="130000"/>
              </a:lnSpc>
              <a:buNone/>
            </a:pPr>
            <a:r>
              <a:rPr lang="en-US" sz="950" dirty="0">
                <a:solidFill>
                  <a:srgbClr val="4B5563"/>
                </a:solidFill>
                <a:latin typeface="Calibri" pitchFamily="34" charset="0"/>
                <a:ea typeface="Calibri" pitchFamily="34" charset="-122"/>
                <a:cs typeface="Calibri" pitchFamily="34" charset="-120"/>
              </a:rPr>
              <a:t>Solve storage. Not capture. Not context. And 35% of agents in LangChain's 2025 State of Agents survey cite stale internal knowledge as their primary failure mode.</a:t>
            </a:r>
            <a:endParaRPr lang="en-US" sz="950" dirty="0"/>
          </a:p>
        </p:txBody>
      </p:sp>
      <p:sp>
        <p:nvSpPr>
          <p:cNvPr id="26" name="Shape 18"/>
          <p:cNvSpPr/>
          <p:nvPr/>
        </p:nvSpPr>
        <p:spPr>
          <a:xfrm>
            <a:off x="4754880" y="3264408"/>
            <a:ext cx="4187952" cy="15087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7" name="Shape 19"/>
          <p:cNvSpPr/>
          <p:nvPr/>
        </p:nvSpPr>
        <p:spPr>
          <a:xfrm>
            <a:off x="4754880" y="3264408"/>
            <a:ext cx="658368" cy="1508760"/>
          </a:xfrm>
          <a:prstGeom prst="rect">
            <a:avLst/>
          </a:prstGeom>
          <a:solidFill>
            <a:srgbClr val="FEF2F2"/>
          </a:solidFill>
          <a:ln w="12700">
            <a:solidFill>
              <a:srgbClr val="FECACA"/>
            </a:solidFill>
            <a:prstDash val="solid"/>
          </a:ln>
        </p:spPr>
        <p:txBody>
          <a:bodyPr/>
          <a:lstStyle/>
          <a:p>
            <a:endParaRPr lang="en-US"/>
          </a:p>
        </p:txBody>
      </p:sp>
      <p:pic>
        <p:nvPicPr>
          <p:cNvPr id="28" name="Image 6" descr="preencoded.png"/>
          <p:cNvPicPr>
            <a:picLocks noChangeAspect="1"/>
          </p:cNvPicPr>
          <p:nvPr/>
        </p:nvPicPr>
        <p:blipFill>
          <a:blip r:embed="rId3"/>
          <a:stretch>
            <a:fillRect/>
          </a:stretch>
        </p:blipFill>
        <p:spPr>
          <a:xfrm>
            <a:off x="4910328" y="3410712"/>
            <a:ext cx="329184" cy="329184"/>
          </a:xfrm>
          <a:prstGeom prst="rect">
            <a:avLst/>
          </a:prstGeom>
        </p:spPr>
      </p:pic>
      <p:pic>
        <p:nvPicPr>
          <p:cNvPr id="29" name="Image 7" descr="preencoded.png"/>
          <p:cNvPicPr>
            <a:picLocks noChangeAspect="1"/>
          </p:cNvPicPr>
          <p:nvPr/>
        </p:nvPicPr>
        <p:blipFill>
          <a:blip r:embed="rId7"/>
          <a:stretch>
            <a:fillRect/>
          </a:stretch>
        </p:blipFill>
        <p:spPr>
          <a:xfrm>
            <a:off x="4910328" y="3886200"/>
            <a:ext cx="329184" cy="329184"/>
          </a:xfrm>
          <a:prstGeom prst="rect">
            <a:avLst/>
          </a:prstGeom>
        </p:spPr>
      </p:pic>
      <p:sp>
        <p:nvSpPr>
          <p:cNvPr id="30" name="Text 20"/>
          <p:cNvSpPr/>
          <p:nvPr/>
        </p:nvSpPr>
        <p:spPr>
          <a:xfrm>
            <a:off x="5541264" y="3355848"/>
            <a:ext cx="3255264" cy="347472"/>
          </a:xfrm>
          <a:prstGeom prst="rect">
            <a:avLst/>
          </a:prstGeom>
          <a:noFill/>
          <a:ln/>
        </p:spPr>
        <p:txBody>
          <a:bodyPr wrap="square" lIns="0" tIns="0" rIns="0" bIns="0" rtlCol="0" anchor="ctr"/>
          <a:lstStyle/>
          <a:p>
            <a:pPr marL="0" indent="0" algn="l">
              <a:buNone/>
            </a:pPr>
            <a:r>
              <a:rPr lang="en-US" sz="1300" b="1" dirty="0">
                <a:solidFill>
                  <a:srgbClr val="111827"/>
                </a:solidFill>
                <a:latin typeface="Calibri" pitchFamily="34" charset="0"/>
                <a:ea typeface="Calibri" pitchFamily="34" charset="-122"/>
                <a:cs typeface="Calibri" pitchFamily="34" charset="-120"/>
              </a:rPr>
              <a:t>Mentorship &amp; Job Shadowing</a:t>
            </a:r>
            <a:endParaRPr lang="en-US" sz="1300" dirty="0"/>
          </a:p>
        </p:txBody>
      </p:sp>
      <p:sp>
        <p:nvSpPr>
          <p:cNvPr id="31" name="Text 21"/>
          <p:cNvSpPr/>
          <p:nvPr/>
        </p:nvSpPr>
        <p:spPr>
          <a:xfrm>
            <a:off x="5541264" y="3703320"/>
            <a:ext cx="3255264" cy="256032"/>
          </a:xfrm>
          <a:prstGeom prst="rect">
            <a:avLst/>
          </a:prstGeom>
          <a:noFill/>
          <a:ln/>
        </p:spPr>
        <p:txBody>
          <a:bodyPr wrap="square" lIns="0" tIns="0" rIns="0" bIns="0" rtlCol="0" anchor="ctr"/>
          <a:lstStyle/>
          <a:p>
            <a:pPr marL="0" indent="0" algn="l">
              <a:buNone/>
            </a:pPr>
            <a:r>
              <a:rPr lang="en-US" sz="950" i="1" dirty="0">
                <a:solidFill>
                  <a:srgbClr val="6366F1"/>
                </a:solidFill>
                <a:latin typeface="Calibri" pitchFamily="34" charset="0"/>
                <a:ea typeface="Calibri" pitchFamily="34" charset="-122"/>
                <a:cs typeface="Calibri" pitchFamily="34" charset="-120"/>
              </a:rPr>
              <a:t>Structured pairing, role handovers, buddy programmes</a:t>
            </a:r>
            <a:endParaRPr lang="en-US" sz="950" dirty="0"/>
          </a:p>
        </p:txBody>
      </p:sp>
      <p:sp>
        <p:nvSpPr>
          <p:cNvPr id="32" name="Text 22"/>
          <p:cNvSpPr/>
          <p:nvPr/>
        </p:nvSpPr>
        <p:spPr>
          <a:xfrm>
            <a:off x="5541264" y="3995928"/>
            <a:ext cx="3255264" cy="731520"/>
          </a:xfrm>
          <a:prstGeom prst="rect">
            <a:avLst/>
          </a:prstGeom>
          <a:noFill/>
          <a:ln/>
        </p:spPr>
        <p:txBody>
          <a:bodyPr wrap="square" lIns="0" tIns="0" rIns="0" bIns="0" rtlCol="0" anchor="t"/>
          <a:lstStyle/>
          <a:p>
            <a:pPr marL="0" indent="0" algn="l">
              <a:lnSpc>
                <a:spcPct val="130000"/>
              </a:lnSpc>
              <a:buNone/>
            </a:pPr>
            <a:r>
              <a:rPr lang="en-US" sz="950" dirty="0">
                <a:solidFill>
                  <a:srgbClr val="4B5563"/>
                </a:solidFill>
                <a:latin typeface="Calibri" pitchFamily="34" charset="0"/>
                <a:ea typeface="Calibri" pitchFamily="34" charset="-122"/>
                <a:cs typeface="Calibri" pitchFamily="34" charset="-120"/>
              </a:rPr>
              <a:t>Valuable but unscalable. Requires availability, willingness, and articulacy that tacit knowledge structurally resists. Breaks under volume and speed of modern data team turnover.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5943600" y="-914400"/>
            <a:ext cx="5029200" cy="5029200"/>
          </a:xfrm>
          <a:prstGeom prst="ellipse">
            <a:avLst/>
          </a:prstGeom>
          <a:solidFill>
            <a:srgbClr val="6366F1">
              <a:alpha val="10000"/>
            </a:srgbClr>
          </a:solidFill>
          <a:ln w="12700">
            <a:solidFill>
              <a:srgbClr val="6366F1">
                <a:alpha val="10000"/>
              </a:srgbClr>
            </a:solidFill>
            <a:prstDash val="solid"/>
          </a:ln>
        </p:spPr>
        <p:txBody>
          <a:bodyPr/>
          <a:lstStyle/>
          <a:p>
            <a:endParaRPr lang="en-US"/>
          </a:p>
        </p:txBody>
      </p:sp>
      <p:sp>
        <p:nvSpPr>
          <p:cNvPr id="3" name="Shape 1"/>
          <p:cNvSpPr/>
          <p:nvPr/>
        </p:nvSpPr>
        <p:spPr>
          <a:xfrm>
            <a:off x="0" y="0"/>
            <a:ext cx="109728" cy="5143500"/>
          </a:xfrm>
          <a:prstGeom prst="rect">
            <a:avLst/>
          </a:prstGeom>
          <a:solidFill>
            <a:srgbClr val="14B8A6"/>
          </a:solidFill>
          <a:ln w="12700">
            <a:solidFill>
              <a:srgbClr val="14B8A6"/>
            </a:solidFill>
            <a:prstDash val="solid"/>
          </a:ln>
        </p:spPr>
        <p:txBody>
          <a:bodyPr/>
          <a:lstStyle/>
          <a:p>
            <a:endParaRPr lang="en-US"/>
          </a:p>
        </p:txBody>
      </p:sp>
      <p:sp>
        <p:nvSpPr>
          <p:cNvPr id="4" name="Text 2"/>
          <p:cNvSpPr/>
          <p:nvPr/>
        </p:nvSpPr>
        <p:spPr>
          <a:xfrm>
            <a:off x="347472" y="274320"/>
            <a:ext cx="8229600" cy="320040"/>
          </a:xfrm>
          <a:prstGeom prst="rect">
            <a:avLst/>
          </a:prstGeom>
          <a:noFill/>
          <a:ln/>
        </p:spPr>
        <p:txBody>
          <a:bodyPr wrap="square" lIns="0" tIns="0" rIns="0" bIns="0" rtlCol="0" anchor="ctr"/>
          <a:lstStyle/>
          <a:p>
            <a:pPr marL="0" indent="0" algn="l">
              <a:buNone/>
            </a:pPr>
            <a:r>
              <a:rPr lang="en-US" sz="900" b="1" kern="0" spc="300" dirty="0">
                <a:solidFill>
                  <a:srgbClr val="14B8A6"/>
                </a:solidFill>
                <a:latin typeface="Calibri" pitchFamily="34" charset="0"/>
                <a:ea typeface="Calibri" pitchFamily="34" charset="-122"/>
                <a:cs typeface="Calibri" pitchFamily="34" charset="-120"/>
              </a:rPr>
              <a:t>ROOT CAUSE</a:t>
            </a:r>
            <a:endParaRPr lang="en-US" sz="900" dirty="0"/>
          </a:p>
        </p:txBody>
      </p:sp>
      <p:sp>
        <p:nvSpPr>
          <p:cNvPr id="5" name="Text 3"/>
          <p:cNvSpPr/>
          <p:nvPr/>
        </p:nvSpPr>
        <p:spPr>
          <a:xfrm>
            <a:off x="347472" y="685800"/>
            <a:ext cx="8229600" cy="914400"/>
          </a:xfrm>
          <a:prstGeom prst="rect">
            <a:avLst/>
          </a:prstGeom>
          <a:noFill/>
          <a:ln/>
        </p:spPr>
        <p:txBody>
          <a:bodyPr wrap="square" lIns="0" tIns="0" rIns="0" bIns="0" rtlCol="0" anchor="ctr"/>
          <a:lstStyle/>
          <a:p>
            <a:pPr marL="0" indent="0" algn="l">
              <a:lnSpc>
                <a:spcPct val="120000"/>
              </a:lnSpc>
              <a:buNone/>
            </a:pPr>
            <a:r>
              <a:rPr lang="en-US" sz="2800" i="1" dirty="0">
                <a:solidFill>
                  <a:srgbClr val="9CA3AF"/>
                </a:solidFill>
                <a:latin typeface="Georgia" pitchFamily="34" charset="0"/>
                <a:ea typeface="Georgia" pitchFamily="34" charset="-122"/>
                <a:cs typeface="Georgia" pitchFamily="34" charset="-120"/>
              </a:rPr>
              <a:t>Every approach fails</a:t>
            </a:r>
            <a:endParaRPr lang="en-US" sz="2800" dirty="0"/>
          </a:p>
          <a:p>
            <a:pPr marL="0" indent="0" algn="l">
              <a:lnSpc>
                <a:spcPct val="120000"/>
              </a:lnSpc>
              <a:buNone/>
            </a:pPr>
            <a:r>
              <a:rPr lang="en-US" sz="2800" i="1" dirty="0">
                <a:solidFill>
                  <a:srgbClr val="9CA3AF"/>
                </a:solidFill>
                <a:latin typeface="Georgia" pitchFamily="34" charset="0"/>
                <a:ea typeface="Georgia" pitchFamily="34" charset="-122"/>
                <a:cs typeface="Georgia" pitchFamily="34" charset="-120"/>
              </a:rPr>
              <a:t>for the same reason.</a:t>
            </a:r>
            <a:endParaRPr lang="en-US" sz="2800" dirty="0"/>
          </a:p>
        </p:txBody>
      </p:sp>
      <p:sp>
        <p:nvSpPr>
          <p:cNvPr id="6" name="Text 4"/>
          <p:cNvSpPr/>
          <p:nvPr/>
        </p:nvSpPr>
        <p:spPr>
          <a:xfrm>
            <a:off x="347472" y="1664208"/>
            <a:ext cx="8503920" cy="713232"/>
          </a:xfrm>
          <a:prstGeom prst="rect">
            <a:avLst/>
          </a:prstGeom>
          <a:noFill/>
          <a:ln/>
        </p:spPr>
        <p:txBody>
          <a:bodyPr wrap="square" lIns="0" tIns="0" rIns="0" bIns="0" rtlCol="0" anchor="ctr"/>
          <a:lstStyle/>
          <a:p>
            <a:pPr marL="0" indent="0" algn="l">
              <a:buNone/>
            </a:pPr>
            <a:r>
              <a:rPr lang="en-US" sz="4000" b="1" dirty="0">
                <a:solidFill>
                  <a:srgbClr val="FFFFFF"/>
                </a:solidFill>
                <a:latin typeface="Georgia" pitchFamily="34" charset="0"/>
                <a:ea typeface="Georgia" pitchFamily="34" charset="-122"/>
                <a:cs typeface="Georgia" pitchFamily="34" charset="-120"/>
              </a:rPr>
              <a:t>Knowledge is captured</a:t>
            </a:r>
            <a:endParaRPr lang="en-US" sz="4000" dirty="0"/>
          </a:p>
        </p:txBody>
      </p:sp>
      <p:sp>
        <p:nvSpPr>
          <p:cNvPr id="7" name="Text 5"/>
          <p:cNvSpPr/>
          <p:nvPr/>
        </p:nvSpPr>
        <p:spPr>
          <a:xfrm>
            <a:off x="347472" y="2359152"/>
            <a:ext cx="8503920" cy="713232"/>
          </a:xfrm>
          <a:prstGeom prst="rect">
            <a:avLst/>
          </a:prstGeom>
          <a:noFill/>
          <a:ln/>
        </p:spPr>
        <p:txBody>
          <a:bodyPr wrap="square" lIns="0" tIns="0" rIns="0" bIns="0" rtlCol="0" anchor="ctr"/>
          <a:lstStyle/>
          <a:p>
            <a:pPr marL="0" indent="0" algn="l">
              <a:buNone/>
            </a:pPr>
            <a:r>
              <a:rPr lang="en-US" sz="4000" b="1" dirty="0">
                <a:solidFill>
                  <a:srgbClr val="FFFFFF"/>
                </a:solidFill>
                <a:latin typeface="Georgia" pitchFamily="34" charset="0"/>
                <a:ea typeface="Georgia" pitchFamily="34" charset="-122"/>
                <a:cs typeface="Georgia" pitchFamily="34" charset="-120"/>
              </a:rPr>
              <a:t>apart from the work,</a:t>
            </a:r>
            <a:endParaRPr lang="en-US" sz="4000" dirty="0"/>
          </a:p>
        </p:txBody>
      </p:sp>
      <p:sp>
        <p:nvSpPr>
          <p:cNvPr id="8" name="Text 6"/>
          <p:cNvSpPr/>
          <p:nvPr/>
        </p:nvSpPr>
        <p:spPr>
          <a:xfrm>
            <a:off x="347472" y="3063240"/>
            <a:ext cx="8503920" cy="713232"/>
          </a:xfrm>
          <a:prstGeom prst="rect">
            <a:avLst/>
          </a:prstGeom>
          <a:noFill/>
          <a:ln/>
        </p:spPr>
        <p:txBody>
          <a:bodyPr wrap="square" lIns="0" tIns="0" rIns="0" bIns="0" rtlCol="0" anchor="ctr"/>
          <a:lstStyle/>
          <a:p>
            <a:pPr marL="0" indent="0" algn="l">
              <a:buNone/>
            </a:pPr>
            <a:r>
              <a:rPr lang="en-US" sz="4000" b="1" dirty="0">
                <a:solidFill>
                  <a:srgbClr val="818CF8"/>
                </a:solidFill>
                <a:latin typeface="Georgia" pitchFamily="34" charset="0"/>
                <a:ea typeface="Georgia" pitchFamily="34" charset="-122"/>
                <a:cs typeface="Georgia" pitchFamily="34" charset="-120"/>
              </a:rPr>
              <a:t>not as part of it.</a:t>
            </a:r>
            <a:endParaRPr lang="en-US" sz="4000" dirty="0"/>
          </a:p>
        </p:txBody>
      </p:sp>
      <p:sp>
        <p:nvSpPr>
          <p:cNvPr id="9" name="Shape 7"/>
          <p:cNvSpPr/>
          <p:nvPr/>
        </p:nvSpPr>
        <p:spPr>
          <a:xfrm>
            <a:off x="347472" y="3858768"/>
            <a:ext cx="7772400" cy="36576"/>
          </a:xfrm>
          <a:prstGeom prst="rect">
            <a:avLst/>
          </a:prstGeom>
          <a:solidFill>
            <a:srgbClr val="1F2937"/>
          </a:solidFill>
          <a:ln w="12700">
            <a:solidFill>
              <a:srgbClr val="1F2937"/>
            </a:solidFill>
            <a:prstDash val="solid"/>
          </a:ln>
        </p:spPr>
        <p:txBody>
          <a:bodyPr/>
          <a:lstStyle/>
          <a:p>
            <a:endParaRPr lang="en-US"/>
          </a:p>
        </p:txBody>
      </p:sp>
      <p:sp>
        <p:nvSpPr>
          <p:cNvPr id="10" name="Text 8"/>
          <p:cNvSpPr/>
          <p:nvPr/>
        </p:nvSpPr>
        <p:spPr>
          <a:xfrm>
            <a:off x="347472" y="3950208"/>
            <a:ext cx="8412480" cy="877824"/>
          </a:xfrm>
          <a:prstGeom prst="rect">
            <a:avLst/>
          </a:prstGeom>
          <a:noFill/>
          <a:ln/>
        </p:spPr>
        <p:txBody>
          <a:bodyPr wrap="square" lIns="0" tIns="0" rIns="0" bIns="0" rtlCol="0" anchor="t"/>
          <a:lstStyle/>
          <a:p>
            <a:pPr marL="0" indent="0" algn="l">
              <a:lnSpc>
                <a:spcPct val="150000"/>
              </a:lnSpc>
              <a:buNone/>
            </a:pPr>
            <a:r>
              <a:rPr lang="en-US" sz="1300" dirty="0">
                <a:solidFill>
                  <a:srgbClr val="14B8A6"/>
                </a:solidFill>
                <a:latin typeface="Calibri" pitchFamily="34" charset="0"/>
                <a:ea typeface="Calibri" pitchFamily="34" charset="-122"/>
                <a:cs typeface="Calibri" pitchFamily="34" charset="-120"/>
              </a:rPr>
              <a:t>The knowledge that matters most exists at the moment decisions are made — not two weeks before someone's last day, not in a retrospective documentation sprint. The solution must capture it there, automatically, as part of the work itself.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818CF8"/>
                </a:solidFill>
                <a:latin typeface="Calibri" pitchFamily="34" charset="0"/>
                <a:ea typeface="Calibri" pitchFamily="34" charset="-122"/>
                <a:cs typeface="Calibri" pitchFamily="34" charset="-120"/>
              </a:rPr>
              <a:t>04 · THE AI AGENT SOLUTION</a:t>
            </a:r>
            <a:endParaRPr lang="en-US" sz="950" dirty="0"/>
          </a:p>
        </p:txBody>
      </p:sp>
      <p:sp>
        <p:nvSpPr>
          <p:cNvPr id="4" name="Text 2"/>
          <p:cNvSpPr/>
          <p:nvPr/>
        </p:nvSpPr>
        <p:spPr>
          <a:xfrm>
            <a:off x="315849" y="866140"/>
            <a:ext cx="8512302" cy="481584"/>
          </a:xfrm>
          <a:prstGeom prst="rect">
            <a:avLst/>
          </a:prstGeom>
          <a:noFill/>
          <a:ln/>
        </p:spPr>
        <p:txBody>
          <a:bodyPr wrap="square" lIns="0" tIns="0" rIns="0" bIns="0" rtlCol="0" anchor="ctr"/>
          <a:lstStyle/>
          <a:p>
            <a:pPr marL="0" indent="0" algn="l">
              <a:buNone/>
            </a:pPr>
            <a:r>
              <a:rPr lang="en-US" sz="2200" b="1" dirty="0">
                <a:solidFill>
                  <a:srgbClr val="111827"/>
                </a:solidFill>
                <a:latin typeface="Georgia" pitchFamily="34" charset="0"/>
                <a:ea typeface="Georgia" pitchFamily="34" charset="-122"/>
                <a:cs typeface="Georgia" pitchFamily="34" charset="-120"/>
              </a:rPr>
              <a:t>Role-Based AI Agents Across the Data Product Lifecycle</a:t>
            </a:r>
            <a:endParaRPr lang="en-US" sz="2200" dirty="0"/>
          </a:p>
        </p:txBody>
      </p:sp>
      <p:sp>
        <p:nvSpPr>
          <p:cNvPr id="5" name="Text 3"/>
          <p:cNvSpPr/>
          <p:nvPr/>
        </p:nvSpPr>
        <p:spPr>
          <a:xfrm>
            <a:off x="315849" y="1314378"/>
            <a:ext cx="8412480" cy="384048"/>
          </a:xfrm>
          <a:prstGeom prst="rect">
            <a:avLst/>
          </a:prstGeom>
          <a:noFill/>
          <a:ln/>
        </p:spPr>
        <p:txBody>
          <a:bodyPr wrap="square" lIns="0" tIns="0" rIns="0" bIns="0" rtlCol="0" anchor="ctr"/>
          <a:lstStyle/>
          <a:p>
            <a:pPr marL="0" indent="0" algn="l">
              <a:buNone/>
            </a:pPr>
            <a:r>
              <a:rPr lang="en-US" sz="1200" dirty="0">
                <a:solidFill>
                  <a:srgbClr val="4B5563"/>
                </a:solidFill>
                <a:latin typeface="Calibri" pitchFamily="34" charset="0"/>
                <a:ea typeface="Calibri" pitchFamily="34" charset="-122"/>
                <a:cs typeface="Calibri" pitchFamily="34" charset="-120"/>
              </a:rPr>
              <a:t>Nine domain-specific agents. One shared context memory. Knowledge captured at the moment decisions are made — automatically, continuously, permanently.</a:t>
            </a:r>
            <a:endParaRPr lang="en-US" sz="1200" dirty="0"/>
          </a:p>
        </p:txBody>
      </p:sp>
      <p:sp>
        <p:nvSpPr>
          <p:cNvPr id="6" name="Shape 4"/>
          <p:cNvSpPr/>
          <p:nvPr/>
        </p:nvSpPr>
        <p:spPr>
          <a:xfrm>
            <a:off x="3938078" y="2814176"/>
            <a:ext cx="1472692" cy="1314196"/>
          </a:xfrm>
          <a:prstGeom prst="ellipse">
            <a:avLst/>
          </a:prstGeom>
          <a:solidFill>
            <a:srgbClr val="0B1120"/>
          </a:solidFill>
          <a:ln w="25400">
            <a:solidFill>
              <a:srgbClr val="6366F1"/>
            </a:solidFill>
            <a:prstDash val="solid"/>
          </a:ln>
          <a:effectLst>
            <a:outerShdw blurRad="127000" dist="38100" dir="8100000" algn="bl" rotWithShape="0">
              <a:srgbClr val="000000">
                <a:alpha val="1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4492718" y="3088583"/>
            <a:ext cx="363133" cy="363133"/>
          </a:xfrm>
          <a:prstGeom prst="rect">
            <a:avLst/>
          </a:prstGeom>
        </p:spPr>
      </p:pic>
      <p:sp>
        <p:nvSpPr>
          <p:cNvPr id="8" name="Text 5"/>
          <p:cNvSpPr/>
          <p:nvPr/>
        </p:nvSpPr>
        <p:spPr>
          <a:xfrm>
            <a:off x="3961192" y="3451716"/>
            <a:ext cx="1426186" cy="275472"/>
          </a:xfrm>
          <a:prstGeom prst="rect">
            <a:avLst/>
          </a:prstGeom>
          <a:noFill/>
          <a:ln/>
        </p:spPr>
        <p:txBody>
          <a:bodyPr wrap="square" lIns="0" tIns="0" rIns="0" bIns="0" rtlCol="0" anchor="ctr"/>
          <a:lstStyle/>
          <a:p>
            <a:pPr marL="0" indent="0" algn="ctr">
              <a:lnSpc>
                <a:spcPct val="125000"/>
              </a:lnSpc>
              <a:buNone/>
            </a:pPr>
            <a:r>
              <a:rPr lang="en-US" sz="850" b="1" dirty="0">
                <a:solidFill>
                  <a:srgbClr val="FFFFFF"/>
                </a:solidFill>
                <a:latin typeface="Calibri" pitchFamily="34" charset="0"/>
                <a:ea typeface="Calibri" pitchFamily="34" charset="-122"/>
                <a:cs typeface="Calibri" pitchFamily="34" charset="-120"/>
              </a:rPr>
              <a:t>Shared</a:t>
            </a:r>
            <a:r>
              <a:rPr lang="en-US" sz="850" dirty="0"/>
              <a:t> </a:t>
            </a:r>
            <a:r>
              <a:rPr lang="en-US" sz="850" b="1" dirty="0">
                <a:solidFill>
                  <a:srgbClr val="FFFFFF"/>
                </a:solidFill>
                <a:latin typeface="Calibri" pitchFamily="34" charset="0"/>
                <a:ea typeface="Calibri" pitchFamily="34" charset="-122"/>
                <a:cs typeface="Calibri" pitchFamily="34" charset="-120"/>
              </a:rPr>
              <a:t>Context</a:t>
            </a:r>
            <a:r>
              <a:rPr lang="en-US" sz="850" dirty="0"/>
              <a:t> </a:t>
            </a:r>
            <a:r>
              <a:rPr lang="en-US" sz="850" b="1" dirty="0">
                <a:solidFill>
                  <a:srgbClr val="FFFFFF"/>
                </a:solidFill>
                <a:latin typeface="Calibri" pitchFamily="34" charset="0"/>
                <a:ea typeface="Calibri" pitchFamily="34" charset="-122"/>
                <a:cs typeface="Calibri" pitchFamily="34" charset="-120"/>
              </a:rPr>
              <a:t>Memory</a:t>
            </a:r>
            <a:endParaRPr lang="en-US" sz="850" dirty="0"/>
          </a:p>
        </p:txBody>
      </p:sp>
      <p:sp>
        <p:nvSpPr>
          <p:cNvPr id="9" name="Shape 6"/>
          <p:cNvSpPr/>
          <p:nvPr/>
        </p:nvSpPr>
        <p:spPr>
          <a:xfrm>
            <a:off x="2048256" y="2121154"/>
            <a:ext cx="1353312" cy="749808"/>
          </a:xfrm>
          <a:prstGeom prst="rect">
            <a:avLst/>
          </a:prstGeom>
          <a:solidFill>
            <a:srgbClr val="0B1120"/>
          </a:solidFill>
          <a:ln w="12700">
            <a:solidFill>
              <a:srgbClr val="6366F1"/>
            </a:solidFill>
            <a:prstDash val="solid"/>
          </a:ln>
          <a:effectLst>
            <a:outerShdw blurRad="127000" dist="38100" dir="8100000" algn="bl" rotWithShape="0">
              <a:srgbClr val="000000">
                <a:alpha val="18000"/>
              </a:srgbClr>
            </a:outerShdw>
          </a:effectLst>
        </p:spPr>
        <p:txBody>
          <a:bodyPr/>
          <a:lstStyle/>
          <a:p>
            <a:endParaRPr lang="en-US"/>
          </a:p>
        </p:txBody>
      </p:sp>
      <p:sp>
        <p:nvSpPr>
          <p:cNvPr id="10" name="Shape 7"/>
          <p:cNvSpPr/>
          <p:nvPr/>
        </p:nvSpPr>
        <p:spPr>
          <a:xfrm>
            <a:off x="2048256" y="2121154"/>
            <a:ext cx="1353312" cy="54864"/>
          </a:xfrm>
          <a:prstGeom prst="rect">
            <a:avLst/>
          </a:prstGeom>
          <a:solidFill>
            <a:srgbClr val="6366F1"/>
          </a:solidFill>
          <a:ln w="12700">
            <a:solidFill>
              <a:srgbClr val="6366F1"/>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121408" y="2322322"/>
            <a:ext cx="256032" cy="256032"/>
          </a:xfrm>
          <a:prstGeom prst="rect">
            <a:avLst/>
          </a:prstGeom>
        </p:spPr>
      </p:pic>
      <p:sp>
        <p:nvSpPr>
          <p:cNvPr id="12" name="Text 8"/>
          <p:cNvSpPr/>
          <p:nvPr/>
        </p:nvSpPr>
        <p:spPr>
          <a:xfrm>
            <a:off x="2414016" y="2194306"/>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Strategy</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sp>
        <p:nvSpPr>
          <p:cNvPr id="13" name="Shape 9"/>
          <p:cNvSpPr/>
          <p:nvPr/>
        </p:nvSpPr>
        <p:spPr>
          <a:xfrm>
            <a:off x="1371600" y="3071876"/>
            <a:ext cx="1353312" cy="749808"/>
          </a:xfrm>
          <a:prstGeom prst="rect">
            <a:avLst/>
          </a:prstGeom>
          <a:solidFill>
            <a:srgbClr val="0B1120"/>
          </a:solidFill>
          <a:ln w="12700">
            <a:solidFill>
              <a:srgbClr val="6366F1"/>
            </a:solidFill>
            <a:prstDash val="solid"/>
          </a:ln>
          <a:effectLst>
            <a:outerShdw blurRad="127000" dist="38100" dir="8100000" algn="bl" rotWithShape="0">
              <a:srgbClr val="000000">
                <a:alpha val="18000"/>
              </a:srgbClr>
            </a:outerShdw>
          </a:effectLst>
        </p:spPr>
        <p:txBody>
          <a:bodyPr/>
          <a:lstStyle/>
          <a:p>
            <a:endParaRPr lang="en-US"/>
          </a:p>
        </p:txBody>
      </p:sp>
      <p:sp>
        <p:nvSpPr>
          <p:cNvPr id="14" name="Shape 10"/>
          <p:cNvSpPr/>
          <p:nvPr/>
        </p:nvSpPr>
        <p:spPr>
          <a:xfrm>
            <a:off x="1371600" y="3071876"/>
            <a:ext cx="1353312" cy="54864"/>
          </a:xfrm>
          <a:prstGeom prst="rect">
            <a:avLst/>
          </a:prstGeom>
          <a:solidFill>
            <a:srgbClr val="6366F1"/>
          </a:solidFill>
          <a:ln w="12700">
            <a:solidFill>
              <a:srgbClr val="6366F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1444752" y="3273044"/>
            <a:ext cx="256032" cy="256032"/>
          </a:xfrm>
          <a:prstGeom prst="rect">
            <a:avLst/>
          </a:prstGeom>
        </p:spPr>
      </p:pic>
      <p:sp>
        <p:nvSpPr>
          <p:cNvPr id="16" name="Text 11"/>
          <p:cNvSpPr/>
          <p:nvPr/>
        </p:nvSpPr>
        <p:spPr>
          <a:xfrm>
            <a:off x="1737360" y="3145028"/>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Architecture</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sp>
        <p:nvSpPr>
          <p:cNvPr id="17" name="Shape 12"/>
          <p:cNvSpPr/>
          <p:nvPr/>
        </p:nvSpPr>
        <p:spPr>
          <a:xfrm>
            <a:off x="2121408" y="4187626"/>
            <a:ext cx="1353312" cy="749808"/>
          </a:xfrm>
          <a:prstGeom prst="rect">
            <a:avLst/>
          </a:prstGeom>
          <a:solidFill>
            <a:srgbClr val="0B1120"/>
          </a:solidFill>
          <a:ln w="12700">
            <a:solidFill>
              <a:srgbClr val="EF4444"/>
            </a:solidFill>
            <a:prstDash val="solid"/>
          </a:ln>
          <a:effectLst>
            <a:outerShdw blurRad="127000" dist="38100" dir="8100000" algn="bl" rotWithShape="0">
              <a:srgbClr val="000000">
                <a:alpha val="18000"/>
              </a:srgbClr>
            </a:outerShdw>
          </a:effectLst>
        </p:spPr>
        <p:txBody>
          <a:bodyPr/>
          <a:lstStyle/>
          <a:p>
            <a:endParaRPr lang="en-US"/>
          </a:p>
        </p:txBody>
      </p:sp>
      <p:sp>
        <p:nvSpPr>
          <p:cNvPr id="18" name="Shape 13"/>
          <p:cNvSpPr/>
          <p:nvPr/>
        </p:nvSpPr>
        <p:spPr>
          <a:xfrm>
            <a:off x="2121408" y="4187626"/>
            <a:ext cx="1353312" cy="54864"/>
          </a:xfrm>
          <a:prstGeom prst="rect">
            <a:avLst/>
          </a:prstGeom>
          <a:solidFill>
            <a:srgbClr val="EF4444"/>
          </a:solidFill>
          <a:ln w="12700">
            <a:solidFill>
              <a:srgbClr val="EF4444"/>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2194560" y="4388794"/>
            <a:ext cx="256032" cy="256032"/>
          </a:xfrm>
          <a:prstGeom prst="rect">
            <a:avLst/>
          </a:prstGeom>
        </p:spPr>
      </p:pic>
      <p:sp>
        <p:nvSpPr>
          <p:cNvPr id="20" name="Text 14"/>
          <p:cNvSpPr/>
          <p:nvPr/>
        </p:nvSpPr>
        <p:spPr>
          <a:xfrm>
            <a:off x="2487168" y="4260778"/>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Engineering</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sp>
        <p:nvSpPr>
          <p:cNvPr id="21" name="Shape 15"/>
          <p:cNvSpPr/>
          <p:nvPr/>
        </p:nvSpPr>
        <p:spPr>
          <a:xfrm>
            <a:off x="5547413" y="4187626"/>
            <a:ext cx="1353312" cy="749808"/>
          </a:xfrm>
          <a:prstGeom prst="rect">
            <a:avLst/>
          </a:prstGeom>
          <a:solidFill>
            <a:srgbClr val="0B1120"/>
          </a:solidFill>
          <a:ln w="12700">
            <a:solidFill>
              <a:srgbClr val="6366F1"/>
            </a:solidFill>
            <a:prstDash val="solid"/>
          </a:ln>
          <a:effectLst>
            <a:outerShdw blurRad="127000" dist="38100" dir="8100000" algn="bl" rotWithShape="0">
              <a:srgbClr val="000000">
                <a:alpha val="18000"/>
              </a:srgbClr>
            </a:outerShdw>
          </a:effectLst>
        </p:spPr>
        <p:txBody>
          <a:bodyPr/>
          <a:lstStyle/>
          <a:p>
            <a:endParaRPr lang="en-US"/>
          </a:p>
        </p:txBody>
      </p:sp>
      <p:sp>
        <p:nvSpPr>
          <p:cNvPr id="22" name="Shape 16"/>
          <p:cNvSpPr/>
          <p:nvPr/>
        </p:nvSpPr>
        <p:spPr>
          <a:xfrm>
            <a:off x="5547413" y="4187626"/>
            <a:ext cx="1353312" cy="54864"/>
          </a:xfrm>
          <a:prstGeom prst="rect">
            <a:avLst/>
          </a:prstGeom>
          <a:solidFill>
            <a:srgbClr val="6366F1"/>
          </a:solidFill>
          <a:ln w="12700">
            <a:solidFill>
              <a:srgbClr val="6366F1"/>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5620565" y="4388794"/>
            <a:ext cx="256032" cy="256032"/>
          </a:xfrm>
          <a:prstGeom prst="rect">
            <a:avLst/>
          </a:prstGeom>
        </p:spPr>
      </p:pic>
      <p:sp>
        <p:nvSpPr>
          <p:cNvPr id="24" name="Text 17"/>
          <p:cNvSpPr/>
          <p:nvPr/>
        </p:nvSpPr>
        <p:spPr>
          <a:xfrm>
            <a:off x="5913173" y="4260778"/>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Modelling</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sp>
        <p:nvSpPr>
          <p:cNvPr id="25" name="Shape 18"/>
          <p:cNvSpPr/>
          <p:nvPr/>
        </p:nvSpPr>
        <p:spPr>
          <a:xfrm>
            <a:off x="6476300" y="3071876"/>
            <a:ext cx="1353312" cy="749808"/>
          </a:xfrm>
          <a:prstGeom prst="rect">
            <a:avLst/>
          </a:prstGeom>
          <a:solidFill>
            <a:srgbClr val="0B1120"/>
          </a:solidFill>
          <a:ln w="12700">
            <a:solidFill>
              <a:srgbClr val="F59E0B"/>
            </a:solidFill>
            <a:prstDash val="solid"/>
          </a:ln>
          <a:effectLst>
            <a:outerShdw blurRad="127000" dist="38100" dir="8100000" algn="bl" rotWithShape="0">
              <a:srgbClr val="000000">
                <a:alpha val="18000"/>
              </a:srgbClr>
            </a:outerShdw>
          </a:effectLst>
        </p:spPr>
        <p:txBody>
          <a:bodyPr/>
          <a:lstStyle/>
          <a:p>
            <a:endParaRPr lang="en-US"/>
          </a:p>
        </p:txBody>
      </p:sp>
      <p:sp>
        <p:nvSpPr>
          <p:cNvPr id="26" name="Shape 19"/>
          <p:cNvSpPr/>
          <p:nvPr/>
        </p:nvSpPr>
        <p:spPr>
          <a:xfrm>
            <a:off x="6476300" y="3071876"/>
            <a:ext cx="1353312" cy="54864"/>
          </a:xfrm>
          <a:prstGeom prst="rect">
            <a:avLst/>
          </a:prstGeom>
          <a:solidFill>
            <a:srgbClr val="F59E0B"/>
          </a:solidFill>
          <a:ln w="12700">
            <a:solidFill>
              <a:srgbClr val="F59E0B"/>
            </a:solidFill>
            <a:prstDash val="solid"/>
          </a:ln>
        </p:spPr>
        <p:txBody>
          <a:bodyPr/>
          <a:lstStyle/>
          <a:p>
            <a:endParaRPr lang="en-US"/>
          </a:p>
        </p:txBody>
      </p:sp>
      <p:pic>
        <p:nvPicPr>
          <p:cNvPr id="27" name="Image 5" descr="preencoded.png"/>
          <p:cNvPicPr>
            <a:picLocks noChangeAspect="1"/>
          </p:cNvPicPr>
          <p:nvPr/>
        </p:nvPicPr>
        <p:blipFill>
          <a:blip r:embed="rId8"/>
          <a:stretch>
            <a:fillRect/>
          </a:stretch>
        </p:blipFill>
        <p:spPr>
          <a:xfrm>
            <a:off x="6549452" y="3273044"/>
            <a:ext cx="256032" cy="256032"/>
          </a:xfrm>
          <a:prstGeom prst="rect">
            <a:avLst/>
          </a:prstGeom>
        </p:spPr>
      </p:pic>
      <p:sp>
        <p:nvSpPr>
          <p:cNvPr id="28" name="Text 20"/>
          <p:cNvSpPr/>
          <p:nvPr/>
        </p:nvSpPr>
        <p:spPr>
          <a:xfrm>
            <a:off x="6842060" y="3145028"/>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BI &amp; Analytics</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sp>
        <p:nvSpPr>
          <p:cNvPr id="29" name="Shape 21"/>
          <p:cNvSpPr/>
          <p:nvPr/>
        </p:nvSpPr>
        <p:spPr>
          <a:xfrm>
            <a:off x="5799644" y="2146664"/>
            <a:ext cx="1353312" cy="749808"/>
          </a:xfrm>
          <a:prstGeom prst="rect">
            <a:avLst/>
          </a:prstGeom>
          <a:solidFill>
            <a:srgbClr val="0B1120"/>
          </a:solidFill>
          <a:ln w="12700">
            <a:solidFill>
              <a:srgbClr val="F59E0B"/>
            </a:solidFill>
            <a:prstDash val="solid"/>
          </a:ln>
          <a:effectLst>
            <a:outerShdw blurRad="127000" dist="38100" dir="8100000" algn="bl" rotWithShape="0">
              <a:srgbClr val="000000">
                <a:alpha val="18000"/>
              </a:srgbClr>
            </a:outerShdw>
          </a:effectLst>
        </p:spPr>
        <p:txBody>
          <a:bodyPr/>
          <a:lstStyle/>
          <a:p>
            <a:endParaRPr lang="en-US"/>
          </a:p>
        </p:txBody>
      </p:sp>
      <p:sp>
        <p:nvSpPr>
          <p:cNvPr id="30" name="Shape 22"/>
          <p:cNvSpPr/>
          <p:nvPr/>
        </p:nvSpPr>
        <p:spPr>
          <a:xfrm>
            <a:off x="5799644" y="2146664"/>
            <a:ext cx="1353312" cy="54864"/>
          </a:xfrm>
          <a:prstGeom prst="rect">
            <a:avLst/>
          </a:prstGeom>
          <a:solidFill>
            <a:srgbClr val="F59E0B"/>
          </a:solidFill>
          <a:ln w="12700">
            <a:solidFill>
              <a:srgbClr val="F59E0B"/>
            </a:solidFill>
            <a:prstDash val="solid"/>
          </a:ln>
        </p:spPr>
        <p:txBody>
          <a:bodyPr/>
          <a:lstStyle/>
          <a:p>
            <a:endParaRPr lang="en-US"/>
          </a:p>
        </p:txBody>
      </p:sp>
      <p:pic>
        <p:nvPicPr>
          <p:cNvPr id="31" name="Image 6" descr="preencoded.png"/>
          <p:cNvPicPr>
            <a:picLocks noChangeAspect="1"/>
          </p:cNvPicPr>
          <p:nvPr/>
        </p:nvPicPr>
        <p:blipFill>
          <a:blip r:embed="rId9"/>
          <a:stretch>
            <a:fillRect/>
          </a:stretch>
        </p:blipFill>
        <p:spPr>
          <a:xfrm>
            <a:off x="5872796" y="2347832"/>
            <a:ext cx="256032" cy="256032"/>
          </a:xfrm>
          <a:prstGeom prst="rect">
            <a:avLst/>
          </a:prstGeom>
        </p:spPr>
      </p:pic>
      <p:sp>
        <p:nvSpPr>
          <p:cNvPr id="32" name="Text 23"/>
          <p:cNvSpPr/>
          <p:nvPr/>
        </p:nvSpPr>
        <p:spPr>
          <a:xfrm>
            <a:off x="6165404" y="2219816"/>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ML / AI</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sp>
        <p:nvSpPr>
          <p:cNvPr id="41" name="Shape 30"/>
          <p:cNvSpPr/>
          <p:nvPr/>
        </p:nvSpPr>
        <p:spPr>
          <a:xfrm>
            <a:off x="3997951" y="1630136"/>
            <a:ext cx="1353312" cy="749808"/>
          </a:xfrm>
          <a:prstGeom prst="rect">
            <a:avLst/>
          </a:prstGeom>
          <a:solidFill>
            <a:srgbClr val="0B1120"/>
          </a:solidFill>
          <a:ln w="12700">
            <a:solidFill>
              <a:srgbClr val="14B8A6"/>
            </a:solidFill>
            <a:prstDash val="solid"/>
          </a:ln>
          <a:effectLst>
            <a:outerShdw blurRad="127000" dist="38100" dir="8100000" algn="bl" rotWithShape="0">
              <a:srgbClr val="000000">
                <a:alpha val="18000"/>
              </a:srgbClr>
            </a:outerShdw>
          </a:effectLst>
        </p:spPr>
        <p:txBody>
          <a:bodyPr/>
          <a:lstStyle/>
          <a:p>
            <a:endParaRPr lang="en-US"/>
          </a:p>
        </p:txBody>
      </p:sp>
      <p:sp>
        <p:nvSpPr>
          <p:cNvPr id="42" name="Shape 31"/>
          <p:cNvSpPr/>
          <p:nvPr/>
        </p:nvSpPr>
        <p:spPr>
          <a:xfrm>
            <a:off x="3997951" y="1630136"/>
            <a:ext cx="1353312" cy="54864"/>
          </a:xfrm>
          <a:prstGeom prst="rect">
            <a:avLst/>
          </a:prstGeom>
          <a:solidFill>
            <a:srgbClr val="14B8A6"/>
          </a:solidFill>
          <a:ln w="12700">
            <a:solidFill>
              <a:srgbClr val="14B8A6"/>
            </a:solidFill>
            <a:prstDash val="solid"/>
          </a:ln>
        </p:spPr>
        <p:txBody>
          <a:bodyPr/>
          <a:lstStyle/>
          <a:p>
            <a:endParaRPr lang="en-US"/>
          </a:p>
        </p:txBody>
      </p:sp>
      <p:pic>
        <p:nvPicPr>
          <p:cNvPr id="43" name="Image 9" descr="preencoded.png"/>
          <p:cNvPicPr>
            <a:picLocks noChangeAspect="1"/>
          </p:cNvPicPr>
          <p:nvPr/>
        </p:nvPicPr>
        <p:blipFill>
          <a:blip r:embed="rId10"/>
          <a:stretch>
            <a:fillRect/>
          </a:stretch>
        </p:blipFill>
        <p:spPr>
          <a:xfrm>
            <a:off x="4071103" y="1831304"/>
            <a:ext cx="256032" cy="256032"/>
          </a:xfrm>
          <a:prstGeom prst="rect">
            <a:avLst/>
          </a:prstGeom>
        </p:spPr>
      </p:pic>
      <p:sp>
        <p:nvSpPr>
          <p:cNvPr id="44" name="Text 32"/>
          <p:cNvSpPr/>
          <p:nvPr/>
        </p:nvSpPr>
        <p:spPr>
          <a:xfrm>
            <a:off x="4363711" y="1703288"/>
            <a:ext cx="950976" cy="594360"/>
          </a:xfrm>
          <a:prstGeom prst="rect">
            <a:avLst/>
          </a:prstGeom>
          <a:noFill/>
          <a:ln/>
        </p:spPr>
        <p:txBody>
          <a:bodyPr wrap="square" lIns="0" tIns="0" rIns="0" bIns="0" rtlCol="0" anchor="ctr"/>
          <a:lstStyle/>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Data Management and Governance</a:t>
            </a:r>
            <a:endParaRPr lang="en-US" sz="850" dirty="0"/>
          </a:p>
          <a:p>
            <a:pPr marL="0" indent="0" algn="l">
              <a:lnSpc>
                <a:spcPct val="120000"/>
              </a:lnSpc>
              <a:buNone/>
            </a:pPr>
            <a:r>
              <a:rPr lang="en-US" sz="850" b="1" dirty="0">
                <a:solidFill>
                  <a:srgbClr val="FFFFFF"/>
                </a:solidFill>
                <a:latin typeface="Calibri" pitchFamily="34" charset="0"/>
                <a:ea typeface="Calibri" pitchFamily="34" charset="-122"/>
                <a:cs typeface="Calibri" pitchFamily="34" charset="-120"/>
              </a:rPr>
              <a:t>Agent</a:t>
            </a:r>
            <a:endParaRPr lang="en-US" sz="850" dirty="0"/>
          </a:p>
        </p:txBody>
      </p:sp>
      <p:cxnSp>
        <p:nvCxnSpPr>
          <p:cNvPr id="46" name="Straight Arrow Connector 45">
            <a:extLst>
              <a:ext uri="{FF2B5EF4-FFF2-40B4-BE49-F238E27FC236}">
                <a16:creationId xmlns:a16="http://schemas.microsoft.com/office/drawing/2014/main" id="{D8F96ABC-7A6B-66C5-8C60-A547ACA0597D}"/>
              </a:ext>
            </a:extLst>
          </p:cNvPr>
          <p:cNvCxnSpPr>
            <a:stCxn id="13" idx="3"/>
            <a:endCxn id="6" idx="2"/>
          </p:cNvCxnSpPr>
          <p:nvPr/>
        </p:nvCxnSpPr>
        <p:spPr>
          <a:xfrm>
            <a:off x="2724912" y="3446780"/>
            <a:ext cx="1213166" cy="244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7F19500-FA6F-D305-FB6A-E9D320C34A76}"/>
              </a:ext>
            </a:extLst>
          </p:cNvPr>
          <p:cNvCxnSpPr>
            <a:stCxn id="12" idx="3"/>
            <a:endCxn id="6" idx="1"/>
          </p:cNvCxnSpPr>
          <p:nvPr/>
        </p:nvCxnSpPr>
        <p:spPr>
          <a:xfrm>
            <a:off x="3364992" y="2491486"/>
            <a:ext cx="788757" cy="51515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50EAB0A-0363-FFE2-488A-B939CED84BA0}"/>
              </a:ext>
            </a:extLst>
          </p:cNvPr>
          <p:cNvCxnSpPr>
            <a:stCxn id="18" idx="0"/>
            <a:endCxn id="6" idx="3"/>
          </p:cNvCxnSpPr>
          <p:nvPr/>
        </p:nvCxnSpPr>
        <p:spPr>
          <a:xfrm flipV="1">
            <a:off x="2798064" y="3935912"/>
            <a:ext cx="1355685" cy="2517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BE1143E-4A3B-0C25-ACF0-C36AE32615F9}"/>
              </a:ext>
            </a:extLst>
          </p:cNvPr>
          <p:cNvCxnSpPr>
            <a:stCxn id="22" idx="0"/>
            <a:endCxn id="6" idx="5"/>
          </p:cNvCxnSpPr>
          <p:nvPr/>
        </p:nvCxnSpPr>
        <p:spPr>
          <a:xfrm flipH="1" flipV="1">
            <a:off x="5195099" y="3935912"/>
            <a:ext cx="1028970" cy="2517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C0723FD-C260-10E8-AB1A-2B0BE1A4C3B8}"/>
              </a:ext>
            </a:extLst>
          </p:cNvPr>
          <p:cNvCxnSpPr>
            <a:stCxn id="25" idx="1"/>
            <a:endCxn id="6" idx="6"/>
          </p:cNvCxnSpPr>
          <p:nvPr/>
        </p:nvCxnSpPr>
        <p:spPr>
          <a:xfrm flipH="1">
            <a:off x="5410770" y="3446780"/>
            <a:ext cx="1065530" cy="244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4B8562E-5255-2193-5B2C-EFA34A7C4C44}"/>
              </a:ext>
            </a:extLst>
          </p:cNvPr>
          <p:cNvCxnSpPr>
            <a:stCxn id="6" idx="7"/>
            <a:endCxn id="29" idx="1"/>
          </p:cNvCxnSpPr>
          <p:nvPr/>
        </p:nvCxnSpPr>
        <p:spPr>
          <a:xfrm flipV="1">
            <a:off x="5195099" y="2521568"/>
            <a:ext cx="604545" cy="4850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B29E56B-1FBC-5CA9-8608-F3DC02C581D1}"/>
              </a:ext>
            </a:extLst>
          </p:cNvPr>
          <p:cNvCxnSpPr>
            <a:stCxn id="6" idx="0"/>
            <a:endCxn id="41" idx="2"/>
          </p:cNvCxnSpPr>
          <p:nvPr/>
        </p:nvCxnSpPr>
        <p:spPr>
          <a:xfrm flipV="1">
            <a:off x="4674424" y="2379944"/>
            <a:ext cx="183" cy="4342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818CF8"/>
                </a:solidFill>
                <a:latin typeface="Calibri" pitchFamily="34" charset="0"/>
                <a:ea typeface="Calibri" pitchFamily="34" charset="-122"/>
                <a:cs typeface="Calibri" pitchFamily="34" charset="-120"/>
              </a:rPr>
              <a:t>04 · AGENT CAPABILITIES</a:t>
            </a:r>
            <a:endParaRPr lang="en-US" sz="950" dirty="0"/>
          </a:p>
        </p:txBody>
      </p:sp>
      <p:sp>
        <p:nvSpPr>
          <p:cNvPr id="4" name="Text 2"/>
          <p:cNvSpPr/>
          <p:nvPr/>
        </p:nvSpPr>
        <p:spPr>
          <a:xfrm>
            <a:off x="384048" y="896112"/>
            <a:ext cx="8412480" cy="512064"/>
          </a:xfrm>
          <a:prstGeom prst="rect">
            <a:avLst/>
          </a:prstGeom>
          <a:noFill/>
          <a:ln/>
        </p:spPr>
        <p:txBody>
          <a:bodyPr wrap="square" lIns="0" tIns="0" rIns="0" bIns="0" rtlCol="0" anchor="ctr"/>
          <a:lstStyle/>
          <a:p>
            <a:pPr marL="0" indent="0" algn="l">
              <a:buNone/>
            </a:pPr>
            <a:r>
              <a:rPr lang="en-US" sz="2200" b="1" dirty="0">
                <a:solidFill>
                  <a:srgbClr val="111827"/>
                </a:solidFill>
                <a:latin typeface="Georgia" pitchFamily="34" charset="0"/>
                <a:ea typeface="Georgia" pitchFamily="34" charset="-122"/>
                <a:cs typeface="Georgia" pitchFamily="34" charset="-120"/>
              </a:rPr>
              <a:t>What Each Agent Captures — and Why It Matters</a:t>
            </a:r>
            <a:endParaRPr lang="en-US" sz="2200" dirty="0"/>
          </a:p>
        </p:txBody>
      </p:sp>
      <p:sp>
        <p:nvSpPr>
          <p:cNvPr id="5" name="Shape 3"/>
          <p:cNvSpPr/>
          <p:nvPr/>
        </p:nvSpPr>
        <p:spPr>
          <a:xfrm>
            <a:off x="320040" y="1508760"/>
            <a:ext cx="2761488"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20040" y="1508760"/>
            <a:ext cx="73152" cy="1051560"/>
          </a:xfrm>
          <a:prstGeom prst="rect">
            <a:avLst/>
          </a:prstGeom>
          <a:solidFill>
            <a:srgbClr val="6366F1"/>
          </a:solidFill>
          <a:ln w="12700">
            <a:solidFill>
              <a:srgbClr val="6366F1"/>
            </a:solidFill>
            <a:prstDash val="solid"/>
          </a:ln>
        </p:spPr>
        <p:txBody>
          <a:bodyPr/>
          <a:lstStyle/>
          <a:p>
            <a:endParaRPr lang="en-US"/>
          </a:p>
        </p:txBody>
      </p:sp>
      <p:sp>
        <p:nvSpPr>
          <p:cNvPr id="7" name="Text 5"/>
          <p:cNvSpPr/>
          <p:nvPr/>
        </p:nvSpPr>
        <p:spPr>
          <a:xfrm>
            <a:off x="484632" y="1563624"/>
            <a:ext cx="2468880"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Product Planning</a:t>
            </a:r>
            <a:endParaRPr lang="en-US" sz="850" dirty="0"/>
          </a:p>
        </p:txBody>
      </p:sp>
      <p:sp>
        <p:nvSpPr>
          <p:cNvPr id="8" name="Text 6"/>
          <p:cNvSpPr/>
          <p:nvPr/>
        </p:nvSpPr>
        <p:spPr>
          <a:xfrm>
            <a:off x="484632" y="1810512"/>
            <a:ext cx="2468880" cy="274320"/>
          </a:xfrm>
          <a:prstGeom prst="rect">
            <a:avLst/>
          </a:prstGeom>
          <a:noFill/>
          <a:ln/>
        </p:spPr>
        <p:txBody>
          <a:bodyPr wrap="square" lIns="0" tIns="0" rIns="0" bIns="0" rtlCol="0" anchor="ctr"/>
          <a:lstStyle/>
          <a:p>
            <a:pPr marL="0" indent="0" algn="l">
              <a:buNone/>
            </a:pPr>
            <a:r>
              <a:rPr lang="en-US" sz="1200" b="1" dirty="0">
                <a:solidFill>
                  <a:srgbClr val="6366F1"/>
                </a:solidFill>
                <a:latin typeface="Calibri" pitchFamily="34" charset="0"/>
                <a:ea typeface="Calibri" pitchFamily="34" charset="-122"/>
                <a:cs typeface="Calibri" pitchFamily="34" charset="-120"/>
              </a:rPr>
              <a:t>Strategy Agent</a:t>
            </a:r>
            <a:endParaRPr lang="en-US" sz="1200" dirty="0"/>
          </a:p>
        </p:txBody>
      </p:sp>
      <p:sp>
        <p:nvSpPr>
          <p:cNvPr id="9" name="Text 7"/>
          <p:cNvSpPr/>
          <p:nvPr/>
        </p:nvSpPr>
        <p:spPr>
          <a:xfrm>
            <a:off x="484632" y="2103120"/>
            <a:ext cx="2468880"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Business rationale, stakeholder OKRs, trade-offs at inception, prioritisation decisions</a:t>
            </a:r>
            <a:endParaRPr lang="en-US" sz="850" dirty="0"/>
          </a:p>
        </p:txBody>
      </p:sp>
      <p:sp>
        <p:nvSpPr>
          <p:cNvPr id="10" name="Shape 8"/>
          <p:cNvSpPr/>
          <p:nvPr/>
        </p:nvSpPr>
        <p:spPr>
          <a:xfrm>
            <a:off x="3246120" y="1508760"/>
            <a:ext cx="2761488"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1" name="Shape 9"/>
          <p:cNvSpPr/>
          <p:nvPr/>
        </p:nvSpPr>
        <p:spPr>
          <a:xfrm>
            <a:off x="3246120" y="1508760"/>
            <a:ext cx="73152" cy="1051560"/>
          </a:xfrm>
          <a:prstGeom prst="rect">
            <a:avLst/>
          </a:prstGeom>
          <a:solidFill>
            <a:srgbClr val="6366F1"/>
          </a:solidFill>
          <a:ln w="12700">
            <a:solidFill>
              <a:srgbClr val="6366F1"/>
            </a:solidFill>
            <a:prstDash val="solid"/>
          </a:ln>
        </p:spPr>
        <p:txBody>
          <a:bodyPr/>
          <a:lstStyle/>
          <a:p>
            <a:endParaRPr lang="en-US"/>
          </a:p>
        </p:txBody>
      </p:sp>
      <p:sp>
        <p:nvSpPr>
          <p:cNvPr id="12" name="Text 10"/>
          <p:cNvSpPr/>
          <p:nvPr/>
        </p:nvSpPr>
        <p:spPr>
          <a:xfrm>
            <a:off x="3410712" y="1563624"/>
            <a:ext cx="2468880"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Solution Design</a:t>
            </a:r>
            <a:endParaRPr lang="en-US" sz="850" dirty="0"/>
          </a:p>
        </p:txBody>
      </p:sp>
      <p:sp>
        <p:nvSpPr>
          <p:cNvPr id="13" name="Text 11"/>
          <p:cNvSpPr/>
          <p:nvPr/>
        </p:nvSpPr>
        <p:spPr>
          <a:xfrm>
            <a:off x="3410712" y="1810512"/>
            <a:ext cx="2468880" cy="274320"/>
          </a:xfrm>
          <a:prstGeom prst="rect">
            <a:avLst/>
          </a:prstGeom>
          <a:noFill/>
          <a:ln/>
        </p:spPr>
        <p:txBody>
          <a:bodyPr wrap="square" lIns="0" tIns="0" rIns="0" bIns="0" rtlCol="0" anchor="ctr"/>
          <a:lstStyle/>
          <a:p>
            <a:pPr marL="0" indent="0" algn="l">
              <a:buNone/>
            </a:pPr>
            <a:r>
              <a:rPr lang="en-US" sz="1200" b="1" dirty="0">
                <a:solidFill>
                  <a:srgbClr val="6366F1"/>
                </a:solidFill>
                <a:latin typeface="Calibri" pitchFamily="34" charset="0"/>
                <a:ea typeface="Calibri" pitchFamily="34" charset="-122"/>
                <a:cs typeface="Calibri" pitchFamily="34" charset="-120"/>
              </a:rPr>
              <a:t>Architecture Agent</a:t>
            </a:r>
            <a:endParaRPr lang="en-US" sz="1200" dirty="0"/>
          </a:p>
        </p:txBody>
      </p:sp>
      <p:sp>
        <p:nvSpPr>
          <p:cNvPr id="14" name="Text 12"/>
          <p:cNvSpPr/>
          <p:nvPr/>
        </p:nvSpPr>
        <p:spPr>
          <a:xfrm>
            <a:off x="3410712" y="2103120"/>
            <a:ext cx="2468880"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Architecture Decision Records, rejected alternatives, constraint rationale, design history</a:t>
            </a:r>
            <a:endParaRPr lang="en-US" sz="850" dirty="0"/>
          </a:p>
        </p:txBody>
      </p:sp>
      <p:sp>
        <p:nvSpPr>
          <p:cNvPr id="15" name="Shape 13"/>
          <p:cNvSpPr/>
          <p:nvPr/>
        </p:nvSpPr>
        <p:spPr>
          <a:xfrm>
            <a:off x="6172200" y="1508760"/>
            <a:ext cx="2761488"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6" name="Shape 14"/>
          <p:cNvSpPr/>
          <p:nvPr/>
        </p:nvSpPr>
        <p:spPr>
          <a:xfrm>
            <a:off x="6172200" y="1508760"/>
            <a:ext cx="73152" cy="1051560"/>
          </a:xfrm>
          <a:prstGeom prst="rect">
            <a:avLst/>
          </a:prstGeom>
          <a:solidFill>
            <a:srgbClr val="EF4444"/>
          </a:solidFill>
          <a:ln w="12700">
            <a:solidFill>
              <a:srgbClr val="EF4444"/>
            </a:solidFill>
            <a:prstDash val="solid"/>
          </a:ln>
        </p:spPr>
        <p:txBody>
          <a:bodyPr/>
          <a:lstStyle/>
          <a:p>
            <a:endParaRPr lang="en-US"/>
          </a:p>
        </p:txBody>
      </p:sp>
      <p:sp>
        <p:nvSpPr>
          <p:cNvPr id="17" name="Text 15"/>
          <p:cNvSpPr/>
          <p:nvPr/>
        </p:nvSpPr>
        <p:spPr>
          <a:xfrm>
            <a:off x="6336792" y="1563624"/>
            <a:ext cx="2468880"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ETL &amp; Pipelines</a:t>
            </a:r>
            <a:endParaRPr lang="en-US" sz="850" dirty="0"/>
          </a:p>
        </p:txBody>
      </p:sp>
      <p:sp>
        <p:nvSpPr>
          <p:cNvPr id="18" name="Text 16"/>
          <p:cNvSpPr/>
          <p:nvPr/>
        </p:nvSpPr>
        <p:spPr>
          <a:xfrm>
            <a:off x="6336792" y="1810512"/>
            <a:ext cx="2468880" cy="274320"/>
          </a:xfrm>
          <a:prstGeom prst="rect">
            <a:avLst/>
          </a:prstGeom>
          <a:noFill/>
          <a:ln/>
        </p:spPr>
        <p:txBody>
          <a:bodyPr wrap="square" lIns="0" tIns="0" rIns="0" bIns="0" rtlCol="0" anchor="ctr"/>
          <a:lstStyle/>
          <a:p>
            <a:pPr marL="0" indent="0" algn="l">
              <a:buNone/>
            </a:pPr>
            <a:r>
              <a:rPr lang="en-US" sz="1200" b="1" dirty="0">
                <a:solidFill>
                  <a:srgbClr val="EF4444"/>
                </a:solidFill>
                <a:latin typeface="Calibri" pitchFamily="34" charset="0"/>
                <a:ea typeface="Calibri" pitchFamily="34" charset="-122"/>
                <a:cs typeface="Calibri" pitchFamily="34" charset="-120"/>
              </a:rPr>
              <a:t>Engineering Agent</a:t>
            </a:r>
            <a:endParaRPr lang="en-US" sz="1200" dirty="0"/>
          </a:p>
        </p:txBody>
      </p:sp>
      <p:sp>
        <p:nvSpPr>
          <p:cNvPr id="19" name="Text 17"/>
          <p:cNvSpPr/>
          <p:nvPr/>
        </p:nvSpPr>
        <p:spPr>
          <a:xfrm>
            <a:off x="6336792" y="2103120"/>
            <a:ext cx="2468880"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Change rationale, workaround context, incident history, edge-case documentation</a:t>
            </a:r>
            <a:endParaRPr lang="en-US" sz="850" dirty="0"/>
          </a:p>
        </p:txBody>
      </p:sp>
      <p:sp>
        <p:nvSpPr>
          <p:cNvPr id="20" name="Shape 18"/>
          <p:cNvSpPr/>
          <p:nvPr/>
        </p:nvSpPr>
        <p:spPr>
          <a:xfrm>
            <a:off x="320040" y="2679192"/>
            <a:ext cx="2761488"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1" name="Shape 19"/>
          <p:cNvSpPr/>
          <p:nvPr/>
        </p:nvSpPr>
        <p:spPr>
          <a:xfrm>
            <a:off x="320040" y="2679192"/>
            <a:ext cx="73152" cy="1051560"/>
          </a:xfrm>
          <a:prstGeom prst="rect">
            <a:avLst/>
          </a:prstGeom>
          <a:solidFill>
            <a:srgbClr val="6366F1"/>
          </a:solidFill>
          <a:ln w="12700">
            <a:solidFill>
              <a:srgbClr val="6366F1"/>
            </a:solidFill>
            <a:prstDash val="solid"/>
          </a:ln>
        </p:spPr>
        <p:txBody>
          <a:bodyPr/>
          <a:lstStyle/>
          <a:p>
            <a:endParaRPr lang="en-US"/>
          </a:p>
        </p:txBody>
      </p:sp>
      <p:sp>
        <p:nvSpPr>
          <p:cNvPr id="22" name="Text 20"/>
          <p:cNvSpPr/>
          <p:nvPr/>
        </p:nvSpPr>
        <p:spPr>
          <a:xfrm>
            <a:off x="484632" y="2734056"/>
            <a:ext cx="2468880"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Data Modelling</a:t>
            </a:r>
            <a:endParaRPr lang="en-US" sz="850" dirty="0"/>
          </a:p>
        </p:txBody>
      </p:sp>
      <p:sp>
        <p:nvSpPr>
          <p:cNvPr id="23" name="Text 21"/>
          <p:cNvSpPr/>
          <p:nvPr/>
        </p:nvSpPr>
        <p:spPr>
          <a:xfrm>
            <a:off x="484632" y="2980944"/>
            <a:ext cx="2468880" cy="274320"/>
          </a:xfrm>
          <a:prstGeom prst="rect">
            <a:avLst/>
          </a:prstGeom>
          <a:noFill/>
          <a:ln/>
        </p:spPr>
        <p:txBody>
          <a:bodyPr wrap="square" lIns="0" tIns="0" rIns="0" bIns="0" rtlCol="0" anchor="ctr"/>
          <a:lstStyle/>
          <a:p>
            <a:pPr marL="0" indent="0" algn="l">
              <a:buNone/>
            </a:pPr>
            <a:r>
              <a:rPr lang="en-US" sz="1200" b="1" dirty="0">
                <a:solidFill>
                  <a:srgbClr val="6366F1"/>
                </a:solidFill>
                <a:latin typeface="Calibri" pitchFamily="34" charset="0"/>
                <a:ea typeface="Calibri" pitchFamily="34" charset="-122"/>
                <a:cs typeface="Calibri" pitchFamily="34" charset="-120"/>
              </a:rPr>
              <a:t>Modelling Agent</a:t>
            </a:r>
            <a:endParaRPr lang="en-US" sz="1200" dirty="0"/>
          </a:p>
        </p:txBody>
      </p:sp>
      <p:sp>
        <p:nvSpPr>
          <p:cNvPr id="24" name="Text 22"/>
          <p:cNvSpPr/>
          <p:nvPr/>
        </p:nvSpPr>
        <p:spPr>
          <a:xfrm>
            <a:off x="484632" y="3273552"/>
            <a:ext cx="2468880"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Grain decisions, dimension logic, business rule negotiation history, schema evolution context</a:t>
            </a:r>
            <a:endParaRPr lang="en-US" sz="850" dirty="0"/>
          </a:p>
        </p:txBody>
      </p:sp>
      <p:sp>
        <p:nvSpPr>
          <p:cNvPr id="25" name="Shape 23"/>
          <p:cNvSpPr/>
          <p:nvPr/>
        </p:nvSpPr>
        <p:spPr>
          <a:xfrm>
            <a:off x="3246120" y="2679192"/>
            <a:ext cx="2761488"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6" name="Shape 24"/>
          <p:cNvSpPr/>
          <p:nvPr/>
        </p:nvSpPr>
        <p:spPr>
          <a:xfrm>
            <a:off x="3246120" y="2679192"/>
            <a:ext cx="73152" cy="1051560"/>
          </a:xfrm>
          <a:prstGeom prst="rect">
            <a:avLst/>
          </a:prstGeom>
          <a:solidFill>
            <a:srgbClr val="F59E0B"/>
          </a:solidFill>
          <a:ln w="12700">
            <a:solidFill>
              <a:srgbClr val="F59E0B"/>
            </a:solidFill>
            <a:prstDash val="solid"/>
          </a:ln>
        </p:spPr>
        <p:txBody>
          <a:bodyPr/>
          <a:lstStyle/>
          <a:p>
            <a:endParaRPr lang="en-US"/>
          </a:p>
        </p:txBody>
      </p:sp>
      <p:sp>
        <p:nvSpPr>
          <p:cNvPr id="27" name="Text 25"/>
          <p:cNvSpPr/>
          <p:nvPr/>
        </p:nvSpPr>
        <p:spPr>
          <a:xfrm>
            <a:off x="3410712" y="2734056"/>
            <a:ext cx="2468880"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BI &amp; Reporting</a:t>
            </a:r>
            <a:endParaRPr lang="en-US" sz="850" dirty="0"/>
          </a:p>
        </p:txBody>
      </p:sp>
      <p:sp>
        <p:nvSpPr>
          <p:cNvPr id="28" name="Text 26"/>
          <p:cNvSpPr/>
          <p:nvPr/>
        </p:nvSpPr>
        <p:spPr>
          <a:xfrm>
            <a:off x="3410712" y="2980944"/>
            <a:ext cx="2468880" cy="274320"/>
          </a:xfrm>
          <a:prstGeom prst="rect">
            <a:avLst/>
          </a:prstGeom>
          <a:noFill/>
          <a:ln/>
        </p:spPr>
        <p:txBody>
          <a:bodyPr wrap="square" lIns="0" tIns="0" rIns="0" bIns="0" rtlCol="0" anchor="ctr"/>
          <a:lstStyle/>
          <a:p>
            <a:pPr marL="0" indent="0" algn="l">
              <a:buNone/>
            </a:pPr>
            <a:r>
              <a:rPr lang="en-US" sz="1200" b="1" dirty="0">
                <a:solidFill>
                  <a:srgbClr val="F59E0B"/>
                </a:solidFill>
                <a:latin typeface="Calibri" pitchFamily="34" charset="0"/>
                <a:ea typeface="Calibri" pitchFamily="34" charset="-122"/>
                <a:cs typeface="Calibri" pitchFamily="34" charset="-120"/>
              </a:rPr>
              <a:t>Analytics Agent</a:t>
            </a:r>
            <a:endParaRPr lang="en-US" sz="1200" dirty="0"/>
          </a:p>
        </p:txBody>
      </p:sp>
      <p:sp>
        <p:nvSpPr>
          <p:cNvPr id="29" name="Text 27"/>
          <p:cNvSpPr/>
          <p:nvPr/>
        </p:nvSpPr>
        <p:spPr>
          <a:xfrm>
            <a:off x="3410712" y="3273552"/>
            <a:ext cx="2468880"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Metric definitions, measure logic, stakeholder interpretation, consumer change alerts</a:t>
            </a:r>
            <a:endParaRPr lang="en-US" sz="850" dirty="0"/>
          </a:p>
        </p:txBody>
      </p:sp>
      <p:sp>
        <p:nvSpPr>
          <p:cNvPr id="30" name="Shape 28"/>
          <p:cNvSpPr/>
          <p:nvPr/>
        </p:nvSpPr>
        <p:spPr>
          <a:xfrm>
            <a:off x="6172200" y="2679192"/>
            <a:ext cx="2761488"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31" name="Shape 29"/>
          <p:cNvSpPr/>
          <p:nvPr/>
        </p:nvSpPr>
        <p:spPr>
          <a:xfrm>
            <a:off x="6172200" y="2679192"/>
            <a:ext cx="73152" cy="1051560"/>
          </a:xfrm>
          <a:prstGeom prst="rect">
            <a:avLst/>
          </a:prstGeom>
          <a:solidFill>
            <a:srgbClr val="F59E0B"/>
          </a:solidFill>
          <a:ln w="12700">
            <a:solidFill>
              <a:srgbClr val="F59E0B"/>
            </a:solidFill>
            <a:prstDash val="solid"/>
          </a:ln>
        </p:spPr>
        <p:txBody>
          <a:bodyPr/>
          <a:lstStyle/>
          <a:p>
            <a:endParaRPr lang="en-US"/>
          </a:p>
        </p:txBody>
      </p:sp>
      <p:sp>
        <p:nvSpPr>
          <p:cNvPr id="32" name="Text 30"/>
          <p:cNvSpPr/>
          <p:nvPr/>
        </p:nvSpPr>
        <p:spPr>
          <a:xfrm>
            <a:off x="6336792" y="2734056"/>
            <a:ext cx="2468880"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Adv. Analytics / ML</a:t>
            </a:r>
            <a:endParaRPr lang="en-US" sz="850" dirty="0"/>
          </a:p>
        </p:txBody>
      </p:sp>
      <p:sp>
        <p:nvSpPr>
          <p:cNvPr id="33" name="Text 31"/>
          <p:cNvSpPr/>
          <p:nvPr/>
        </p:nvSpPr>
        <p:spPr>
          <a:xfrm>
            <a:off x="6336792" y="2980944"/>
            <a:ext cx="2468880" cy="274320"/>
          </a:xfrm>
          <a:prstGeom prst="rect">
            <a:avLst/>
          </a:prstGeom>
          <a:noFill/>
          <a:ln/>
        </p:spPr>
        <p:txBody>
          <a:bodyPr wrap="square" lIns="0" tIns="0" rIns="0" bIns="0" rtlCol="0" anchor="ctr"/>
          <a:lstStyle/>
          <a:p>
            <a:pPr marL="0" indent="0" algn="l">
              <a:buNone/>
            </a:pPr>
            <a:r>
              <a:rPr lang="en-US" sz="1200" b="1" dirty="0">
                <a:solidFill>
                  <a:srgbClr val="F59E0B"/>
                </a:solidFill>
                <a:latin typeface="Calibri" pitchFamily="34" charset="0"/>
                <a:ea typeface="Calibri" pitchFamily="34" charset="-122"/>
                <a:cs typeface="Calibri" pitchFamily="34" charset="-120"/>
              </a:rPr>
              <a:t>ML Agent</a:t>
            </a:r>
            <a:endParaRPr lang="en-US" sz="1200" dirty="0"/>
          </a:p>
        </p:txBody>
      </p:sp>
      <p:sp>
        <p:nvSpPr>
          <p:cNvPr id="34" name="Text 32"/>
          <p:cNvSpPr/>
          <p:nvPr/>
        </p:nvSpPr>
        <p:spPr>
          <a:xfrm>
            <a:off x="6336792" y="3273552"/>
            <a:ext cx="2468880"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Feature rationale, threshold calibration history, experiment lineage, model retraining context</a:t>
            </a:r>
            <a:endParaRPr lang="en-US" sz="850" dirty="0"/>
          </a:p>
        </p:txBody>
      </p:sp>
      <p:sp>
        <p:nvSpPr>
          <p:cNvPr id="45" name="Shape 43"/>
          <p:cNvSpPr/>
          <p:nvPr/>
        </p:nvSpPr>
        <p:spPr>
          <a:xfrm>
            <a:off x="2172335" y="3922776"/>
            <a:ext cx="4926965" cy="1051560"/>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46" name="Shape 44"/>
          <p:cNvSpPr/>
          <p:nvPr/>
        </p:nvSpPr>
        <p:spPr>
          <a:xfrm>
            <a:off x="2172335" y="3922776"/>
            <a:ext cx="130515" cy="1051560"/>
          </a:xfrm>
          <a:prstGeom prst="rect">
            <a:avLst/>
          </a:prstGeom>
          <a:solidFill>
            <a:srgbClr val="14B8A6"/>
          </a:solidFill>
          <a:ln w="12700">
            <a:solidFill>
              <a:srgbClr val="14B8A6"/>
            </a:solidFill>
            <a:prstDash val="solid"/>
          </a:ln>
        </p:spPr>
        <p:txBody>
          <a:bodyPr/>
          <a:lstStyle/>
          <a:p>
            <a:endParaRPr lang="en-US"/>
          </a:p>
        </p:txBody>
      </p:sp>
      <p:sp>
        <p:nvSpPr>
          <p:cNvPr id="47" name="Text 45"/>
          <p:cNvSpPr/>
          <p:nvPr/>
        </p:nvSpPr>
        <p:spPr>
          <a:xfrm>
            <a:off x="2336926" y="3977640"/>
            <a:ext cx="4404903" cy="228600"/>
          </a:xfrm>
          <a:prstGeom prst="rect">
            <a:avLst/>
          </a:prstGeom>
          <a:noFill/>
          <a:ln/>
        </p:spPr>
        <p:txBody>
          <a:bodyPr wrap="square" lIns="0" tIns="0" rIns="0" bIns="0" rtlCol="0" anchor="ctr"/>
          <a:lstStyle/>
          <a:p>
            <a:pPr marL="0" indent="0" algn="l">
              <a:buNone/>
            </a:pPr>
            <a:r>
              <a:rPr lang="en-US" sz="850" b="1" kern="0" spc="100" dirty="0">
                <a:solidFill>
                  <a:srgbClr val="9CA3AF"/>
                </a:solidFill>
                <a:latin typeface="Calibri" pitchFamily="34" charset="0"/>
                <a:ea typeface="Calibri" pitchFamily="34" charset="-122"/>
                <a:cs typeface="Calibri" pitchFamily="34" charset="-120"/>
              </a:rPr>
              <a:t>Governance</a:t>
            </a:r>
            <a:endParaRPr lang="en-US" sz="850" dirty="0"/>
          </a:p>
        </p:txBody>
      </p:sp>
      <p:sp>
        <p:nvSpPr>
          <p:cNvPr id="48" name="Text 46"/>
          <p:cNvSpPr/>
          <p:nvPr/>
        </p:nvSpPr>
        <p:spPr>
          <a:xfrm>
            <a:off x="2336926" y="4224528"/>
            <a:ext cx="4404903" cy="27432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Data Management &amp; Governance Agent</a:t>
            </a:r>
            <a:endParaRPr lang="en-US" sz="1200" dirty="0"/>
          </a:p>
        </p:txBody>
      </p:sp>
      <p:sp>
        <p:nvSpPr>
          <p:cNvPr id="49" name="Text 47"/>
          <p:cNvSpPr/>
          <p:nvPr/>
        </p:nvSpPr>
        <p:spPr>
          <a:xfrm>
            <a:off x="2336926" y="4517136"/>
            <a:ext cx="4404903" cy="411480"/>
          </a:xfrm>
          <a:prstGeom prst="rect">
            <a:avLst/>
          </a:prstGeom>
          <a:noFill/>
          <a:ln/>
        </p:spPr>
        <p:txBody>
          <a:bodyPr wrap="square" lIns="0" tIns="0" rIns="0" bIns="0" rtlCol="0" anchor="t"/>
          <a:lstStyle/>
          <a:p>
            <a:pPr marL="0" indent="0" algn="l">
              <a:lnSpc>
                <a:spcPct val="125000"/>
              </a:lnSpc>
              <a:buNone/>
            </a:pPr>
            <a:r>
              <a:rPr lang="en-US" sz="850" dirty="0">
                <a:solidFill>
                  <a:srgbClr val="4B5563"/>
                </a:solidFill>
                <a:latin typeface="Calibri" pitchFamily="34" charset="0"/>
                <a:ea typeface="Calibri" pitchFamily="34" charset="-122"/>
                <a:cs typeface="Calibri" pitchFamily="34" charset="-120"/>
              </a:rPr>
              <a:t>Policy decisions, stewardship audit trail, contract compliance, ownership gap alerts, auto generated specs, data dictionaries, field level end-to-end lineage, break detection on schema change </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4B8A6"/>
          </a:solidFill>
          <a:ln w="12700">
            <a:solidFill>
              <a:srgbClr val="14B8A6"/>
            </a:solidFill>
            <a:prstDash val="solid"/>
          </a:ln>
        </p:spPr>
        <p:txBody>
          <a:bodyPr/>
          <a:lstStyle/>
          <a:p>
            <a:endParaRPr lang="en-US"/>
          </a:p>
        </p:txBody>
      </p:sp>
      <p:sp>
        <p:nvSpPr>
          <p:cNvPr id="3" name="Text 1"/>
          <p:cNvSpPr/>
          <p:nvPr/>
        </p:nvSpPr>
        <p:spPr>
          <a:xfrm>
            <a:off x="347472" y="256032"/>
            <a:ext cx="8229600" cy="292608"/>
          </a:xfrm>
          <a:prstGeom prst="rect">
            <a:avLst/>
          </a:prstGeom>
          <a:noFill/>
          <a:ln/>
        </p:spPr>
        <p:txBody>
          <a:bodyPr wrap="square" lIns="0" tIns="0" rIns="0" bIns="0" rtlCol="0" anchor="ctr"/>
          <a:lstStyle/>
          <a:p>
            <a:pPr marL="0" indent="0" algn="l">
              <a:buNone/>
            </a:pPr>
            <a:r>
              <a:rPr lang="en-US" sz="900" b="1" kern="0" spc="300" dirty="0">
                <a:solidFill>
                  <a:srgbClr val="14B8A6"/>
                </a:solidFill>
                <a:latin typeface="Calibri" pitchFamily="34" charset="0"/>
                <a:ea typeface="Calibri" pitchFamily="34" charset="-122"/>
                <a:cs typeface="Calibri" pitchFamily="34" charset="-120"/>
              </a:rPr>
              <a:t>05 · CONTEXT AWARENESS</a:t>
            </a:r>
            <a:endParaRPr lang="en-US" sz="900" dirty="0"/>
          </a:p>
        </p:txBody>
      </p:sp>
      <p:sp>
        <p:nvSpPr>
          <p:cNvPr id="4" name="Text 2"/>
          <p:cNvSpPr/>
          <p:nvPr/>
        </p:nvSpPr>
        <p:spPr>
          <a:xfrm>
            <a:off x="347472" y="594360"/>
            <a:ext cx="8503920" cy="59436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The Property That Changes Everything</a:t>
            </a:r>
            <a:endParaRPr lang="en-US" sz="3000" dirty="0"/>
          </a:p>
        </p:txBody>
      </p:sp>
      <p:sp>
        <p:nvSpPr>
          <p:cNvPr id="5" name="Shape 3"/>
          <p:cNvSpPr/>
          <p:nvPr/>
        </p:nvSpPr>
        <p:spPr>
          <a:xfrm>
            <a:off x="347472" y="1298448"/>
            <a:ext cx="8449056" cy="1097280"/>
          </a:xfrm>
          <a:prstGeom prst="rect">
            <a:avLst/>
          </a:prstGeom>
          <a:solidFill>
            <a:srgbClr val="111827"/>
          </a:solidFill>
          <a:ln w="12700">
            <a:solidFill>
              <a:srgbClr val="1E293B"/>
            </a:solidFill>
            <a:prstDash val="solid"/>
          </a:ln>
        </p:spPr>
        <p:txBody>
          <a:bodyPr/>
          <a:lstStyle/>
          <a:p>
            <a:endParaRPr lang="en-US"/>
          </a:p>
        </p:txBody>
      </p:sp>
      <p:sp>
        <p:nvSpPr>
          <p:cNvPr id="6" name="Shape 4"/>
          <p:cNvSpPr/>
          <p:nvPr/>
        </p:nvSpPr>
        <p:spPr>
          <a:xfrm>
            <a:off x="347472" y="1298448"/>
            <a:ext cx="530352" cy="1097280"/>
          </a:xfrm>
          <a:prstGeom prst="rect">
            <a:avLst/>
          </a:prstGeom>
          <a:solidFill>
            <a:srgbClr val="6366F1"/>
          </a:solidFill>
          <a:ln w="12700">
            <a:solidFill>
              <a:srgbClr val="6366F1"/>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20624" y="1645920"/>
            <a:ext cx="347472" cy="347472"/>
          </a:xfrm>
          <a:prstGeom prst="rect">
            <a:avLst/>
          </a:prstGeom>
        </p:spPr>
      </p:pic>
      <p:sp>
        <p:nvSpPr>
          <p:cNvPr id="8" name="Text 5"/>
          <p:cNvSpPr/>
          <p:nvPr/>
        </p:nvSpPr>
        <p:spPr>
          <a:xfrm>
            <a:off x="1005840" y="1389888"/>
            <a:ext cx="7635240" cy="347472"/>
          </a:xfrm>
          <a:prstGeom prst="rect">
            <a:avLst/>
          </a:prstGeom>
          <a:noFill/>
          <a:ln/>
        </p:spPr>
        <p:txBody>
          <a:bodyPr wrap="square" lIns="0" tIns="0" rIns="0" bIns="0" rtlCol="0" anchor="ctr"/>
          <a:lstStyle/>
          <a:p>
            <a:pPr marL="0" indent="0" algn="l">
              <a:buNone/>
            </a:pPr>
            <a:r>
              <a:rPr lang="en-US" sz="1500" b="1" dirty="0">
                <a:solidFill>
                  <a:srgbClr val="6366F1"/>
                </a:solidFill>
                <a:latin typeface="Calibri" pitchFamily="34" charset="0"/>
                <a:ea typeface="Calibri" pitchFamily="34" charset="-122"/>
                <a:cs typeface="Calibri" pitchFamily="34" charset="-120"/>
              </a:rPr>
              <a:t>Temporal Continuity</a:t>
            </a:r>
            <a:endParaRPr lang="en-US" sz="1500" dirty="0"/>
          </a:p>
        </p:txBody>
      </p:sp>
      <p:sp>
        <p:nvSpPr>
          <p:cNvPr id="9" name="Text 6"/>
          <p:cNvSpPr/>
          <p:nvPr/>
        </p:nvSpPr>
        <p:spPr>
          <a:xfrm>
            <a:off x="1005840" y="1755648"/>
            <a:ext cx="7635240" cy="594360"/>
          </a:xfrm>
          <a:prstGeom prst="rect">
            <a:avLst/>
          </a:prstGeom>
          <a:noFill/>
          <a:ln/>
        </p:spPr>
        <p:txBody>
          <a:bodyPr wrap="square" lIns="0" tIns="0" rIns="0" bIns="0" rtlCol="0" anchor="t"/>
          <a:lstStyle/>
          <a:p>
            <a:pPr marL="0" indent="0" algn="l">
              <a:lnSpc>
                <a:spcPct val="135000"/>
              </a:lnSpc>
              <a:buNone/>
            </a:pPr>
            <a:r>
              <a:rPr lang="en-US" sz="1100" dirty="0">
                <a:solidFill>
                  <a:srgbClr val="D1D5DB"/>
                </a:solidFill>
                <a:latin typeface="Calibri" pitchFamily="34" charset="0"/>
                <a:ea typeface="Calibri" pitchFamily="34" charset="-122"/>
                <a:cs typeface="Calibri" pitchFamily="34" charset="-120"/>
              </a:rPr>
              <a:t>The agent holds the full history — not just current state. Ask why a data field is structured a certain way and it surfaces the stakeholder discussion, the incident that triggered it, and the governance approval from 14 months ago. No person in your team has that memory. The agent does.</a:t>
            </a:r>
            <a:endParaRPr lang="en-US" sz="1100" dirty="0"/>
          </a:p>
        </p:txBody>
      </p:sp>
      <p:sp>
        <p:nvSpPr>
          <p:cNvPr id="10" name="Shape 7"/>
          <p:cNvSpPr/>
          <p:nvPr/>
        </p:nvSpPr>
        <p:spPr>
          <a:xfrm>
            <a:off x="347472" y="2532888"/>
            <a:ext cx="8449056" cy="1097280"/>
          </a:xfrm>
          <a:prstGeom prst="rect">
            <a:avLst/>
          </a:prstGeom>
          <a:solidFill>
            <a:srgbClr val="111827"/>
          </a:solidFill>
          <a:ln w="12700">
            <a:solidFill>
              <a:srgbClr val="1E293B"/>
            </a:solidFill>
            <a:prstDash val="solid"/>
          </a:ln>
        </p:spPr>
        <p:txBody>
          <a:bodyPr/>
          <a:lstStyle/>
          <a:p>
            <a:endParaRPr lang="en-US"/>
          </a:p>
        </p:txBody>
      </p:sp>
      <p:sp>
        <p:nvSpPr>
          <p:cNvPr id="11" name="Shape 8"/>
          <p:cNvSpPr/>
          <p:nvPr/>
        </p:nvSpPr>
        <p:spPr>
          <a:xfrm>
            <a:off x="347472" y="2532888"/>
            <a:ext cx="530352" cy="1097280"/>
          </a:xfrm>
          <a:prstGeom prst="rect">
            <a:avLst/>
          </a:prstGeom>
          <a:solidFill>
            <a:srgbClr val="14B8A6"/>
          </a:solidFill>
          <a:ln w="12700">
            <a:solidFill>
              <a:srgbClr val="14B8A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20624" y="2880360"/>
            <a:ext cx="347472" cy="347472"/>
          </a:xfrm>
          <a:prstGeom prst="rect">
            <a:avLst/>
          </a:prstGeom>
        </p:spPr>
      </p:pic>
      <p:sp>
        <p:nvSpPr>
          <p:cNvPr id="13" name="Text 9"/>
          <p:cNvSpPr/>
          <p:nvPr/>
        </p:nvSpPr>
        <p:spPr>
          <a:xfrm>
            <a:off x="1005840" y="2624328"/>
            <a:ext cx="7635240" cy="347472"/>
          </a:xfrm>
          <a:prstGeom prst="rect">
            <a:avLst/>
          </a:prstGeom>
          <a:noFill/>
          <a:ln/>
        </p:spPr>
        <p:txBody>
          <a:bodyPr wrap="square" lIns="0" tIns="0" rIns="0" bIns="0" rtlCol="0" anchor="ctr"/>
          <a:lstStyle/>
          <a:p>
            <a:pPr marL="0" indent="0" algn="l">
              <a:buNone/>
            </a:pPr>
            <a:r>
              <a:rPr lang="en-US" sz="1500" b="1" dirty="0">
                <a:solidFill>
                  <a:srgbClr val="14B8A6"/>
                </a:solidFill>
                <a:latin typeface="Calibri" pitchFamily="34" charset="0"/>
                <a:ea typeface="Calibri" pitchFamily="34" charset="-122"/>
                <a:cs typeface="Calibri" pitchFamily="34" charset="-120"/>
              </a:rPr>
              <a:t>Cross-Domain Coherence</a:t>
            </a:r>
            <a:endParaRPr lang="en-US" sz="1500" dirty="0"/>
          </a:p>
        </p:txBody>
      </p:sp>
      <p:sp>
        <p:nvSpPr>
          <p:cNvPr id="14" name="Text 10"/>
          <p:cNvSpPr/>
          <p:nvPr/>
        </p:nvSpPr>
        <p:spPr>
          <a:xfrm>
            <a:off x="1005840" y="2990088"/>
            <a:ext cx="7635240" cy="594360"/>
          </a:xfrm>
          <a:prstGeom prst="rect">
            <a:avLst/>
          </a:prstGeom>
          <a:noFill/>
          <a:ln/>
        </p:spPr>
        <p:txBody>
          <a:bodyPr wrap="square" lIns="0" tIns="0" rIns="0" bIns="0" rtlCol="0" anchor="t"/>
          <a:lstStyle/>
          <a:p>
            <a:pPr marL="0" indent="0" algn="l">
              <a:lnSpc>
                <a:spcPct val="135000"/>
              </a:lnSpc>
              <a:buNone/>
            </a:pPr>
            <a:r>
              <a:rPr lang="en-US" sz="1100" dirty="0">
                <a:solidFill>
                  <a:srgbClr val="D1D5DB"/>
                </a:solidFill>
                <a:latin typeface="Calibri" pitchFamily="34" charset="0"/>
                <a:ea typeface="Calibri" pitchFamily="34" charset="-122"/>
                <a:cs typeface="Calibri" pitchFamily="34" charset="-120"/>
              </a:rPr>
              <a:t>When the Engineering Agent captures a pipeline change, the Data Management &amp; Governance Agent, and Analytics Agents update automatically via the shared context layer. No sync meeting. No email chain. No version of events. One change, one propagation, zero information lag.</a:t>
            </a:r>
            <a:endParaRPr lang="en-US" sz="1100" dirty="0"/>
          </a:p>
        </p:txBody>
      </p:sp>
      <p:sp>
        <p:nvSpPr>
          <p:cNvPr id="15" name="Shape 11"/>
          <p:cNvSpPr/>
          <p:nvPr/>
        </p:nvSpPr>
        <p:spPr>
          <a:xfrm>
            <a:off x="347472" y="3767328"/>
            <a:ext cx="8449056" cy="1097280"/>
          </a:xfrm>
          <a:prstGeom prst="rect">
            <a:avLst/>
          </a:prstGeom>
          <a:solidFill>
            <a:srgbClr val="111827"/>
          </a:solidFill>
          <a:ln w="12700">
            <a:solidFill>
              <a:srgbClr val="1E293B"/>
            </a:solidFill>
            <a:prstDash val="solid"/>
          </a:ln>
        </p:spPr>
        <p:txBody>
          <a:bodyPr/>
          <a:lstStyle/>
          <a:p>
            <a:endParaRPr lang="en-US"/>
          </a:p>
        </p:txBody>
      </p:sp>
      <p:sp>
        <p:nvSpPr>
          <p:cNvPr id="16" name="Shape 12"/>
          <p:cNvSpPr/>
          <p:nvPr/>
        </p:nvSpPr>
        <p:spPr>
          <a:xfrm>
            <a:off x="347472" y="3767328"/>
            <a:ext cx="530352" cy="1097280"/>
          </a:xfrm>
          <a:prstGeom prst="rect">
            <a:avLst/>
          </a:prstGeom>
          <a:solidFill>
            <a:srgbClr val="F59E0B"/>
          </a:solidFill>
          <a:ln w="12700">
            <a:solidFill>
              <a:srgbClr val="F59E0B"/>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20624" y="4114800"/>
            <a:ext cx="347472" cy="347472"/>
          </a:xfrm>
          <a:prstGeom prst="rect">
            <a:avLst/>
          </a:prstGeom>
        </p:spPr>
      </p:pic>
      <p:sp>
        <p:nvSpPr>
          <p:cNvPr id="18" name="Text 13"/>
          <p:cNvSpPr/>
          <p:nvPr/>
        </p:nvSpPr>
        <p:spPr>
          <a:xfrm>
            <a:off x="1005840" y="3858768"/>
            <a:ext cx="7635240" cy="347472"/>
          </a:xfrm>
          <a:prstGeom prst="rect">
            <a:avLst/>
          </a:prstGeom>
          <a:noFill/>
          <a:ln/>
        </p:spPr>
        <p:txBody>
          <a:bodyPr wrap="square" lIns="0" tIns="0" rIns="0" bIns="0" rtlCol="0" anchor="ctr"/>
          <a:lstStyle/>
          <a:p>
            <a:pPr marL="0" indent="0" algn="l">
              <a:buNone/>
            </a:pPr>
            <a:r>
              <a:rPr lang="en-US" sz="1500" b="1" dirty="0">
                <a:solidFill>
                  <a:srgbClr val="F59E0B"/>
                </a:solidFill>
                <a:latin typeface="Calibri" pitchFamily="34" charset="0"/>
                <a:ea typeface="Calibri" pitchFamily="34" charset="-122"/>
                <a:cs typeface="Calibri" pitchFamily="34" charset="-120"/>
              </a:rPr>
              <a:t>Transition Survivability</a:t>
            </a:r>
            <a:endParaRPr lang="en-US" sz="1500" dirty="0"/>
          </a:p>
        </p:txBody>
      </p:sp>
      <p:sp>
        <p:nvSpPr>
          <p:cNvPr id="19" name="Text 14"/>
          <p:cNvSpPr/>
          <p:nvPr/>
        </p:nvSpPr>
        <p:spPr>
          <a:xfrm>
            <a:off x="1005840" y="4224528"/>
            <a:ext cx="7635240" cy="594360"/>
          </a:xfrm>
          <a:prstGeom prst="rect">
            <a:avLst/>
          </a:prstGeom>
          <a:noFill/>
          <a:ln/>
        </p:spPr>
        <p:txBody>
          <a:bodyPr wrap="square" lIns="0" tIns="0" rIns="0" bIns="0" rtlCol="0" anchor="t"/>
          <a:lstStyle/>
          <a:p>
            <a:pPr marL="0" indent="0" algn="l">
              <a:lnSpc>
                <a:spcPct val="135000"/>
              </a:lnSpc>
              <a:buNone/>
            </a:pPr>
            <a:r>
              <a:rPr lang="en-US" sz="1100" dirty="0">
                <a:solidFill>
                  <a:srgbClr val="D1D5DB"/>
                </a:solidFill>
                <a:latin typeface="Calibri" pitchFamily="34" charset="0"/>
                <a:ea typeface="Calibri" pitchFamily="34" charset="-122"/>
                <a:cs typeface="Calibri" pitchFamily="34" charset="-120"/>
              </a:rPr>
              <a:t>When a team member leaves — or a vendor is replaced — the incoming person starts from full accumulated context, not a blank slate. The agent acts as the persistent institutional memory that no individual can be. Knowledge no longer depends on who happens to still be in the room.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89788"/>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548640"/>
          </a:xfrm>
          <a:prstGeom prst="rect">
            <a:avLst/>
          </a:prstGeom>
          <a:noFill/>
          <a:ln/>
        </p:spPr>
        <p:txBody>
          <a:bodyPr wrap="square" lIns="0" tIns="0" rIns="0" bIns="0" rtlCol="0" anchor="ctr"/>
          <a:lstStyle/>
          <a:p>
            <a:pPr marL="0" indent="0" algn="l">
              <a:buNone/>
            </a:pPr>
            <a:r>
              <a:rPr lang="en-US" sz="950" b="1" kern="0" spc="300" dirty="0">
                <a:solidFill>
                  <a:srgbClr val="F59E0B"/>
                </a:solidFill>
                <a:latin typeface="Calibri" pitchFamily="34" charset="0"/>
                <a:ea typeface="Calibri" pitchFamily="34" charset="-122"/>
                <a:cs typeface="Calibri" pitchFamily="34" charset="-120"/>
              </a:rPr>
              <a:t>06 · INSURANCE INDUSTRY USE CASE</a:t>
            </a:r>
            <a:endParaRPr lang="en-US" sz="950" dirty="0"/>
          </a:p>
        </p:txBody>
      </p:sp>
      <p:sp>
        <p:nvSpPr>
          <p:cNvPr id="4" name="Text 2"/>
          <p:cNvSpPr/>
          <p:nvPr/>
        </p:nvSpPr>
        <p:spPr>
          <a:xfrm>
            <a:off x="384048" y="621792"/>
            <a:ext cx="8412480" cy="548640"/>
          </a:xfrm>
          <a:prstGeom prst="rect">
            <a:avLst/>
          </a:prstGeom>
          <a:noFill/>
          <a:ln/>
        </p:spPr>
        <p:txBody>
          <a:bodyPr wrap="square" lIns="0" tIns="0" rIns="0" bIns="0" rtlCol="0" anchor="ctr"/>
          <a:lstStyle/>
          <a:p>
            <a:pPr marL="0" indent="0" algn="l">
              <a:buNone/>
            </a:pPr>
            <a:r>
              <a:rPr lang="en-US" sz="2200" b="1" dirty="0">
                <a:solidFill>
                  <a:srgbClr val="111827"/>
                </a:solidFill>
                <a:latin typeface="Georgia" pitchFamily="34" charset="0"/>
                <a:ea typeface="Georgia" pitchFamily="34" charset="-122"/>
                <a:cs typeface="Georgia" pitchFamily="34" charset="-120"/>
              </a:rPr>
              <a:t>How a Global Insurer Applies This — AXA Perspective</a:t>
            </a:r>
            <a:endParaRPr lang="en-US" sz="2200" dirty="0"/>
          </a:p>
        </p:txBody>
      </p:sp>
      <p:sp>
        <p:nvSpPr>
          <p:cNvPr id="5" name="Shape 3"/>
          <p:cNvSpPr/>
          <p:nvPr/>
        </p:nvSpPr>
        <p:spPr>
          <a:xfrm>
            <a:off x="310896" y="1170432"/>
            <a:ext cx="8449056" cy="1024128"/>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10896" y="1170432"/>
            <a:ext cx="658368" cy="1024128"/>
          </a:xfrm>
          <a:prstGeom prst="rect">
            <a:avLst/>
          </a:prstGeom>
          <a:solidFill>
            <a:srgbClr val="0B1120"/>
          </a:solidFill>
          <a:ln w="12700">
            <a:solidFill>
              <a:srgbClr val="0B112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481328"/>
            <a:ext cx="384048" cy="384048"/>
          </a:xfrm>
          <a:prstGeom prst="rect">
            <a:avLst/>
          </a:prstGeom>
        </p:spPr>
      </p:pic>
      <p:sp>
        <p:nvSpPr>
          <p:cNvPr id="8" name="Text 5"/>
          <p:cNvSpPr/>
          <p:nvPr/>
        </p:nvSpPr>
        <p:spPr>
          <a:xfrm>
            <a:off x="1097280" y="1225296"/>
            <a:ext cx="2633472" cy="347472"/>
          </a:xfrm>
          <a:prstGeom prst="rect">
            <a:avLst/>
          </a:prstGeom>
          <a:noFill/>
          <a:ln/>
        </p:spPr>
        <p:txBody>
          <a:bodyPr wrap="square" lIns="0" tIns="0" rIns="0" bIns="0" rtlCol="0" anchor="ctr"/>
          <a:lstStyle/>
          <a:p>
            <a:pPr marL="0" indent="0" algn="l">
              <a:buNone/>
            </a:pPr>
            <a:r>
              <a:rPr lang="en-US" sz="1200" b="1" dirty="0">
                <a:solidFill>
                  <a:srgbClr val="111827"/>
                </a:solidFill>
                <a:latin typeface="Calibri" pitchFamily="34" charset="0"/>
                <a:ea typeface="Calibri" pitchFamily="34" charset="-122"/>
                <a:cs typeface="Calibri" pitchFamily="34" charset="-120"/>
              </a:rPr>
              <a:t>Underwriting Context Agent</a:t>
            </a:r>
            <a:endParaRPr lang="en-US" sz="1200" dirty="0"/>
          </a:p>
        </p:txBody>
      </p:sp>
      <p:sp>
        <p:nvSpPr>
          <p:cNvPr id="9" name="Text 6"/>
          <p:cNvSpPr/>
          <p:nvPr/>
        </p:nvSpPr>
        <p:spPr>
          <a:xfrm>
            <a:off x="1097280" y="1591056"/>
            <a:ext cx="2633472" cy="530352"/>
          </a:xfrm>
          <a:prstGeom prst="rect">
            <a:avLst/>
          </a:prstGeom>
          <a:noFill/>
          <a:ln/>
        </p:spPr>
        <p:txBody>
          <a:bodyPr wrap="square" lIns="0" tIns="0" rIns="0" bIns="0" rtlCol="0" anchor="t"/>
          <a:lstStyle/>
          <a:p>
            <a:pPr marL="0" indent="0" algn="l">
              <a:lnSpc>
                <a:spcPct val="130000"/>
              </a:lnSpc>
              <a:buNone/>
            </a:pPr>
            <a:r>
              <a:rPr lang="en-US" sz="900" dirty="0">
                <a:solidFill>
                  <a:srgbClr val="EF4444"/>
                </a:solidFill>
                <a:latin typeface="Calibri" pitchFamily="34" charset="0"/>
                <a:ea typeface="Calibri" pitchFamily="34" charset="-122"/>
                <a:cs typeface="Calibri" pitchFamily="34" charset="-120"/>
              </a:rPr>
              <a:t>PAIN: Senior underwriters retire with 20+ years of pricing judgment. Pricing consistency drops. Loss ratios widen.</a:t>
            </a:r>
            <a:endParaRPr lang="en-US" sz="900" dirty="0"/>
          </a:p>
        </p:txBody>
      </p:sp>
      <p:sp>
        <p:nvSpPr>
          <p:cNvPr id="10" name="Shape 7"/>
          <p:cNvSpPr/>
          <p:nvPr/>
        </p:nvSpPr>
        <p:spPr>
          <a:xfrm>
            <a:off x="3877056" y="1261872"/>
            <a:ext cx="18288" cy="841248"/>
          </a:xfrm>
          <a:prstGeom prst="rect">
            <a:avLst/>
          </a:prstGeom>
          <a:solidFill>
            <a:srgbClr val="E5E7EB"/>
          </a:solidFill>
          <a:ln w="12700">
            <a:solidFill>
              <a:srgbClr val="E5E7EB"/>
            </a:solidFill>
            <a:prstDash val="solid"/>
          </a:ln>
        </p:spPr>
        <p:txBody>
          <a:bodyPr/>
          <a:lstStyle/>
          <a:p>
            <a:endParaRPr lang="en-US"/>
          </a:p>
        </p:txBody>
      </p:sp>
      <p:sp>
        <p:nvSpPr>
          <p:cNvPr id="11" name="Text 8"/>
          <p:cNvSpPr/>
          <p:nvPr/>
        </p:nvSpPr>
        <p:spPr>
          <a:xfrm>
            <a:off x="4005072" y="1225296"/>
            <a:ext cx="3090672" cy="896112"/>
          </a:xfrm>
          <a:prstGeom prst="rect">
            <a:avLst/>
          </a:prstGeom>
          <a:noFill/>
          <a:ln/>
        </p:spPr>
        <p:txBody>
          <a:bodyPr wrap="square" lIns="0" tIns="0" rIns="0" bIns="0" rtlCol="0" anchor="t"/>
          <a:lstStyle/>
          <a:p>
            <a:pPr marL="0" indent="0" algn="l">
              <a:lnSpc>
                <a:spcPct val="130000"/>
              </a:lnSpc>
              <a:buNone/>
            </a:pPr>
            <a:r>
              <a:rPr lang="en-US" sz="900" dirty="0">
                <a:solidFill>
                  <a:srgbClr val="374151"/>
                </a:solidFill>
                <a:latin typeface="Calibri" pitchFamily="34" charset="0"/>
                <a:ea typeface="Calibri" pitchFamily="34" charset="-122"/>
                <a:cs typeface="Calibri" pitchFamily="34" charset="-120"/>
              </a:rPr>
              <a:t>AGENT: Agent captures reasoning behind every accept/decline/refer decision — geography loading, exclusion rationale, risk appetite logic. New underwriters start with institutional precedent, not a blank screen.</a:t>
            </a:r>
            <a:endParaRPr lang="en-US" sz="900" dirty="0"/>
          </a:p>
        </p:txBody>
      </p:sp>
      <p:sp>
        <p:nvSpPr>
          <p:cNvPr id="12" name="Shape 9"/>
          <p:cNvSpPr/>
          <p:nvPr/>
        </p:nvSpPr>
        <p:spPr>
          <a:xfrm>
            <a:off x="7242048" y="1170432"/>
            <a:ext cx="1517904" cy="1024128"/>
          </a:xfrm>
          <a:prstGeom prst="rect">
            <a:avLst/>
          </a:prstGeom>
          <a:solidFill>
            <a:srgbClr val="EF4444"/>
          </a:solidFill>
          <a:ln w="12700">
            <a:solidFill>
              <a:srgbClr val="EF4444"/>
            </a:solidFill>
            <a:prstDash val="solid"/>
          </a:ln>
        </p:spPr>
        <p:txBody>
          <a:bodyPr/>
          <a:lstStyle/>
          <a:p>
            <a:endParaRPr lang="en-US"/>
          </a:p>
        </p:txBody>
      </p:sp>
      <p:sp>
        <p:nvSpPr>
          <p:cNvPr id="13" name="Text 10"/>
          <p:cNvSpPr/>
          <p:nvPr/>
        </p:nvSpPr>
        <p:spPr>
          <a:xfrm>
            <a:off x="7242048" y="1280160"/>
            <a:ext cx="1517904"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IMPACT</a:t>
            </a:r>
            <a:endParaRPr lang="en-US" sz="800" dirty="0"/>
          </a:p>
        </p:txBody>
      </p:sp>
      <p:sp>
        <p:nvSpPr>
          <p:cNvPr id="14" name="Text 11"/>
          <p:cNvSpPr/>
          <p:nvPr/>
        </p:nvSpPr>
        <p:spPr>
          <a:xfrm>
            <a:off x="7242048" y="1536192"/>
            <a:ext cx="1517904" cy="566928"/>
          </a:xfrm>
          <a:prstGeom prst="rect">
            <a:avLst/>
          </a:prstGeom>
          <a:noFill/>
          <a:ln/>
        </p:spPr>
        <p:txBody>
          <a:bodyPr wrap="square" lIns="0" tIns="0" rIns="0" bIns="0" rtlCol="0" anchor="t"/>
          <a:lstStyle/>
          <a:p>
            <a:pPr marL="0" indent="0" algn="ctr">
              <a:lnSpc>
                <a:spcPct val="130000"/>
              </a:lnSpc>
              <a:buNone/>
            </a:pPr>
            <a:r>
              <a:rPr lang="en-US" sz="900" i="1" dirty="0">
                <a:solidFill>
                  <a:srgbClr val="FFFFFF"/>
                </a:solidFill>
                <a:latin typeface="Calibri" pitchFamily="34" charset="0"/>
                <a:ea typeface="Calibri" pitchFamily="34" charset="-122"/>
                <a:cs typeface="Calibri" pitchFamily="34" charset="-120"/>
              </a:rPr>
              <a:t>Consistent pricing → improved combined ratio</a:t>
            </a:r>
            <a:endParaRPr lang="en-US" sz="900" dirty="0"/>
          </a:p>
        </p:txBody>
      </p:sp>
      <p:sp>
        <p:nvSpPr>
          <p:cNvPr id="15" name="Shape 12"/>
          <p:cNvSpPr/>
          <p:nvPr/>
        </p:nvSpPr>
        <p:spPr>
          <a:xfrm>
            <a:off x="310896" y="2313432"/>
            <a:ext cx="8449056" cy="1024128"/>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6" name="Shape 13"/>
          <p:cNvSpPr/>
          <p:nvPr/>
        </p:nvSpPr>
        <p:spPr>
          <a:xfrm>
            <a:off x="310896" y="2313432"/>
            <a:ext cx="658368" cy="1024128"/>
          </a:xfrm>
          <a:prstGeom prst="rect">
            <a:avLst/>
          </a:prstGeom>
          <a:solidFill>
            <a:srgbClr val="0B1120"/>
          </a:solidFill>
          <a:ln w="12700">
            <a:solidFill>
              <a:srgbClr val="0B112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38912" y="2624328"/>
            <a:ext cx="384048" cy="384048"/>
          </a:xfrm>
          <a:prstGeom prst="rect">
            <a:avLst/>
          </a:prstGeom>
        </p:spPr>
      </p:pic>
      <p:sp>
        <p:nvSpPr>
          <p:cNvPr id="18" name="Text 14"/>
          <p:cNvSpPr/>
          <p:nvPr/>
        </p:nvSpPr>
        <p:spPr>
          <a:xfrm>
            <a:off x="1097280" y="2368296"/>
            <a:ext cx="2633472" cy="347472"/>
          </a:xfrm>
          <a:prstGeom prst="rect">
            <a:avLst/>
          </a:prstGeom>
          <a:noFill/>
          <a:ln/>
        </p:spPr>
        <p:txBody>
          <a:bodyPr wrap="square" lIns="0" tIns="0" rIns="0" bIns="0" rtlCol="0" anchor="ctr"/>
          <a:lstStyle/>
          <a:p>
            <a:pPr marL="0" indent="0" algn="l">
              <a:buNone/>
            </a:pPr>
            <a:r>
              <a:rPr lang="en-US" sz="1200" b="1" dirty="0">
                <a:solidFill>
                  <a:srgbClr val="111827"/>
                </a:solidFill>
                <a:latin typeface="Calibri" pitchFamily="34" charset="0"/>
                <a:ea typeface="Calibri" pitchFamily="34" charset="-122"/>
                <a:cs typeface="Calibri" pitchFamily="34" charset="-120"/>
              </a:rPr>
              <a:t>Claims Intelligence Agent</a:t>
            </a:r>
            <a:endParaRPr lang="en-US" sz="1200" dirty="0"/>
          </a:p>
        </p:txBody>
      </p:sp>
      <p:sp>
        <p:nvSpPr>
          <p:cNvPr id="19" name="Text 15"/>
          <p:cNvSpPr/>
          <p:nvPr/>
        </p:nvSpPr>
        <p:spPr>
          <a:xfrm>
            <a:off x="1097280" y="2734056"/>
            <a:ext cx="2633472" cy="530352"/>
          </a:xfrm>
          <a:prstGeom prst="rect">
            <a:avLst/>
          </a:prstGeom>
          <a:noFill/>
          <a:ln/>
        </p:spPr>
        <p:txBody>
          <a:bodyPr wrap="square" lIns="0" tIns="0" rIns="0" bIns="0" rtlCol="0" anchor="t"/>
          <a:lstStyle/>
          <a:p>
            <a:pPr marL="0" indent="0" algn="l">
              <a:lnSpc>
                <a:spcPct val="130000"/>
              </a:lnSpc>
              <a:buNone/>
            </a:pPr>
            <a:r>
              <a:rPr lang="en-US" sz="900" dirty="0">
                <a:solidFill>
                  <a:srgbClr val="EF4444"/>
                </a:solidFill>
                <a:latin typeface="Calibri" pitchFamily="34" charset="0"/>
                <a:ea typeface="Calibri" pitchFamily="34" charset="-122"/>
                <a:cs typeface="Calibri" pitchFamily="34" charset="-120"/>
              </a:rPr>
              <a:t>PAIN: Claims handlers make inconsistent reserve decisions on similar cases — leakage of 10–20% of total claims cost.</a:t>
            </a:r>
            <a:endParaRPr lang="en-US" sz="900" dirty="0"/>
          </a:p>
        </p:txBody>
      </p:sp>
      <p:sp>
        <p:nvSpPr>
          <p:cNvPr id="20" name="Shape 16"/>
          <p:cNvSpPr/>
          <p:nvPr/>
        </p:nvSpPr>
        <p:spPr>
          <a:xfrm>
            <a:off x="3877056" y="2404872"/>
            <a:ext cx="18288" cy="841248"/>
          </a:xfrm>
          <a:prstGeom prst="rect">
            <a:avLst/>
          </a:prstGeom>
          <a:solidFill>
            <a:srgbClr val="E5E7EB"/>
          </a:solidFill>
          <a:ln w="12700">
            <a:solidFill>
              <a:srgbClr val="E5E7EB"/>
            </a:solidFill>
            <a:prstDash val="solid"/>
          </a:ln>
        </p:spPr>
        <p:txBody>
          <a:bodyPr/>
          <a:lstStyle/>
          <a:p>
            <a:endParaRPr lang="en-US"/>
          </a:p>
        </p:txBody>
      </p:sp>
      <p:sp>
        <p:nvSpPr>
          <p:cNvPr id="21" name="Text 17"/>
          <p:cNvSpPr/>
          <p:nvPr/>
        </p:nvSpPr>
        <p:spPr>
          <a:xfrm>
            <a:off x="4005072" y="2368296"/>
            <a:ext cx="3090672" cy="896112"/>
          </a:xfrm>
          <a:prstGeom prst="rect">
            <a:avLst/>
          </a:prstGeom>
          <a:noFill/>
          <a:ln/>
        </p:spPr>
        <p:txBody>
          <a:bodyPr wrap="square" lIns="0" tIns="0" rIns="0" bIns="0" rtlCol="0" anchor="t"/>
          <a:lstStyle/>
          <a:p>
            <a:pPr marL="0" indent="0" algn="l">
              <a:lnSpc>
                <a:spcPct val="130000"/>
              </a:lnSpc>
              <a:buNone/>
            </a:pPr>
            <a:r>
              <a:rPr lang="en-US" sz="900" dirty="0">
                <a:solidFill>
                  <a:srgbClr val="374151"/>
                </a:solidFill>
                <a:latin typeface="Calibri" pitchFamily="34" charset="0"/>
                <a:ea typeface="Calibri" pitchFamily="34" charset="-122"/>
                <a:cs typeface="Calibri" pitchFamily="34" charset="-120"/>
              </a:rPr>
              <a:t>AGENT: Agent builds institutional memory of how comparable claims were handled — coverage interpretations, reserve adjustments, fraud flags — surfaced at the moment a new claim is assessed.</a:t>
            </a:r>
            <a:endParaRPr lang="en-US" sz="900" dirty="0"/>
          </a:p>
        </p:txBody>
      </p:sp>
      <p:sp>
        <p:nvSpPr>
          <p:cNvPr id="22" name="Shape 18"/>
          <p:cNvSpPr/>
          <p:nvPr/>
        </p:nvSpPr>
        <p:spPr>
          <a:xfrm>
            <a:off x="7242048" y="2313432"/>
            <a:ext cx="1517904" cy="1024128"/>
          </a:xfrm>
          <a:prstGeom prst="rect">
            <a:avLst/>
          </a:prstGeom>
          <a:solidFill>
            <a:srgbClr val="14B8A6"/>
          </a:solidFill>
          <a:ln w="12700">
            <a:solidFill>
              <a:srgbClr val="14B8A6"/>
            </a:solidFill>
            <a:prstDash val="solid"/>
          </a:ln>
        </p:spPr>
        <p:txBody>
          <a:bodyPr/>
          <a:lstStyle/>
          <a:p>
            <a:endParaRPr lang="en-US"/>
          </a:p>
        </p:txBody>
      </p:sp>
      <p:sp>
        <p:nvSpPr>
          <p:cNvPr id="23" name="Text 19"/>
          <p:cNvSpPr/>
          <p:nvPr/>
        </p:nvSpPr>
        <p:spPr>
          <a:xfrm>
            <a:off x="7242048" y="2423160"/>
            <a:ext cx="1517904"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IMPACT</a:t>
            </a:r>
            <a:endParaRPr lang="en-US" sz="800" dirty="0"/>
          </a:p>
        </p:txBody>
      </p:sp>
      <p:sp>
        <p:nvSpPr>
          <p:cNvPr id="24" name="Text 20"/>
          <p:cNvSpPr/>
          <p:nvPr/>
        </p:nvSpPr>
        <p:spPr>
          <a:xfrm>
            <a:off x="7242048" y="2679192"/>
            <a:ext cx="1517904" cy="566928"/>
          </a:xfrm>
          <a:prstGeom prst="rect">
            <a:avLst/>
          </a:prstGeom>
          <a:noFill/>
          <a:ln/>
        </p:spPr>
        <p:txBody>
          <a:bodyPr wrap="square" lIns="0" tIns="0" rIns="0" bIns="0" rtlCol="0" anchor="t"/>
          <a:lstStyle/>
          <a:p>
            <a:pPr marL="0" indent="0" algn="ctr">
              <a:lnSpc>
                <a:spcPct val="130000"/>
              </a:lnSpc>
              <a:buNone/>
            </a:pPr>
            <a:r>
              <a:rPr lang="en-US" sz="900" i="1" dirty="0">
                <a:solidFill>
                  <a:srgbClr val="FFFFFF"/>
                </a:solidFill>
                <a:latin typeface="Calibri" pitchFamily="34" charset="0"/>
                <a:ea typeface="Calibri" pitchFamily="34" charset="-122"/>
                <a:cs typeface="Calibri" pitchFamily="34" charset="-120"/>
              </a:rPr>
              <a:t>2–3% leakage reduction on multi-billion claims base</a:t>
            </a:r>
            <a:endParaRPr lang="en-US" sz="900" dirty="0"/>
          </a:p>
        </p:txBody>
      </p:sp>
      <p:sp>
        <p:nvSpPr>
          <p:cNvPr id="25" name="Shape 21"/>
          <p:cNvSpPr/>
          <p:nvPr/>
        </p:nvSpPr>
        <p:spPr>
          <a:xfrm>
            <a:off x="310896" y="3456432"/>
            <a:ext cx="8449056" cy="1024128"/>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6" name="Shape 22"/>
          <p:cNvSpPr/>
          <p:nvPr/>
        </p:nvSpPr>
        <p:spPr>
          <a:xfrm>
            <a:off x="310896" y="3456432"/>
            <a:ext cx="658368" cy="1024128"/>
          </a:xfrm>
          <a:prstGeom prst="rect">
            <a:avLst/>
          </a:prstGeom>
          <a:solidFill>
            <a:srgbClr val="0B1120"/>
          </a:solidFill>
          <a:ln w="12700">
            <a:solidFill>
              <a:srgbClr val="0B1120"/>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438912" y="3767328"/>
            <a:ext cx="384048" cy="384048"/>
          </a:xfrm>
          <a:prstGeom prst="rect">
            <a:avLst/>
          </a:prstGeom>
        </p:spPr>
      </p:pic>
      <p:sp>
        <p:nvSpPr>
          <p:cNvPr id="28" name="Text 23"/>
          <p:cNvSpPr/>
          <p:nvPr/>
        </p:nvSpPr>
        <p:spPr>
          <a:xfrm>
            <a:off x="1097280" y="3511296"/>
            <a:ext cx="2633472" cy="347472"/>
          </a:xfrm>
          <a:prstGeom prst="rect">
            <a:avLst/>
          </a:prstGeom>
          <a:noFill/>
          <a:ln/>
        </p:spPr>
        <p:txBody>
          <a:bodyPr wrap="square" lIns="0" tIns="0" rIns="0" bIns="0" rtlCol="0" anchor="ctr"/>
          <a:lstStyle/>
          <a:p>
            <a:pPr marL="0" indent="0" algn="l">
              <a:buNone/>
            </a:pPr>
            <a:r>
              <a:rPr lang="en-US" sz="1200" b="1" dirty="0">
                <a:solidFill>
                  <a:srgbClr val="111827"/>
                </a:solidFill>
                <a:latin typeface="Calibri" pitchFamily="34" charset="0"/>
                <a:ea typeface="Calibri" pitchFamily="34" charset="-122"/>
                <a:cs typeface="Calibri" pitchFamily="34" charset="-120"/>
              </a:rPr>
              <a:t>Model Governance Agent</a:t>
            </a:r>
            <a:endParaRPr lang="en-US" sz="1200" dirty="0"/>
          </a:p>
        </p:txBody>
      </p:sp>
      <p:sp>
        <p:nvSpPr>
          <p:cNvPr id="29" name="Text 24"/>
          <p:cNvSpPr/>
          <p:nvPr/>
        </p:nvSpPr>
        <p:spPr>
          <a:xfrm>
            <a:off x="1097280" y="3877056"/>
            <a:ext cx="2633472" cy="530352"/>
          </a:xfrm>
          <a:prstGeom prst="rect">
            <a:avLst/>
          </a:prstGeom>
          <a:noFill/>
          <a:ln/>
        </p:spPr>
        <p:txBody>
          <a:bodyPr wrap="square" lIns="0" tIns="0" rIns="0" bIns="0" rtlCol="0" anchor="t"/>
          <a:lstStyle/>
          <a:p>
            <a:pPr marL="0" indent="0" algn="l">
              <a:lnSpc>
                <a:spcPct val="130000"/>
              </a:lnSpc>
              <a:buNone/>
            </a:pPr>
            <a:r>
              <a:rPr lang="en-US" sz="900" dirty="0">
                <a:solidFill>
                  <a:srgbClr val="EF4444"/>
                </a:solidFill>
                <a:latin typeface="Calibri" pitchFamily="34" charset="0"/>
                <a:ea typeface="Calibri" pitchFamily="34" charset="-122"/>
                <a:cs typeface="Calibri" pitchFamily="34" charset="-120"/>
              </a:rPr>
              <a:t>PAIN: AI pricing and fraud models used by 88% of insurers (NAIC 2025) — but regulators now require full explainability of model decisions.</a:t>
            </a:r>
            <a:endParaRPr lang="en-US" sz="900" dirty="0"/>
          </a:p>
        </p:txBody>
      </p:sp>
      <p:sp>
        <p:nvSpPr>
          <p:cNvPr id="30" name="Shape 25"/>
          <p:cNvSpPr/>
          <p:nvPr/>
        </p:nvSpPr>
        <p:spPr>
          <a:xfrm>
            <a:off x="3877056" y="3547872"/>
            <a:ext cx="18288" cy="841248"/>
          </a:xfrm>
          <a:prstGeom prst="rect">
            <a:avLst/>
          </a:prstGeom>
          <a:solidFill>
            <a:srgbClr val="E5E7EB"/>
          </a:solidFill>
          <a:ln w="12700">
            <a:solidFill>
              <a:srgbClr val="E5E7EB"/>
            </a:solidFill>
            <a:prstDash val="solid"/>
          </a:ln>
        </p:spPr>
        <p:txBody>
          <a:bodyPr/>
          <a:lstStyle/>
          <a:p>
            <a:endParaRPr lang="en-US"/>
          </a:p>
        </p:txBody>
      </p:sp>
      <p:sp>
        <p:nvSpPr>
          <p:cNvPr id="31" name="Text 26"/>
          <p:cNvSpPr/>
          <p:nvPr/>
        </p:nvSpPr>
        <p:spPr>
          <a:xfrm>
            <a:off x="4005072" y="3511296"/>
            <a:ext cx="3090672" cy="896112"/>
          </a:xfrm>
          <a:prstGeom prst="rect">
            <a:avLst/>
          </a:prstGeom>
          <a:noFill/>
          <a:ln/>
        </p:spPr>
        <p:txBody>
          <a:bodyPr wrap="square" lIns="0" tIns="0" rIns="0" bIns="0" rtlCol="0" anchor="t"/>
          <a:lstStyle/>
          <a:p>
            <a:pPr marL="0" indent="0" algn="l">
              <a:lnSpc>
                <a:spcPct val="130000"/>
              </a:lnSpc>
              <a:buNone/>
            </a:pPr>
            <a:r>
              <a:rPr lang="en-US" sz="900" dirty="0">
                <a:solidFill>
                  <a:srgbClr val="374151"/>
                </a:solidFill>
                <a:latin typeface="Calibri" pitchFamily="34" charset="0"/>
                <a:ea typeface="Calibri" pitchFamily="34" charset="-122"/>
                <a:cs typeface="Calibri" pitchFamily="34" charset="-120"/>
              </a:rPr>
              <a:t>AGENT: ML Agent captures feature selection rationale, threshold calibration history, training data decisions as models are built — generating self-maintaining regulatory evidence packages.</a:t>
            </a:r>
            <a:endParaRPr lang="en-US" sz="900" dirty="0"/>
          </a:p>
        </p:txBody>
      </p:sp>
      <p:sp>
        <p:nvSpPr>
          <p:cNvPr id="32" name="Shape 27"/>
          <p:cNvSpPr/>
          <p:nvPr/>
        </p:nvSpPr>
        <p:spPr>
          <a:xfrm>
            <a:off x="7242048" y="3456432"/>
            <a:ext cx="1517904" cy="1024128"/>
          </a:xfrm>
          <a:prstGeom prst="rect">
            <a:avLst/>
          </a:prstGeom>
          <a:solidFill>
            <a:srgbClr val="6366F1"/>
          </a:solidFill>
          <a:ln w="12700">
            <a:solidFill>
              <a:srgbClr val="6366F1"/>
            </a:solidFill>
            <a:prstDash val="solid"/>
          </a:ln>
        </p:spPr>
        <p:txBody>
          <a:bodyPr/>
          <a:lstStyle/>
          <a:p>
            <a:endParaRPr lang="en-US"/>
          </a:p>
        </p:txBody>
      </p:sp>
      <p:sp>
        <p:nvSpPr>
          <p:cNvPr id="33" name="Text 28"/>
          <p:cNvSpPr/>
          <p:nvPr/>
        </p:nvSpPr>
        <p:spPr>
          <a:xfrm>
            <a:off x="7242048" y="3566160"/>
            <a:ext cx="1517904"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IMPACT</a:t>
            </a:r>
            <a:endParaRPr lang="en-US" sz="800" dirty="0"/>
          </a:p>
        </p:txBody>
      </p:sp>
      <p:sp>
        <p:nvSpPr>
          <p:cNvPr id="34" name="Text 29"/>
          <p:cNvSpPr/>
          <p:nvPr/>
        </p:nvSpPr>
        <p:spPr>
          <a:xfrm>
            <a:off x="7242048" y="3822192"/>
            <a:ext cx="1517904" cy="566928"/>
          </a:xfrm>
          <a:prstGeom prst="rect">
            <a:avLst/>
          </a:prstGeom>
          <a:noFill/>
          <a:ln/>
        </p:spPr>
        <p:txBody>
          <a:bodyPr wrap="square" lIns="0" tIns="0" rIns="0" bIns="0" rtlCol="0" anchor="t"/>
          <a:lstStyle/>
          <a:p>
            <a:pPr marL="0" indent="0" algn="ctr">
              <a:lnSpc>
                <a:spcPct val="130000"/>
              </a:lnSpc>
              <a:buNone/>
            </a:pPr>
            <a:r>
              <a:rPr lang="en-US" sz="900" i="1" dirty="0">
                <a:solidFill>
                  <a:srgbClr val="FFFFFF"/>
                </a:solidFill>
                <a:latin typeface="Calibri" pitchFamily="34" charset="0"/>
                <a:ea typeface="Calibri" pitchFamily="34" charset="-122"/>
                <a:cs typeface="Calibri" pitchFamily="34" charset="-120"/>
              </a:rPr>
              <a:t>Faster AI deployment through pre-built regulatory confidence</a:t>
            </a:r>
            <a:endParaRPr lang="en-US" sz="900" dirty="0"/>
          </a:p>
        </p:txBody>
      </p:sp>
      <p:sp>
        <p:nvSpPr>
          <p:cNvPr id="35" name="Shape 30"/>
          <p:cNvSpPr/>
          <p:nvPr/>
        </p:nvSpPr>
        <p:spPr>
          <a:xfrm>
            <a:off x="0" y="4572000"/>
            <a:ext cx="9144000" cy="566928"/>
          </a:xfrm>
          <a:prstGeom prst="rect">
            <a:avLst/>
          </a:prstGeom>
          <a:solidFill>
            <a:srgbClr val="0B1120"/>
          </a:solidFill>
          <a:ln w="12700">
            <a:solidFill>
              <a:srgbClr val="0B1120"/>
            </a:solidFill>
            <a:prstDash val="solid"/>
          </a:ln>
        </p:spPr>
        <p:txBody>
          <a:bodyPr/>
          <a:lstStyle/>
          <a:p>
            <a:endParaRPr lang="en-US"/>
          </a:p>
        </p:txBody>
      </p:sp>
      <p:sp>
        <p:nvSpPr>
          <p:cNvPr id="36" name="Text 31"/>
          <p:cNvSpPr/>
          <p:nvPr/>
        </p:nvSpPr>
        <p:spPr>
          <a:xfrm>
            <a:off x="329184" y="4591558"/>
            <a:ext cx="8412480" cy="566928"/>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NAIC 2025: 88% of auto insurers use or plan to use AI  ·  Fenwick/NAIC 2025: Insurers retain full responsibility for third-party AI models  ·  Baker Tilly 2025: Data governance rated #1 insurer risk</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F59E0B"/>
                </a:solidFill>
                <a:latin typeface="Calibri" pitchFamily="34" charset="0"/>
                <a:ea typeface="Calibri" pitchFamily="34" charset="-122"/>
                <a:cs typeface="Calibri" pitchFamily="34" charset="-120"/>
              </a:rPr>
              <a:t>07 · BUSINESS IMPACT</a:t>
            </a:r>
            <a:endParaRPr lang="en-US" sz="950" dirty="0"/>
          </a:p>
        </p:txBody>
      </p:sp>
      <p:sp>
        <p:nvSpPr>
          <p:cNvPr id="4" name="Text 2"/>
          <p:cNvSpPr/>
          <p:nvPr/>
        </p:nvSpPr>
        <p:spPr>
          <a:xfrm>
            <a:off x="384048" y="896112"/>
            <a:ext cx="8412480" cy="530352"/>
          </a:xfrm>
          <a:prstGeom prst="rect">
            <a:avLst/>
          </a:prstGeom>
          <a:noFill/>
          <a:ln/>
        </p:spPr>
        <p:txBody>
          <a:bodyPr wrap="square" lIns="0" tIns="0" rIns="0" bIns="0" rtlCol="0" anchor="ctr"/>
          <a:lstStyle/>
          <a:p>
            <a:pPr marL="0" indent="0" algn="l">
              <a:buNone/>
            </a:pPr>
            <a:r>
              <a:rPr lang="en-US" sz="2400" b="1" dirty="0">
                <a:solidFill>
                  <a:srgbClr val="111827"/>
                </a:solidFill>
                <a:latin typeface="Georgia" pitchFamily="34" charset="0"/>
                <a:ea typeface="Georgia" pitchFamily="34" charset="-122"/>
                <a:cs typeface="Georgia" pitchFamily="34" charset="-120"/>
              </a:rPr>
              <a:t>The Measurable Return on Governing Knowledge</a:t>
            </a:r>
            <a:endParaRPr lang="en-US" sz="2400" dirty="0"/>
          </a:p>
        </p:txBody>
      </p:sp>
      <p:sp>
        <p:nvSpPr>
          <p:cNvPr id="5" name="Shape 3"/>
          <p:cNvSpPr/>
          <p:nvPr/>
        </p:nvSpPr>
        <p:spPr>
          <a:xfrm>
            <a:off x="320040" y="1508760"/>
            <a:ext cx="202996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20040" y="1508760"/>
            <a:ext cx="2029968" cy="384048"/>
          </a:xfrm>
          <a:prstGeom prst="rect">
            <a:avLst/>
          </a:prstGeom>
          <a:solidFill>
            <a:srgbClr val="0B1120"/>
          </a:solidFill>
          <a:ln w="12700">
            <a:solidFill>
              <a:srgbClr val="0B112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29768" y="1572768"/>
            <a:ext cx="256032" cy="256032"/>
          </a:xfrm>
          <a:prstGeom prst="rect">
            <a:avLst/>
          </a:prstGeom>
        </p:spPr>
      </p:pic>
      <p:sp>
        <p:nvSpPr>
          <p:cNvPr id="8" name="Text 5"/>
          <p:cNvSpPr/>
          <p:nvPr/>
        </p:nvSpPr>
        <p:spPr>
          <a:xfrm>
            <a:off x="740664" y="1554480"/>
            <a:ext cx="1499616" cy="310896"/>
          </a:xfrm>
          <a:prstGeom prst="rect">
            <a:avLst/>
          </a:prstGeom>
          <a:noFill/>
          <a:ln/>
        </p:spPr>
        <p:txBody>
          <a:bodyPr wrap="square" lIns="0" tIns="0" rIns="0" bIns="0" rtlCol="0" anchor="ctr"/>
          <a:lstStyle/>
          <a:p>
            <a:pPr marL="0" indent="0" algn="l">
              <a:buNone/>
            </a:pPr>
            <a:r>
              <a:rPr lang="en-US" sz="900" b="1" kern="0" spc="200" dirty="0">
                <a:solidFill>
                  <a:srgbClr val="EF4444"/>
                </a:solidFill>
                <a:latin typeface="Calibri" pitchFamily="34" charset="0"/>
                <a:ea typeface="Calibri" pitchFamily="34" charset="-122"/>
                <a:cs typeface="Calibri" pitchFamily="34" charset="-120"/>
              </a:rPr>
              <a:t>SPEED</a:t>
            </a:r>
            <a:endParaRPr lang="en-US" sz="900" dirty="0"/>
          </a:p>
        </p:txBody>
      </p:sp>
      <p:sp>
        <p:nvSpPr>
          <p:cNvPr id="9" name="Text 6"/>
          <p:cNvSpPr/>
          <p:nvPr/>
        </p:nvSpPr>
        <p:spPr>
          <a:xfrm>
            <a:off x="320040" y="1965960"/>
            <a:ext cx="2029968" cy="960120"/>
          </a:xfrm>
          <a:prstGeom prst="rect">
            <a:avLst/>
          </a:prstGeom>
          <a:noFill/>
          <a:ln/>
        </p:spPr>
        <p:txBody>
          <a:bodyPr wrap="square" lIns="0" tIns="0" rIns="0" bIns="0" rtlCol="0" anchor="ctr"/>
          <a:lstStyle/>
          <a:p>
            <a:pPr marL="0" indent="0" algn="ctr">
              <a:buNone/>
            </a:pPr>
            <a:r>
              <a:rPr lang="en-US" sz="5200" b="1" dirty="0">
                <a:solidFill>
                  <a:srgbClr val="EF4444"/>
                </a:solidFill>
                <a:latin typeface="Georgia" pitchFamily="34" charset="0"/>
                <a:ea typeface="Georgia" pitchFamily="34" charset="-122"/>
                <a:cs typeface="Georgia" pitchFamily="34" charset="-120"/>
              </a:rPr>
              <a:t>91%</a:t>
            </a:r>
            <a:endParaRPr lang="en-US" sz="5200" dirty="0"/>
          </a:p>
        </p:txBody>
      </p:sp>
      <p:sp>
        <p:nvSpPr>
          <p:cNvPr id="10" name="Text 7"/>
          <p:cNvSpPr/>
          <p:nvPr/>
        </p:nvSpPr>
        <p:spPr>
          <a:xfrm>
            <a:off x="429768" y="2999232"/>
            <a:ext cx="1810512" cy="1234440"/>
          </a:xfrm>
          <a:prstGeom prst="rect">
            <a:avLst/>
          </a:prstGeom>
          <a:noFill/>
          <a:ln/>
        </p:spPr>
        <p:txBody>
          <a:bodyPr wrap="square" lIns="0" tIns="0" rIns="0" bIns="0" rtlCol="0" anchor="t"/>
          <a:lstStyle/>
          <a:p>
            <a:pPr marL="0" indent="0" algn="l">
              <a:lnSpc>
                <a:spcPct val="138000"/>
              </a:lnSpc>
              <a:buNone/>
            </a:pPr>
            <a:r>
              <a:rPr lang="en-US" sz="1000" dirty="0">
                <a:solidFill>
                  <a:srgbClr val="4B5563"/>
                </a:solidFill>
                <a:latin typeface="Calibri" pitchFamily="34" charset="0"/>
                <a:ea typeface="Calibri" pitchFamily="34" charset="-122"/>
                <a:cs typeface="Calibri" pitchFamily="34" charset="-120"/>
              </a:rPr>
              <a:t>reduction in knowledge retrieval time — from 8.2 hrs/week to 0.7 hrs</a:t>
            </a:r>
            <a:endParaRPr lang="en-US" sz="1000" dirty="0"/>
          </a:p>
        </p:txBody>
      </p:sp>
      <p:sp>
        <p:nvSpPr>
          <p:cNvPr id="11" name="Text 8"/>
          <p:cNvSpPr/>
          <p:nvPr/>
        </p:nvSpPr>
        <p:spPr>
          <a:xfrm>
            <a:off x="429768" y="4315968"/>
            <a:ext cx="1810512" cy="475488"/>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Glean/Panopto, 2025</a:t>
            </a:r>
            <a:endParaRPr lang="en-US" sz="800" dirty="0"/>
          </a:p>
        </p:txBody>
      </p:sp>
      <p:sp>
        <p:nvSpPr>
          <p:cNvPr id="12" name="Shape 9"/>
          <p:cNvSpPr/>
          <p:nvPr/>
        </p:nvSpPr>
        <p:spPr>
          <a:xfrm>
            <a:off x="2496312" y="1508760"/>
            <a:ext cx="202996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3" name="Shape 10"/>
          <p:cNvSpPr/>
          <p:nvPr/>
        </p:nvSpPr>
        <p:spPr>
          <a:xfrm>
            <a:off x="2496312" y="1508760"/>
            <a:ext cx="2029968" cy="384048"/>
          </a:xfrm>
          <a:prstGeom prst="rect">
            <a:avLst/>
          </a:prstGeom>
          <a:solidFill>
            <a:srgbClr val="0B1120"/>
          </a:solidFill>
          <a:ln w="12700">
            <a:solidFill>
              <a:srgbClr val="0B112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2606040" y="1572768"/>
            <a:ext cx="256032" cy="256032"/>
          </a:xfrm>
          <a:prstGeom prst="rect">
            <a:avLst/>
          </a:prstGeom>
        </p:spPr>
      </p:pic>
      <p:sp>
        <p:nvSpPr>
          <p:cNvPr id="15" name="Text 11"/>
          <p:cNvSpPr/>
          <p:nvPr/>
        </p:nvSpPr>
        <p:spPr>
          <a:xfrm>
            <a:off x="2916936" y="1554480"/>
            <a:ext cx="1499616" cy="310896"/>
          </a:xfrm>
          <a:prstGeom prst="rect">
            <a:avLst/>
          </a:prstGeom>
          <a:noFill/>
          <a:ln/>
        </p:spPr>
        <p:txBody>
          <a:bodyPr wrap="square" lIns="0" tIns="0" rIns="0" bIns="0" rtlCol="0" anchor="ctr"/>
          <a:lstStyle/>
          <a:p>
            <a:pPr marL="0" indent="0" algn="l">
              <a:buNone/>
            </a:pPr>
            <a:r>
              <a:rPr lang="en-US" sz="900" b="1" kern="0" spc="200" dirty="0">
                <a:solidFill>
                  <a:srgbClr val="F59E0B"/>
                </a:solidFill>
                <a:latin typeface="Calibri" pitchFamily="34" charset="0"/>
                <a:ea typeface="Calibri" pitchFamily="34" charset="-122"/>
                <a:cs typeface="Calibri" pitchFamily="34" charset="-120"/>
              </a:rPr>
              <a:t>COST</a:t>
            </a:r>
            <a:endParaRPr lang="en-US" sz="900" dirty="0"/>
          </a:p>
        </p:txBody>
      </p:sp>
      <p:sp>
        <p:nvSpPr>
          <p:cNvPr id="16" name="Text 12"/>
          <p:cNvSpPr/>
          <p:nvPr/>
        </p:nvSpPr>
        <p:spPr>
          <a:xfrm>
            <a:off x="2496312" y="1965960"/>
            <a:ext cx="2029968" cy="960120"/>
          </a:xfrm>
          <a:prstGeom prst="rect">
            <a:avLst/>
          </a:prstGeom>
          <a:noFill/>
          <a:ln/>
        </p:spPr>
        <p:txBody>
          <a:bodyPr wrap="square" lIns="0" tIns="0" rIns="0" bIns="0" rtlCol="0" anchor="ctr"/>
          <a:lstStyle/>
          <a:p>
            <a:pPr marL="0" indent="0" algn="ctr">
              <a:buNone/>
            </a:pPr>
            <a:r>
              <a:rPr lang="en-US" sz="5200" b="1" dirty="0">
                <a:solidFill>
                  <a:srgbClr val="F59E0B"/>
                </a:solidFill>
                <a:latin typeface="Georgia" pitchFamily="34" charset="0"/>
                <a:ea typeface="Georgia" pitchFamily="34" charset="-122"/>
                <a:cs typeface="Georgia" pitchFamily="34" charset="-120"/>
              </a:rPr>
              <a:t>70%</a:t>
            </a:r>
            <a:endParaRPr lang="en-US" sz="5200" dirty="0"/>
          </a:p>
        </p:txBody>
      </p:sp>
      <p:sp>
        <p:nvSpPr>
          <p:cNvPr id="17" name="Text 13"/>
          <p:cNvSpPr/>
          <p:nvPr/>
        </p:nvSpPr>
        <p:spPr>
          <a:xfrm>
            <a:off x="2606040" y="2999232"/>
            <a:ext cx="1810512" cy="1234440"/>
          </a:xfrm>
          <a:prstGeom prst="rect">
            <a:avLst/>
          </a:prstGeom>
          <a:noFill/>
          <a:ln/>
        </p:spPr>
        <p:txBody>
          <a:bodyPr wrap="square" lIns="0" tIns="0" rIns="0" bIns="0" rtlCol="0" anchor="t"/>
          <a:lstStyle/>
          <a:p>
            <a:pPr marL="0" indent="0" algn="l">
              <a:lnSpc>
                <a:spcPct val="138000"/>
              </a:lnSpc>
              <a:buNone/>
            </a:pPr>
            <a:r>
              <a:rPr lang="en-US" sz="1000" dirty="0">
                <a:solidFill>
                  <a:srgbClr val="4B5563"/>
                </a:solidFill>
                <a:latin typeface="Calibri" pitchFamily="34" charset="0"/>
                <a:ea typeface="Calibri" pitchFamily="34" charset="-122"/>
                <a:cs typeface="Calibri" pitchFamily="34" charset="-120"/>
              </a:rPr>
              <a:t>faster onboarding for new hires through agent-captured institutional context</a:t>
            </a:r>
            <a:endParaRPr lang="en-US" sz="1000" dirty="0"/>
          </a:p>
        </p:txBody>
      </p:sp>
      <p:sp>
        <p:nvSpPr>
          <p:cNvPr id="18" name="Text 14"/>
          <p:cNvSpPr/>
          <p:nvPr/>
        </p:nvSpPr>
        <p:spPr>
          <a:xfrm>
            <a:off x="2606040" y="4315968"/>
            <a:ext cx="1810512" cy="475488"/>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Sugarwork, 2024–25</a:t>
            </a:r>
            <a:endParaRPr lang="en-US" sz="800" dirty="0"/>
          </a:p>
        </p:txBody>
      </p:sp>
      <p:sp>
        <p:nvSpPr>
          <p:cNvPr id="19" name="Shape 15"/>
          <p:cNvSpPr/>
          <p:nvPr/>
        </p:nvSpPr>
        <p:spPr>
          <a:xfrm>
            <a:off x="4672584" y="1508760"/>
            <a:ext cx="202996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0" name="Shape 16"/>
          <p:cNvSpPr/>
          <p:nvPr/>
        </p:nvSpPr>
        <p:spPr>
          <a:xfrm>
            <a:off x="4672584" y="1508760"/>
            <a:ext cx="2029968" cy="384048"/>
          </a:xfrm>
          <a:prstGeom prst="rect">
            <a:avLst/>
          </a:prstGeom>
          <a:solidFill>
            <a:srgbClr val="0B1120"/>
          </a:solidFill>
          <a:ln w="12700">
            <a:solidFill>
              <a:srgbClr val="0B1120"/>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4782312" y="1572768"/>
            <a:ext cx="256032" cy="256032"/>
          </a:xfrm>
          <a:prstGeom prst="rect">
            <a:avLst/>
          </a:prstGeom>
        </p:spPr>
      </p:pic>
      <p:sp>
        <p:nvSpPr>
          <p:cNvPr id="22" name="Text 17"/>
          <p:cNvSpPr/>
          <p:nvPr/>
        </p:nvSpPr>
        <p:spPr>
          <a:xfrm>
            <a:off x="5093208" y="1554480"/>
            <a:ext cx="1499616" cy="310896"/>
          </a:xfrm>
          <a:prstGeom prst="rect">
            <a:avLst/>
          </a:prstGeom>
          <a:noFill/>
          <a:ln/>
        </p:spPr>
        <p:txBody>
          <a:bodyPr wrap="square" lIns="0" tIns="0" rIns="0" bIns="0" rtlCol="0" anchor="ctr"/>
          <a:lstStyle/>
          <a:p>
            <a:pPr marL="0" indent="0" algn="l">
              <a:buNone/>
            </a:pPr>
            <a:r>
              <a:rPr lang="en-US" sz="900" b="1" kern="0" spc="200" dirty="0">
                <a:solidFill>
                  <a:srgbClr val="14B8A6"/>
                </a:solidFill>
                <a:latin typeface="Calibri" pitchFamily="34" charset="0"/>
                <a:ea typeface="Calibri" pitchFamily="34" charset="-122"/>
                <a:cs typeface="Calibri" pitchFamily="34" charset="-120"/>
              </a:rPr>
              <a:t>RELIABILITY</a:t>
            </a:r>
            <a:endParaRPr lang="en-US" sz="900" dirty="0"/>
          </a:p>
        </p:txBody>
      </p:sp>
      <p:sp>
        <p:nvSpPr>
          <p:cNvPr id="23" name="Text 18"/>
          <p:cNvSpPr/>
          <p:nvPr/>
        </p:nvSpPr>
        <p:spPr>
          <a:xfrm>
            <a:off x="4672584" y="1965960"/>
            <a:ext cx="2029968" cy="960120"/>
          </a:xfrm>
          <a:prstGeom prst="rect">
            <a:avLst/>
          </a:prstGeom>
          <a:noFill/>
          <a:ln/>
        </p:spPr>
        <p:txBody>
          <a:bodyPr wrap="square" lIns="0" tIns="0" rIns="0" bIns="0" rtlCol="0" anchor="ctr"/>
          <a:lstStyle/>
          <a:p>
            <a:pPr marL="0" indent="0" algn="ctr">
              <a:buNone/>
            </a:pPr>
            <a:r>
              <a:rPr lang="en-US" sz="5200" b="1" dirty="0">
                <a:solidFill>
                  <a:srgbClr val="14B8A6"/>
                </a:solidFill>
                <a:latin typeface="Georgia" pitchFamily="34" charset="0"/>
                <a:ea typeface="Georgia" pitchFamily="34" charset="-122"/>
                <a:cs typeface="Georgia" pitchFamily="34" charset="-120"/>
              </a:rPr>
              <a:t>100%</a:t>
            </a:r>
            <a:endParaRPr lang="en-US" sz="5200" dirty="0"/>
          </a:p>
        </p:txBody>
      </p:sp>
      <p:sp>
        <p:nvSpPr>
          <p:cNvPr id="24" name="Text 19"/>
          <p:cNvSpPr/>
          <p:nvPr/>
        </p:nvSpPr>
        <p:spPr>
          <a:xfrm>
            <a:off x="4782312" y="2999232"/>
            <a:ext cx="1810512" cy="1234440"/>
          </a:xfrm>
          <a:prstGeom prst="rect">
            <a:avLst/>
          </a:prstGeom>
          <a:noFill/>
          <a:ln/>
        </p:spPr>
        <p:txBody>
          <a:bodyPr wrap="square" lIns="0" tIns="0" rIns="0" bIns="0" rtlCol="0" anchor="t"/>
          <a:lstStyle/>
          <a:p>
            <a:pPr marL="0" indent="0" algn="l">
              <a:lnSpc>
                <a:spcPct val="138000"/>
              </a:lnSpc>
              <a:buNone/>
            </a:pPr>
            <a:r>
              <a:rPr lang="en-US" sz="1000" dirty="0">
                <a:solidFill>
                  <a:srgbClr val="4B5563"/>
                </a:solidFill>
                <a:latin typeface="Calibri" pitchFamily="34" charset="0"/>
                <a:ea typeface="Calibri" pitchFamily="34" charset="-122"/>
                <a:cs typeface="Calibri" pitchFamily="34" charset="-120"/>
              </a:rPr>
              <a:t>of decision context preserved across team transitions — governance becomes a system property</a:t>
            </a:r>
            <a:endParaRPr lang="en-US" sz="1000" dirty="0"/>
          </a:p>
        </p:txBody>
      </p:sp>
      <p:sp>
        <p:nvSpPr>
          <p:cNvPr id="25" name="Text 20"/>
          <p:cNvSpPr/>
          <p:nvPr/>
        </p:nvSpPr>
        <p:spPr>
          <a:xfrm>
            <a:off x="4782312" y="4315968"/>
            <a:ext cx="1810512" cy="475488"/>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Platform benchmarks</a:t>
            </a:r>
            <a:endParaRPr lang="en-US" sz="800" dirty="0"/>
          </a:p>
        </p:txBody>
      </p:sp>
      <p:sp>
        <p:nvSpPr>
          <p:cNvPr id="26" name="Shape 21"/>
          <p:cNvSpPr/>
          <p:nvPr/>
        </p:nvSpPr>
        <p:spPr>
          <a:xfrm>
            <a:off x="6848856" y="1508760"/>
            <a:ext cx="202996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7" name="Shape 22"/>
          <p:cNvSpPr/>
          <p:nvPr/>
        </p:nvSpPr>
        <p:spPr>
          <a:xfrm>
            <a:off x="6848856" y="1508760"/>
            <a:ext cx="2029968" cy="384048"/>
          </a:xfrm>
          <a:prstGeom prst="rect">
            <a:avLst/>
          </a:prstGeom>
          <a:solidFill>
            <a:srgbClr val="0B1120"/>
          </a:solidFill>
          <a:ln w="12700">
            <a:solidFill>
              <a:srgbClr val="0B1120"/>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6958584" y="1572768"/>
            <a:ext cx="256032" cy="256032"/>
          </a:xfrm>
          <a:prstGeom prst="rect">
            <a:avLst/>
          </a:prstGeom>
        </p:spPr>
      </p:pic>
      <p:sp>
        <p:nvSpPr>
          <p:cNvPr id="29" name="Text 23"/>
          <p:cNvSpPr/>
          <p:nvPr/>
        </p:nvSpPr>
        <p:spPr>
          <a:xfrm>
            <a:off x="7269480" y="1554480"/>
            <a:ext cx="1499616" cy="310896"/>
          </a:xfrm>
          <a:prstGeom prst="rect">
            <a:avLst/>
          </a:prstGeom>
          <a:noFill/>
          <a:ln/>
        </p:spPr>
        <p:txBody>
          <a:bodyPr wrap="square" lIns="0" tIns="0" rIns="0" bIns="0" rtlCol="0" anchor="ctr"/>
          <a:lstStyle/>
          <a:p>
            <a:pPr marL="0" indent="0" algn="l">
              <a:buNone/>
            </a:pPr>
            <a:r>
              <a:rPr lang="en-US" sz="900" b="1" kern="0" spc="200" dirty="0">
                <a:solidFill>
                  <a:srgbClr val="6366F1"/>
                </a:solidFill>
                <a:latin typeface="Calibri" pitchFamily="34" charset="0"/>
                <a:ea typeface="Calibri" pitchFamily="34" charset="-122"/>
                <a:cs typeface="Calibri" pitchFamily="34" charset="-120"/>
              </a:rPr>
              <a:t>SCALE</a:t>
            </a:r>
            <a:endParaRPr lang="en-US" sz="900" dirty="0"/>
          </a:p>
        </p:txBody>
      </p:sp>
      <p:sp>
        <p:nvSpPr>
          <p:cNvPr id="30" name="Text 24"/>
          <p:cNvSpPr/>
          <p:nvPr/>
        </p:nvSpPr>
        <p:spPr>
          <a:xfrm>
            <a:off x="6848856" y="1965960"/>
            <a:ext cx="2029968" cy="960120"/>
          </a:xfrm>
          <a:prstGeom prst="rect">
            <a:avLst/>
          </a:prstGeom>
          <a:noFill/>
          <a:ln/>
        </p:spPr>
        <p:txBody>
          <a:bodyPr wrap="square" lIns="0" tIns="0" rIns="0" bIns="0" rtlCol="0" anchor="ctr"/>
          <a:lstStyle/>
          <a:p>
            <a:pPr marL="0" indent="0" algn="ctr">
              <a:buNone/>
            </a:pPr>
            <a:r>
              <a:rPr lang="en-US" sz="5200" b="1" dirty="0">
                <a:solidFill>
                  <a:srgbClr val="6366F1"/>
                </a:solidFill>
                <a:latin typeface="Georgia" pitchFamily="34" charset="0"/>
                <a:ea typeface="Georgia" pitchFamily="34" charset="-122"/>
                <a:cs typeface="Georgia" pitchFamily="34" charset="-120"/>
              </a:rPr>
              <a:t>10x</a:t>
            </a:r>
            <a:endParaRPr lang="en-US" sz="5200" dirty="0"/>
          </a:p>
        </p:txBody>
      </p:sp>
      <p:sp>
        <p:nvSpPr>
          <p:cNvPr id="31" name="Text 25"/>
          <p:cNvSpPr/>
          <p:nvPr/>
        </p:nvSpPr>
        <p:spPr>
          <a:xfrm>
            <a:off x="6958584" y="2999232"/>
            <a:ext cx="1810512" cy="1234440"/>
          </a:xfrm>
          <a:prstGeom prst="rect">
            <a:avLst/>
          </a:prstGeom>
          <a:noFill/>
          <a:ln/>
        </p:spPr>
        <p:txBody>
          <a:bodyPr wrap="square" lIns="0" tIns="0" rIns="0" bIns="0" rtlCol="0" anchor="t"/>
          <a:lstStyle/>
          <a:p>
            <a:pPr marL="0" indent="0" algn="l">
              <a:lnSpc>
                <a:spcPct val="138000"/>
              </a:lnSpc>
              <a:buNone/>
            </a:pPr>
            <a:r>
              <a:rPr lang="en-US" sz="1000" dirty="0">
                <a:solidFill>
                  <a:srgbClr val="4B5563"/>
                </a:solidFill>
                <a:latin typeface="Calibri" pitchFamily="34" charset="0"/>
                <a:ea typeface="Calibri" pitchFamily="34" charset="-122"/>
                <a:cs typeface="Calibri" pitchFamily="34" charset="-120"/>
              </a:rPr>
              <a:t>knowledge reuse velocity — cross-entity, cross-team, across vendor cycles</a:t>
            </a:r>
            <a:endParaRPr lang="en-US" sz="1000" dirty="0"/>
          </a:p>
        </p:txBody>
      </p:sp>
      <p:sp>
        <p:nvSpPr>
          <p:cNvPr id="32" name="Text 26"/>
          <p:cNvSpPr/>
          <p:nvPr/>
        </p:nvSpPr>
        <p:spPr>
          <a:xfrm>
            <a:off x="6958584" y="4315968"/>
            <a:ext cx="1810512" cy="475488"/>
          </a:xfrm>
          <a:prstGeom prst="rect">
            <a:avLst/>
          </a:prstGeom>
          <a:noFill/>
          <a:ln/>
        </p:spPr>
        <p:txBody>
          <a:bodyPr wrap="square" lIns="0" tIns="0" rIns="0" bIns="0" rtlCol="0" anchor="ctr"/>
          <a:lstStyle/>
          <a:p>
            <a:pPr marL="0" indent="0" algn="l">
              <a:buNone/>
            </a:pPr>
            <a:r>
              <a:rPr lang="en-US" sz="800" i="1" dirty="0">
                <a:solidFill>
                  <a:srgbClr val="9CA3AF"/>
                </a:solidFill>
                <a:latin typeface="Calibri" pitchFamily="34" charset="0"/>
                <a:ea typeface="Calibri" pitchFamily="34" charset="-122"/>
                <a:cs typeface="Calibri" pitchFamily="34" charset="-120"/>
              </a:rPr>
              <a:t>Industry modelled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F59E0B"/>
                </a:solidFill>
                <a:latin typeface="Calibri" pitchFamily="34" charset="0"/>
                <a:ea typeface="Calibri" pitchFamily="34" charset="-122"/>
                <a:cs typeface="Calibri" pitchFamily="34" charset="-120"/>
              </a:rPr>
              <a:t>07 · TRANSFORMATION IN PRACTICE</a:t>
            </a:r>
            <a:endParaRPr lang="en-US" sz="950" dirty="0"/>
          </a:p>
        </p:txBody>
      </p:sp>
      <p:sp>
        <p:nvSpPr>
          <p:cNvPr id="4" name="Text 2"/>
          <p:cNvSpPr/>
          <p:nvPr/>
        </p:nvSpPr>
        <p:spPr>
          <a:xfrm>
            <a:off x="384048" y="896112"/>
            <a:ext cx="8412480" cy="530352"/>
          </a:xfrm>
          <a:prstGeom prst="rect">
            <a:avLst/>
          </a:prstGeom>
          <a:noFill/>
          <a:ln/>
        </p:spPr>
        <p:txBody>
          <a:bodyPr wrap="square" lIns="0" tIns="0" rIns="0" bIns="0" rtlCol="0" anchor="ctr"/>
          <a:lstStyle/>
          <a:p>
            <a:pPr marL="0" indent="0" algn="l">
              <a:buNone/>
            </a:pPr>
            <a:r>
              <a:rPr lang="en-US" sz="2400" b="1" dirty="0">
                <a:solidFill>
                  <a:srgbClr val="111827"/>
                </a:solidFill>
                <a:latin typeface="Georgia" pitchFamily="34" charset="0"/>
                <a:ea typeface="Georgia" pitchFamily="34" charset="-122"/>
                <a:cs typeface="Georgia" pitchFamily="34" charset="-120"/>
              </a:rPr>
              <a:t>Reality Check: What Actually Changes</a:t>
            </a:r>
            <a:endParaRPr lang="en-US" sz="2400" dirty="0"/>
          </a:p>
        </p:txBody>
      </p:sp>
      <p:sp>
        <p:nvSpPr>
          <p:cNvPr id="5" name="Shape 3"/>
          <p:cNvSpPr/>
          <p:nvPr/>
        </p:nvSpPr>
        <p:spPr>
          <a:xfrm>
            <a:off x="2487168" y="1517904"/>
            <a:ext cx="2907792" cy="402336"/>
          </a:xfrm>
          <a:prstGeom prst="rect">
            <a:avLst/>
          </a:prstGeom>
          <a:solidFill>
            <a:srgbClr val="EF4444"/>
          </a:solidFill>
          <a:ln w="12700">
            <a:solidFill>
              <a:srgbClr val="EF4444"/>
            </a:solidFill>
            <a:prstDash val="solid"/>
          </a:ln>
        </p:spPr>
        <p:txBody>
          <a:bodyPr/>
          <a:lstStyle/>
          <a:p>
            <a:endParaRPr lang="en-US"/>
          </a:p>
        </p:txBody>
      </p:sp>
      <p:sp>
        <p:nvSpPr>
          <p:cNvPr id="6" name="Text 4"/>
          <p:cNvSpPr/>
          <p:nvPr/>
        </p:nvSpPr>
        <p:spPr>
          <a:xfrm>
            <a:off x="2487168" y="1517904"/>
            <a:ext cx="2907792"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WITHOUT AI AGENTS</a:t>
            </a:r>
            <a:endParaRPr lang="en-US" sz="1000" dirty="0"/>
          </a:p>
        </p:txBody>
      </p:sp>
      <p:sp>
        <p:nvSpPr>
          <p:cNvPr id="7" name="Shape 5"/>
          <p:cNvSpPr/>
          <p:nvPr/>
        </p:nvSpPr>
        <p:spPr>
          <a:xfrm>
            <a:off x="5650992" y="1517904"/>
            <a:ext cx="3145536" cy="402336"/>
          </a:xfrm>
          <a:prstGeom prst="rect">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650992" y="1517904"/>
            <a:ext cx="31455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WITH AI AGENTS</a:t>
            </a:r>
            <a:endParaRPr lang="en-US" sz="1000" dirty="0"/>
          </a:p>
        </p:txBody>
      </p:sp>
      <p:sp>
        <p:nvSpPr>
          <p:cNvPr id="9" name="Shape 7"/>
          <p:cNvSpPr/>
          <p:nvPr/>
        </p:nvSpPr>
        <p:spPr>
          <a:xfrm>
            <a:off x="320040" y="1993392"/>
            <a:ext cx="8476488" cy="512064"/>
          </a:xfrm>
          <a:prstGeom prst="rect">
            <a:avLst/>
          </a:prstGeom>
          <a:solidFill>
            <a:srgbClr val="FFFFFF"/>
          </a:solidFill>
          <a:ln w="12700">
            <a:solidFill>
              <a:srgbClr val="E5E7EB"/>
            </a:solidFill>
            <a:prstDash val="solid"/>
          </a:ln>
        </p:spPr>
        <p:txBody>
          <a:bodyPr/>
          <a:lstStyle/>
          <a:p>
            <a:endParaRPr lang="en-US"/>
          </a:p>
        </p:txBody>
      </p:sp>
      <p:sp>
        <p:nvSpPr>
          <p:cNvPr id="10" name="Text 8"/>
          <p:cNvSpPr/>
          <p:nvPr/>
        </p:nvSpPr>
        <p:spPr>
          <a:xfrm>
            <a:off x="457200" y="1993392"/>
            <a:ext cx="1938528" cy="512064"/>
          </a:xfrm>
          <a:prstGeom prst="rect">
            <a:avLst/>
          </a:prstGeom>
          <a:noFill/>
          <a:ln/>
        </p:spPr>
        <p:txBody>
          <a:bodyPr wrap="square" rtlCol="0" anchor="ctr"/>
          <a:lstStyle/>
          <a:p>
            <a:pPr marL="0" indent="0" algn="l">
              <a:buNone/>
            </a:pPr>
            <a:r>
              <a:rPr lang="en-US" sz="1050" b="1" dirty="0">
                <a:solidFill>
                  <a:srgbClr val="111827"/>
                </a:solidFill>
                <a:latin typeface="Calibri" pitchFamily="34" charset="0"/>
                <a:ea typeface="Calibri" pitchFamily="34" charset="-122"/>
                <a:cs typeface="Calibri" pitchFamily="34" charset="-120"/>
              </a:rPr>
              <a:t>New data engineer onboarding</a:t>
            </a:r>
            <a:endParaRPr lang="en-US" sz="1050" dirty="0"/>
          </a:p>
        </p:txBody>
      </p:sp>
      <p:sp>
        <p:nvSpPr>
          <p:cNvPr id="11" name="Text 9"/>
          <p:cNvSpPr/>
          <p:nvPr/>
        </p:nvSpPr>
        <p:spPr>
          <a:xfrm>
            <a:off x="2487168" y="1993392"/>
            <a:ext cx="2907792" cy="512064"/>
          </a:xfrm>
          <a:prstGeom prst="rect">
            <a:avLst/>
          </a:prstGeom>
          <a:noFill/>
          <a:ln/>
        </p:spPr>
        <p:txBody>
          <a:bodyPr wrap="square" rtlCol="0" anchor="ctr"/>
          <a:lstStyle/>
          <a:p>
            <a:pPr marL="0" indent="0" algn="l">
              <a:buNone/>
            </a:pPr>
            <a:r>
              <a:rPr lang="en-US" sz="1000" dirty="0">
                <a:solidFill>
                  <a:srgbClr val="EF4444"/>
                </a:solidFill>
                <a:latin typeface="Calibri" pitchFamily="34" charset="0"/>
                <a:ea typeface="Calibri" pitchFamily="34" charset="-122"/>
                <a:cs typeface="Calibri" pitchFamily="34" charset="-120"/>
              </a:rPr>
              <a:t>4–9 months to full productivity</a:t>
            </a:r>
            <a:endParaRPr lang="en-US" sz="1000" dirty="0"/>
          </a:p>
        </p:txBody>
      </p:sp>
      <p:sp>
        <p:nvSpPr>
          <p:cNvPr id="12" name="Text 10"/>
          <p:cNvSpPr/>
          <p:nvPr/>
        </p:nvSpPr>
        <p:spPr>
          <a:xfrm>
            <a:off x="5650992" y="1993392"/>
            <a:ext cx="3145536" cy="512064"/>
          </a:xfrm>
          <a:prstGeom prst="rect">
            <a:avLst/>
          </a:prstGeom>
          <a:noFill/>
          <a:ln/>
        </p:spPr>
        <p:txBody>
          <a:bodyPr wrap="square" rtlCol="0" anchor="ctr"/>
          <a:lstStyle/>
          <a:p>
            <a:pPr marL="0" indent="0" algn="l">
              <a:buNone/>
            </a:pPr>
            <a:r>
              <a:rPr lang="en-US" sz="1000" dirty="0">
                <a:solidFill>
                  <a:srgbClr val="065F46"/>
                </a:solidFill>
                <a:latin typeface="Calibri" pitchFamily="34" charset="0"/>
                <a:ea typeface="Calibri" pitchFamily="34" charset="-122"/>
                <a:cs typeface="Calibri" pitchFamily="34" charset="-120"/>
              </a:rPr>
              <a:t>6–10 weeks — full decision context on day one</a:t>
            </a:r>
            <a:endParaRPr lang="en-US" sz="1000" dirty="0"/>
          </a:p>
        </p:txBody>
      </p:sp>
      <p:sp>
        <p:nvSpPr>
          <p:cNvPr id="13" name="Shape 11"/>
          <p:cNvSpPr/>
          <p:nvPr/>
        </p:nvSpPr>
        <p:spPr>
          <a:xfrm>
            <a:off x="320040" y="2560320"/>
            <a:ext cx="8476488" cy="512064"/>
          </a:xfrm>
          <a:prstGeom prst="rect">
            <a:avLst/>
          </a:prstGeom>
          <a:solidFill>
            <a:srgbClr val="F1F5F9"/>
          </a:solidFill>
          <a:ln w="12700">
            <a:solidFill>
              <a:srgbClr val="E5E7EB"/>
            </a:solidFill>
            <a:prstDash val="solid"/>
          </a:ln>
        </p:spPr>
        <p:txBody>
          <a:bodyPr/>
          <a:lstStyle/>
          <a:p>
            <a:endParaRPr lang="en-US"/>
          </a:p>
        </p:txBody>
      </p:sp>
      <p:sp>
        <p:nvSpPr>
          <p:cNvPr id="14" name="Text 12"/>
          <p:cNvSpPr/>
          <p:nvPr/>
        </p:nvSpPr>
        <p:spPr>
          <a:xfrm>
            <a:off x="457200" y="2560320"/>
            <a:ext cx="1938528" cy="512064"/>
          </a:xfrm>
          <a:prstGeom prst="rect">
            <a:avLst/>
          </a:prstGeom>
          <a:noFill/>
          <a:ln/>
        </p:spPr>
        <p:txBody>
          <a:bodyPr wrap="square" rtlCol="0" anchor="ctr"/>
          <a:lstStyle/>
          <a:p>
            <a:pPr marL="0" indent="0" algn="l">
              <a:buNone/>
            </a:pPr>
            <a:r>
              <a:rPr lang="en-US" sz="1050" b="1" dirty="0">
                <a:solidFill>
                  <a:srgbClr val="111827"/>
                </a:solidFill>
                <a:latin typeface="Calibri" pitchFamily="34" charset="0"/>
                <a:ea typeface="Calibri" pitchFamily="34" charset="-122"/>
                <a:cs typeface="Calibri" pitchFamily="34" charset="-120"/>
              </a:rPr>
              <a:t>Vendor / team transition</a:t>
            </a:r>
            <a:endParaRPr lang="en-US" sz="1050" dirty="0"/>
          </a:p>
        </p:txBody>
      </p:sp>
      <p:sp>
        <p:nvSpPr>
          <p:cNvPr id="15" name="Text 13"/>
          <p:cNvSpPr/>
          <p:nvPr/>
        </p:nvSpPr>
        <p:spPr>
          <a:xfrm>
            <a:off x="2487168" y="2560320"/>
            <a:ext cx="2907792" cy="512064"/>
          </a:xfrm>
          <a:prstGeom prst="rect">
            <a:avLst/>
          </a:prstGeom>
          <a:noFill/>
          <a:ln/>
        </p:spPr>
        <p:txBody>
          <a:bodyPr wrap="square" rtlCol="0" anchor="ctr"/>
          <a:lstStyle/>
          <a:p>
            <a:pPr marL="0" indent="0" algn="l">
              <a:buNone/>
            </a:pPr>
            <a:r>
              <a:rPr lang="en-US" sz="1000" dirty="0">
                <a:solidFill>
                  <a:srgbClr val="EF4444"/>
                </a:solidFill>
                <a:latin typeface="Calibri" pitchFamily="34" charset="0"/>
                <a:ea typeface="Calibri" pitchFamily="34" charset="-122"/>
                <a:cs typeface="Calibri" pitchFamily="34" charset="-120"/>
              </a:rPr>
              <a:t>+30% cost overrun, +41% timeline (Gartner 2025)</a:t>
            </a:r>
            <a:endParaRPr lang="en-US" sz="1000" dirty="0"/>
          </a:p>
        </p:txBody>
      </p:sp>
      <p:sp>
        <p:nvSpPr>
          <p:cNvPr id="16" name="Text 14"/>
          <p:cNvSpPr/>
          <p:nvPr/>
        </p:nvSpPr>
        <p:spPr>
          <a:xfrm>
            <a:off x="5650992" y="2560320"/>
            <a:ext cx="3145536" cy="512064"/>
          </a:xfrm>
          <a:prstGeom prst="rect">
            <a:avLst/>
          </a:prstGeom>
          <a:noFill/>
          <a:ln/>
        </p:spPr>
        <p:txBody>
          <a:bodyPr wrap="square" rtlCol="0" anchor="ctr"/>
          <a:lstStyle/>
          <a:p>
            <a:pPr marL="0" indent="0" algn="l">
              <a:buNone/>
            </a:pPr>
            <a:r>
              <a:rPr lang="en-US" sz="1000" dirty="0">
                <a:solidFill>
                  <a:srgbClr val="065F46"/>
                </a:solidFill>
                <a:latin typeface="Calibri" pitchFamily="34" charset="0"/>
                <a:ea typeface="Calibri" pitchFamily="34" charset="-122"/>
                <a:cs typeface="Calibri" pitchFamily="34" charset="-120"/>
              </a:rPr>
              <a:t>Knowledge travels with the product, not the team</a:t>
            </a:r>
            <a:endParaRPr lang="en-US" sz="1000" dirty="0"/>
          </a:p>
        </p:txBody>
      </p:sp>
      <p:sp>
        <p:nvSpPr>
          <p:cNvPr id="17" name="Shape 15"/>
          <p:cNvSpPr/>
          <p:nvPr/>
        </p:nvSpPr>
        <p:spPr>
          <a:xfrm>
            <a:off x="320040" y="3127248"/>
            <a:ext cx="8476488" cy="512064"/>
          </a:xfrm>
          <a:prstGeom prst="rect">
            <a:avLst/>
          </a:prstGeom>
          <a:solidFill>
            <a:srgbClr val="FFFFFF"/>
          </a:solidFill>
          <a:ln w="12700">
            <a:solidFill>
              <a:srgbClr val="E5E7EB"/>
            </a:solidFill>
            <a:prstDash val="solid"/>
          </a:ln>
        </p:spPr>
        <p:txBody>
          <a:bodyPr/>
          <a:lstStyle/>
          <a:p>
            <a:endParaRPr lang="en-US"/>
          </a:p>
        </p:txBody>
      </p:sp>
      <p:sp>
        <p:nvSpPr>
          <p:cNvPr id="18" name="Text 16"/>
          <p:cNvSpPr/>
          <p:nvPr/>
        </p:nvSpPr>
        <p:spPr>
          <a:xfrm>
            <a:off x="457200" y="3127248"/>
            <a:ext cx="1938528" cy="512064"/>
          </a:xfrm>
          <a:prstGeom prst="rect">
            <a:avLst/>
          </a:prstGeom>
          <a:noFill/>
          <a:ln/>
        </p:spPr>
        <p:txBody>
          <a:bodyPr wrap="square" rtlCol="0" anchor="ctr"/>
          <a:lstStyle/>
          <a:p>
            <a:pPr marL="0" indent="0" algn="l">
              <a:buNone/>
            </a:pPr>
            <a:r>
              <a:rPr lang="en-US" sz="1050" b="1" dirty="0">
                <a:solidFill>
                  <a:srgbClr val="111827"/>
                </a:solidFill>
                <a:latin typeface="Calibri" pitchFamily="34" charset="0"/>
                <a:ea typeface="Calibri" pitchFamily="34" charset="-122"/>
                <a:cs typeface="Calibri" pitchFamily="34" charset="-120"/>
              </a:rPr>
              <a:t>2 AM production incident</a:t>
            </a:r>
            <a:endParaRPr lang="en-US" sz="1050" dirty="0"/>
          </a:p>
        </p:txBody>
      </p:sp>
      <p:sp>
        <p:nvSpPr>
          <p:cNvPr id="19" name="Text 17"/>
          <p:cNvSpPr/>
          <p:nvPr/>
        </p:nvSpPr>
        <p:spPr>
          <a:xfrm>
            <a:off x="2487168" y="3127248"/>
            <a:ext cx="2907792" cy="512064"/>
          </a:xfrm>
          <a:prstGeom prst="rect">
            <a:avLst/>
          </a:prstGeom>
          <a:noFill/>
          <a:ln/>
        </p:spPr>
        <p:txBody>
          <a:bodyPr wrap="square" rtlCol="0" anchor="ctr"/>
          <a:lstStyle/>
          <a:p>
            <a:pPr marL="0" indent="0" algn="l">
              <a:buNone/>
            </a:pPr>
            <a:r>
              <a:rPr lang="en-US" sz="1000" dirty="0">
                <a:solidFill>
                  <a:srgbClr val="EF4444"/>
                </a:solidFill>
                <a:latin typeface="Calibri" pitchFamily="34" charset="0"/>
                <a:ea typeface="Calibri" pitchFamily="34" charset="-122"/>
                <a:cs typeface="Calibri" pitchFamily="34" charset="-120"/>
              </a:rPr>
              <a:t>Hours reverse-engineering undocumented logic</a:t>
            </a:r>
            <a:endParaRPr lang="en-US" sz="1000" dirty="0"/>
          </a:p>
        </p:txBody>
      </p:sp>
      <p:sp>
        <p:nvSpPr>
          <p:cNvPr id="20" name="Text 18"/>
          <p:cNvSpPr/>
          <p:nvPr/>
        </p:nvSpPr>
        <p:spPr>
          <a:xfrm>
            <a:off x="5650992" y="3127248"/>
            <a:ext cx="3145536" cy="512064"/>
          </a:xfrm>
          <a:prstGeom prst="rect">
            <a:avLst/>
          </a:prstGeom>
          <a:noFill/>
          <a:ln/>
        </p:spPr>
        <p:txBody>
          <a:bodyPr wrap="square" rtlCol="0" anchor="ctr"/>
          <a:lstStyle/>
          <a:p>
            <a:pPr marL="0" indent="0" algn="l">
              <a:buNone/>
            </a:pPr>
            <a:r>
              <a:rPr lang="en-US" sz="1000" dirty="0">
                <a:solidFill>
                  <a:srgbClr val="065F46"/>
                </a:solidFill>
                <a:latin typeface="Calibri" pitchFamily="34" charset="0"/>
                <a:ea typeface="Calibri" pitchFamily="34" charset="-122"/>
                <a:cs typeface="Calibri" pitchFamily="34" charset="-120"/>
              </a:rPr>
              <a:t>Minutes — agent surfaces context immediately</a:t>
            </a:r>
            <a:endParaRPr lang="en-US" sz="1000" dirty="0"/>
          </a:p>
        </p:txBody>
      </p:sp>
      <p:sp>
        <p:nvSpPr>
          <p:cNvPr id="21" name="Shape 19"/>
          <p:cNvSpPr/>
          <p:nvPr/>
        </p:nvSpPr>
        <p:spPr>
          <a:xfrm>
            <a:off x="320040" y="3694176"/>
            <a:ext cx="8476488" cy="512064"/>
          </a:xfrm>
          <a:prstGeom prst="rect">
            <a:avLst/>
          </a:prstGeom>
          <a:solidFill>
            <a:srgbClr val="F1F5F9"/>
          </a:solidFill>
          <a:ln w="12700">
            <a:solidFill>
              <a:srgbClr val="E5E7EB"/>
            </a:solidFill>
            <a:prstDash val="solid"/>
          </a:ln>
        </p:spPr>
        <p:txBody>
          <a:bodyPr/>
          <a:lstStyle/>
          <a:p>
            <a:endParaRPr lang="en-US"/>
          </a:p>
        </p:txBody>
      </p:sp>
      <p:sp>
        <p:nvSpPr>
          <p:cNvPr id="22" name="Text 20"/>
          <p:cNvSpPr/>
          <p:nvPr/>
        </p:nvSpPr>
        <p:spPr>
          <a:xfrm>
            <a:off x="457200" y="3694176"/>
            <a:ext cx="1938528" cy="512064"/>
          </a:xfrm>
          <a:prstGeom prst="rect">
            <a:avLst/>
          </a:prstGeom>
          <a:noFill/>
          <a:ln/>
        </p:spPr>
        <p:txBody>
          <a:bodyPr wrap="square" rtlCol="0" anchor="ctr"/>
          <a:lstStyle/>
          <a:p>
            <a:pPr marL="0" indent="0" algn="l">
              <a:buNone/>
            </a:pPr>
            <a:r>
              <a:rPr lang="en-US" sz="1050" b="1" dirty="0">
                <a:solidFill>
                  <a:srgbClr val="111827"/>
                </a:solidFill>
                <a:latin typeface="Calibri" pitchFamily="34" charset="0"/>
                <a:ea typeface="Calibri" pitchFamily="34" charset="-122"/>
                <a:cs typeface="Calibri" pitchFamily="34" charset="-120"/>
              </a:rPr>
              <a:t>Regulatory AI model audit</a:t>
            </a:r>
            <a:endParaRPr lang="en-US" sz="1050" dirty="0"/>
          </a:p>
        </p:txBody>
      </p:sp>
      <p:sp>
        <p:nvSpPr>
          <p:cNvPr id="23" name="Text 21"/>
          <p:cNvSpPr/>
          <p:nvPr/>
        </p:nvSpPr>
        <p:spPr>
          <a:xfrm>
            <a:off x="2487168" y="3694176"/>
            <a:ext cx="2907792" cy="512064"/>
          </a:xfrm>
          <a:prstGeom prst="rect">
            <a:avLst/>
          </a:prstGeom>
          <a:noFill/>
          <a:ln/>
        </p:spPr>
        <p:txBody>
          <a:bodyPr wrap="square" rtlCol="0" anchor="ctr"/>
          <a:lstStyle/>
          <a:p>
            <a:pPr marL="0" indent="0" algn="l">
              <a:buNone/>
            </a:pPr>
            <a:r>
              <a:rPr lang="en-US" sz="1000" dirty="0">
                <a:solidFill>
                  <a:srgbClr val="EF4444"/>
                </a:solidFill>
                <a:latin typeface="Calibri" pitchFamily="34" charset="0"/>
                <a:ea typeface="Calibri" pitchFamily="34" charset="-122"/>
                <a:cs typeface="Calibri" pitchFamily="34" charset="-120"/>
              </a:rPr>
              <a:t>Weeks of manual evidence compilation</a:t>
            </a:r>
            <a:endParaRPr lang="en-US" sz="1000" dirty="0"/>
          </a:p>
        </p:txBody>
      </p:sp>
      <p:sp>
        <p:nvSpPr>
          <p:cNvPr id="24" name="Text 22"/>
          <p:cNvSpPr/>
          <p:nvPr/>
        </p:nvSpPr>
        <p:spPr>
          <a:xfrm>
            <a:off x="5650992" y="3694176"/>
            <a:ext cx="3145536" cy="512064"/>
          </a:xfrm>
          <a:prstGeom prst="rect">
            <a:avLst/>
          </a:prstGeom>
          <a:noFill/>
          <a:ln/>
        </p:spPr>
        <p:txBody>
          <a:bodyPr wrap="square" rtlCol="0" anchor="ctr"/>
          <a:lstStyle/>
          <a:p>
            <a:pPr marL="0" indent="0" algn="l">
              <a:buNone/>
            </a:pPr>
            <a:r>
              <a:rPr lang="en-US" sz="1000" dirty="0">
                <a:solidFill>
                  <a:srgbClr val="065F46"/>
                </a:solidFill>
                <a:latin typeface="Calibri" pitchFamily="34" charset="0"/>
                <a:ea typeface="Calibri" pitchFamily="34" charset="-122"/>
                <a:cs typeface="Calibri" pitchFamily="34" charset="-120"/>
              </a:rPr>
              <a:t>Self-generating audit trail, hours not weeks</a:t>
            </a:r>
            <a:endParaRPr lang="en-US" sz="1000" dirty="0"/>
          </a:p>
        </p:txBody>
      </p:sp>
      <p:sp>
        <p:nvSpPr>
          <p:cNvPr id="25" name="Shape 23"/>
          <p:cNvSpPr/>
          <p:nvPr/>
        </p:nvSpPr>
        <p:spPr>
          <a:xfrm>
            <a:off x="320040" y="4261104"/>
            <a:ext cx="8476488" cy="512064"/>
          </a:xfrm>
          <a:prstGeom prst="rect">
            <a:avLst/>
          </a:prstGeom>
          <a:solidFill>
            <a:srgbClr val="FFFFFF"/>
          </a:solidFill>
          <a:ln w="12700">
            <a:solidFill>
              <a:srgbClr val="E5E7EB"/>
            </a:solidFill>
            <a:prstDash val="solid"/>
          </a:ln>
        </p:spPr>
        <p:txBody>
          <a:bodyPr/>
          <a:lstStyle/>
          <a:p>
            <a:endParaRPr lang="en-US"/>
          </a:p>
        </p:txBody>
      </p:sp>
      <p:sp>
        <p:nvSpPr>
          <p:cNvPr id="26" name="Text 24"/>
          <p:cNvSpPr/>
          <p:nvPr/>
        </p:nvSpPr>
        <p:spPr>
          <a:xfrm>
            <a:off x="457200" y="4261104"/>
            <a:ext cx="1938528" cy="512064"/>
          </a:xfrm>
          <a:prstGeom prst="rect">
            <a:avLst/>
          </a:prstGeom>
          <a:noFill/>
          <a:ln/>
        </p:spPr>
        <p:txBody>
          <a:bodyPr wrap="square" rtlCol="0" anchor="ctr"/>
          <a:lstStyle/>
          <a:p>
            <a:pPr marL="0" indent="0" algn="l">
              <a:buNone/>
            </a:pPr>
            <a:r>
              <a:rPr lang="en-US" sz="1050" b="1" dirty="0">
                <a:solidFill>
                  <a:srgbClr val="111827"/>
                </a:solidFill>
                <a:latin typeface="Calibri" pitchFamily="34" charset="0"/>
                <a:ea typeface="Calibri" pitchFamily="34" charset="-122"/>
                <a:cs typeface="Calibri" pitchFamily="34" charset="-120"/>
              </a:rPr>
              <a:t>Senior expert departure</a:t>
            </a:r>
            <a:endParaRPr lang="en-US" sz="1050" dirty="0"/>
          </a:p>
        </p:txBody>
      </p:sp>
      <p:sp>
        <p:nvSpPr>
          <p:cNvPr id="27" name="Text 25"/>
          <p:cNvSpPr/>
          <p:nvPr/>
        </p:nvSpPr>
        <p:spPr>
          <a:xfrm>
            <a:off x="2487168" y="4261104"/>
            <a:ext cx="2907792" cy="512064"/>
          </a:xfrm>
          <a:prstGeom prst="rect">
            <a:avLst/>
          </a:prstGeom>
          <a:noFill/>
          <a:ln/>
        </p:spPr>
        <p:txBody>
          <a:bodyPr wrap="square" rtlCol="0" anchor="ctr"/>
          <a:lstStyle/>
          <a:p>
            <a:pPr marL="0" indent="0" algn="l">
              <a:buNone/>
            </a:pPr>
            <a:r>
              <a:rPr lang="en-US" sz="1000" dirty="0">
                <a:solidFill>
                  <a:srgbClr val="EF4444"/>
                </a:solidFill>
                <a:latin typeface="Calibri" pitchFamily="34" charset="0"/>
                <a:ea typeface="Calibri" pitchFamily="34" charset="-122"/>
                <a:cs typeface="Calibri" pitchFamily="34" charset="-120"/>
              </a:rPr>
              <a:t>42% of role knowledge gone permanently</a:t>
            </a:r>
            <a:endParaRPr lang="en-US" sz="1000" dirty="0"/>
          </a:p>
        </p:txBody>
      </p:sp>
      <p:sp>
        <p:nvSpPr>
          <p:cNvPr id="28" name="Text 26"/>
          <p:cNvSpPr/>
          <p:nvPr/>
        </p:nvSpPr>
        <p:spPr>
          <a:xfrm>
            <a:off x="5650992" y="4261104"/>
            <a:ext cx="3145536" cy="512064"/>
          </a:xfrm>
          <a:prstGeom prst="rect">
            <a:avLst/>
          </a:prstGeom>
          <a:noFill/>
          <a:ln/>
        </p:spPr>
        <p:txBody>
          <a:bodyPr wrap="square" rtlCol="0" anchor="ctr"/>
          <a:lstStyle/>
          <a:p>
            <a:pPr marL="0" indent="0" algn="l">
              <a:buNone/>
            </a:pPr>
            <a:r>
              <a:rPr lang="en-US" sz="1000" dirty="0">
                <a:solidFill>
                  <a:srgbClr val="065F46"/>
                </a:solidFill>
                <a:latin typeface="Calibri" pitchFamily="34" charset="0"/>
                <a:ea typeface="Calibri" pitchFamily="34" charset="-122"/>
                <a:cs typeface="Calibri" pitchFamily="34" charset="-120"/>
              </a:rPr>
              <a:t>Full context preserved — transition is managed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347472" y="256032"/>
            <a:ext cx="8229600" cy="292608"/>
          </a:xfrm>
          <a:prstGeom prst="rect">
            <a:avLst/>
          </a:prstGeom>
          <a:noFill/>
          <a:ln/>
        </p:spPr>
        <p:txBody>
          <a:bodyPr wrap="square" lIns="0" tIns="0" rIns="0" bIns="0" rtlCol="0" anchor="ctr"/>
          <a:lstStyle/>
          <a:p>
            <a:pPr marL="0" indent="0" algn="l">
              <a:buNone/>
            </a:pPr>
            <a:r>
              <a:rPr lang="en-US" sz="900" b="1" kern="0" spc="300" dirty="0">
                <a:solidFill>
                  <a:srgbClr val="F59E0B"/>
                </a:solidFill>
                <a:latin typeface="Calibri" pitchFamily="34" charset="0"/>
                <a:ea typeface="Calibri" pitchFamily="34" charset="-122"/>
                <a:cs typeface="Calibri" pitchFamily="34" charset="-120"/>
              </a:rPr>
              <a:t>08 · THE GOVERNANCE PREREQUISITE</a:t>
            </a:r>
            <a:endParaRPr lang="en-US" sz="900" dirty="0"/>
          </a:p>
        </p:txBody>
      </p:sp>
      <p:sp>
        <p:nvSpPr>
          <p:cNvPr id="4" name="Text 2"/>
          <p:cNvSpPr/>
          <p:nvPr/>
        </p:nvSpPr>
        <p:spPr>
          <a:xfrm>
            <a:off x="347472" y="594360"/>
            <a:ext cx="7772400" cy="987552"/>
          </a:xfrm>
          <a:prstGeom prst="rect">
            <a:avLst/>
          </a:prstGeom>
          <a:noFill/>
          <a:ln/>
        </p:spPr>
        <p:txBody>
          <a:bodyPr wrap="square" lIns="0" tIns="0" rIns="0" bIns="0" rtlCol="0" anchor="ctr"/>
          <a:lstStyle/>
          <a:p>
            <a:pPr marL="0" indent="0" algn="l">
              <a:lnSpc>
                <a:spcPct val="115000"/>
              </a:lnSpc>
              <a:buNone/>
            </a:pPr>
            <a:r>
              <a:rPr lang="en-US" sz="2800" b="1" dirty="0">
                <a:solidFill>
                  <a:srgbClr val="FFFFFF"/>
                </a:solidFill>
                <a:latin typeface="Georgia" pitchFamily="34" charset="0"/>
                <a:ea typeface="Georgia" pitchFamily="34" charset="-122"/>
                <a:cs typeface="Georgia" pitchFamily="34" charset="-120"/>
              </a:rPr>
              <a:t>Agents Are Only As Trustworthy</a:t>
            </a:r>
            <a:endParaRPr lang="en-US" sz="2800" dirty="0"/>
          </a:p>
          <a:p>
            <a:pPr marL="0" indent="0" algn="l">
              <a:lnSpc>
                <a:spcPct val="115000"/>
              </a:lnSpc>
              <a:buNone/>
            </a:pPr>
            <a:r>
              <a:rPr lang="en-US" sz="2800" b="1" dirty="0">
                <a:solidFill>
                  <a:srgbClr val="FFFFFF"/>
                </a:solidFill>
                <a:latin typeface="Georgia" pitchFamily="34" charset="0"/>
                <a:ea typeface="Georgia" pitchFamily="34" charset="-122"/>
                <a:cs typeface="Georgia" pitchFamily="34" charset="-120"/>
              </a:rPr>
              <a:t>As the Foundation Beneath Them</a:t>
            </a:r>
            <a:endParaRPr lang="en-US" sz="2800" dirty="0"/>
          </a:p>
        </p:txBody>
      </p:sp>
      <p:sp>
        <p:nvSpPr>
          <p:cNvPr id="5" name="Shape 3"/>
          <p:cNvSpPr/>
          <p:nvPr/>
        </p:nvSpPr>
        <p:spPr>
          <a:xfrm>
            <a:off x="347472" y="1691640"/>
            <a:ext cx="8449056" cy="749808"/>
          </a:xfrm>
          <a:prstGeom prst="rect">
            <a:avLst/>
          </a:prstGeom>
          <a:solidFill>
            <a:srgbClr val="1F2937"/>
          </a:solidFill>
          <a:ln w="12700">
            <a:solidFill>
              <a:srgbClr val="F59E0B"/>
            </a:solidFill>
            <a:prstDash val="solid"/>
          </a:ln>
        </p:spPr>
        <p:txBody>
          <a:bodyPr/>
          <a:lstStyle/>
          <a:p>
            <a:endParaRPr lang="en-US"/>
          </a:p>
        </p:txBody>
      </p:sp>
      <p:sp>
        <p:nvSpPr>
          <p:cNvPr id="6" name="Text 4"/>
          <p:cNvSpPr/>
          <p:nvPr/>
        </p:nvSpPr>
        <p:spPr>
          <a:xfrm>
            <a:off x="530352" y="1737360"/>
            <a:ext cx="8138160" cy="658368"/>
          </a:xfrm>
          <a:prstGeom prst="rect">
            <a:avLst/>
          </a:prstGeom>
          <a:noFill/>
          <a:ln/>
        </p:spPr>
        <p:txBody>
          <a:bodyPr wrap="square" lIns="0" tIns="0" rIns="0" bIns="0" rtlCol="0" anchor="ctr"/>
          <a:lstStyle/>
          <a:p>
            <a:pPr marL="0" indent="0" algn="l">
              <a:buNone/>
            </a:pPr>
            <a:r>
              <a:rPr lang="en-US" sz="1200" i="1" dirty="0">
                <a:solidFill>
                  <a:srgbClr val="F59E0B"/>
                </a:solidFill>
                <a:latin typeface="Georgia" pitchFamily="34" charset="0"/>
                <a:ea typeface="Georgia" pitchFamily="34" charset="-122"/>
                <a:cs typeface="Georgia" pitchFamily="34" charset="-120"/>
              </a:rPr>
              <a:t>"The capabilities of agentic AI will be set more by the soundness of enterprise data architecture and governance, and less by the evolution of the models themselves."</a:t>
            </a:r>
            <a:endParaRPr lang="en-US" sz="1200" dirty="0"/>
          </a:p>
        </p:txBody>
      </p:sp>
      <p:sp>
        <p:nvSpPr>
          <p:cNvPr id="7" name="Text 5"/>
          <p:cNvSpPr/>
          <p:nvPr/>
        </p:nvSpPr>
        <p:spPr>
          <a:xfrm>
            <a:off x="6583680" y="2450592"/>
            <a:ext cx="2103120" cy="219456"/>
          </a:xfrm>
          <a:prstGeom prst="rect">
            <a:avLst/>
          </a:prstGeom>
          <a:noFill/>
          <a:ln/>
        </p:spPr>
        <p:txBody>
          <a:bodyPr wrap="square" lIns="0" tIns="0" rIns="0" bIns="0"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 MIT Technology Review, March 2026</a:t>
            </a:r>
            <a:endParaRPr lang="en-US" sz="850" dirty="0"/>
          </a:p>
        </p:txBody>
      </p:sp>
      <p:sp>
        <p:nvSpPr>
          <p:cNvPr id="8" name="Shape 6"/>
          <p:cNvSpPr/>
          <p:nvPr/>
        </p:nvSpPr>
        <p:spPr>
          <a:xfrm>
            <a:off x="347472" y="2816352"/>
            <a:ext cx="2633472" cy="1042416"/>
          </a:xfrm>
          <a:prstGeom prst="rect">
            <a:avLst/>
          </a:prstGeom>
          <a:solidFill>
            <a:srgbClr val="111827"/>
          </a:solidFill>
          <a:ln w="12700">
            <a:solidFill>
              <a:srgbClr val="1E293B"/>
            </a:solidFill>
            <a:prstDash val="solid"/>
          </a:ln>
        </p:spPr>
        <p:txBody>
          <a:bodyPr/>
          <a:lstStyle/>
          <a:p>
            <a:endParaRPr lang="en-US"/>
          </a:p>
        </p:txBody>
      </p:sp>
      <p:sp>
        <p:nvSpPr>
          <p:cNvPr id="9" name="Shape 7"/>
          <p:cNvSpPr/>
          <p:nvPr/>
        </p:nvSpPr>
        <p:spPr>
          <a:xfrm>
            <a:off x="347472" y="2816352"/>
            <a:ext cx="54864" cy="1042416"/>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493776" y="2871216"/>
            <a:ext cx="365760" cy="27432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493776" y="3026410"/>
            <a:ext cx="237744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Data Contracts with Intent</a:t>
            </a:r>
            <a:endParaRPr lang="en-US" sz="1100" dirty="0"/>
          </a:p>
        </p:txBody>
      </p:sp>
      <p:sp>
        <p:nvSpPr>
          <p:cNvPr id="12" name="Text 10"/>
          <p:cNvSpPr/>
          <p:nvPr/>
        </p:nvSpPr>
        <p:spPr>
          <a:xfrm>
            <a:off x="493776" y="3319018"/>
            <a:ext cx="2377440" cy="402336"/>
          </a:xfrm>
          <a:prstGeom prst="rect">
            <a:avLst/>
          </a:prstGeom>
          <a:noFill/>
          <a:ln/>
        </p:spPr>
        <p:txBody>
          <a:bodyPr wrap="square" lIns="0" tIns="0" rIns="0" bIns="0" rtlCol="0" anchor="t"/>
          <a:lstStyle/>
          <a:p>
            <a:pPr marL="0" indent="0" algn="l">
              <a:lnSpc>
                <a:spcPct val="125000"/>
              </a:lnSpc>
              <a:buNone/>
            </a:pPr>
            <a:r>
              <a:rPr lang="en-US" sz="900" dirty="0">
                <a:solidFill>
                  <a:srgbClr val="9CA3AF"/>
                </a:solidFill>
                <a:latin typeface="Calibri" pitchFamily="34" charset="0"/>
                <a:ea typeface="Calibri" pitchFamily="34" charset="-122"/>
                <a:cs typeface="Calibri" pitchFamily="34" charset="-120"/>
              </a:rPr>
              <a:t>Not just schema — capture the WHY behind every field, rule, and quality threshold. The portable, governed artifact that survives transitions.</a:t>
            </a:r>
            <a:endParaRPr lang="en-US" sz="900" dirty="0"/>
          </a:p>
        </p:txBody>
      </p:sp>
      <p:sp>
        <p:nvSpPr>
          <p:cNvPr id="13" name="Shape 11"/>
          <p:cNvSpPr/>
          <p:nvPr/>
        </p:nvSpPr>
        <p:spPr>
          <a:xfrm>
            <a:off x="3182112" y="2816352"/>
            <a:ext cx="2633472" cy="1042416"/>
          </a:xfrm>
          <a:prstGeom prst="rect">
            <a:avLst/>
          </a:prstGeom>
          <a:solidFill>
            <a:srgbClr val="111827"/>
          </a:solidFill>
          <a:ln w="12700">
            <a:solidFill>
              <a:srgbClr val="1E293B"/>
            </a:solidFill>
            <a:prstDash val="solid"/>
          </a:ln>
        </p:spPr>
        <p:txBody>
          <a:bodyPr/>
          <a:lstStyle/>
          <a:p>
            <a:endParaRPr lang="en-US"/>
          </a:p>
        </p:txBody>
      </p:sp>
      <p:sp>
        <p:nvSpPr>
          <p:cNvPr id="14" name="Shape 12"/>
          <p:cNvSpPr/>
          <p:nvPr/>
        </p:nvSpPr>
        <p:spPr>
          <a:xfrm>
            <a:off x="3182112" y="2816352"/>
            <a:ext cx="54864" cy="1042416"/>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3328416" y="2871216"/>
            <a:ext cx="365760" cy="27432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3328416" y="3026410"/>
            <a:ext cx="237744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Governed Business Glossary</a:t>
            </a:r>
            <a:endParaRPr lang="en-US" sz="1100" dirty="0"/>
          </a:p>
        </p:txBody>
      </p:sp>
      <p:sp>
        <p:nvSpPr>
          <p:cNvPr id="17" name="Text 15"/>
          <p:cNvSpPr/>
          <p:nvPr/>
        </p:nvSpPr>
        <p:spPr>
          <a:xfrm>
            <a:off x="3328416" y="3319018"/>
            <a:ext cx="2377440" cy="402336"/>
          </a:xfrm>
          <a:prstGeom prst="rect">
            <a:avLst/>
          </a:prstGeom>
          <a:noFill/>
          <a:ln/>
        </p:spPr>
        <p:txBody>
          <a:bodyPr wrap="square" lIns="0" tIns="0" rIns="0" bIns="0" rtlCol="0" anchor="t"/>
          <a:lstStyle/>
          <a:p>
            <a:pPr marL="0" indent="0" algn="l">
              <a:lnSpc>
                <a:spcPct val="125000"/>
              </a:lnSpc>
              <a:buNone/>
            </a:pPr>
            <a:r>
              <a:rPr lang="en-US" sz="900" dirty="0">
                <a:solidFill>
                  <a:srgbClr val="9CA3AF"/>
                </a:solidFill>
                <a:latin typeface="Calibri" pitchFamily="34" charset="0"/>
                <a:ea typeface="Calibri" pitchFamily="34" charset="-122"/>
                <a:cs typeface="Calibri" pitchFamily="34" charset="-120"/>
              </a:rPr>
              <a:t>Versioned definitions with business owner attribution. Semantic consistency across teams, entities, and time.</a:t>
            </a:r>
            <a:endParaRPr lang="en-US" sz="900" dirty="0"/>
          </a:p>
        </p:txBody>
      </p:sp>
      <p:sp>
        <p:nvSpPr>
          <p:cNvPr id="18" name="Shape 16"/>
          <p:cNvSpPr/>
          <p:nvPr/>
        </p:nvSpPr>
        <p:spPr>
          <a:xfrm>
            <a:off x="6016752" y="2816352"/>
            <a:ext cx="2633472" cy="1042416"/>
          </a:xfrm>
          <a:prstGeom prst="rect">
            <a:avLst/>
          </a:prstGeom>
          <a:solidFill>
            <a:srgbClr val="111827"/>
          </a:solidFill>
          <a:ln w="12700">
            <a:solidFill>
              <a:srgbClr val="1E293B"/>
            </a:solidFill>
            <a:prstDash val="solid"/>
          </a:ln>
        </p:spPr>
        <p:txBody>
          <a:bodyPr/>
          <a:lstStyle/>
          <a:p>
            <a:endParaRPr lang="en-US"/>
          </a:p>
        </p:txBody>
      </p:sp>
      <p:sp>
        <p:nvSpPr>
          <p:cNvPr id="19" name="Shape 17"/>
          <p:cNvSpPr/>
          <p:nvPr/>
        </p:nvSpPr>
        <p:spPr>
          <a:xfrm>
            <a:off x="6016752" y="2816352"/>
            <a:ext cx="54864" cy="1042416"/>
          </a:xfrm>
          <a:prstGeom prst="rect">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6163056" y="2871216"/>
            <a:ext cx="365760" cy="27432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6163056" y="3026410"/>
            <a:ext cx="237744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Annotated Data Lineage</a:t>
            </a:r>
            <a:endParaRPr lang="en-US" sz="1100" dirty="0"/>
          </a:p>
        </p:txBody>
      </p:sp>
      <p:sp>
        <p:nvSpPr>
          <p:cNvPr id="22" name="Text 20"/>
          <p:cNvSpPr/>
          <p:nvPr/>
        </p:nvSpPr>
        <p:spPr>
          <a:xfrm>
            <a:off x="6163056" y="3319018"/>
            <a:ext cx="2377440" cy="402336"/>
          </a:xfrm>
          <a:prstGeom prst="rect">
            <a:avLst/>
          </a:prstGeom>
          <a:noFill/>
          <a:ln/>
        </p:spPr>
        <p:txBody>
          <a:bodyPr wrap="square" lIns="0" tIns="0" rIns="0" bIns="0" rtlCol="0" anchor="t"/>
          <a:lstStyle/>
          <a:p>
            <a:pPr marL="0" indent="0" algn="l">
              <a:lnSpc>
                <a:spcPct val="125000"/>
              </a:lnSpc>
              <a:buNone/>
            </a:pPr>
            <a:r>
              <a:rPr lang="en-US" sz="900" dirty="0">
                <a:solidFill>
                  <a:srgbClr val="9CA3AF"/>
                </a:solidFill>
                <a:latin typeface="Calibri" pitchFamily="34" charset="0"/>
                <a:ea typeface="Calibri" pitchFamily="34" charset="-122"/>
                <a:cs typeface="Calibri" pitchFamily="34" charset="-120"/>
              </a:rPr>
              <a:t>End-to-end field-level lineage with transformation rationale. A mandatory vendor deliverable — not a nice-to-have.</a:t>
            </a:r>
            <a:endParaRPr lang="en-US" sz="900" dirty="0"/>
          </a:p>
        </p:txBody>
      </p:sp>
      <p:sp>
        <p:nvSpPr>
          <p:cNvPr id="23" name="Shape 21"/>
          <p:cNvSpPr/>
          <p:nvPr/>
        </p:nvSpPr>
        <p:spPr>
          <a:xfrm>
            <a:off x="1810512" y="3986784"/>
            <a:ext cx="2633472" cy="1042416"/>
          </a:xfrm>
          <a:prstGeom prst="rect">
            <a:avLst/>
          </a:prstGeom>
          <a:solidFill>
            <a:srgbClr val="111827"/>
          </a:solidFill>
          <a:ln w="12700">
            <a:solidFill>
              <a:srgbClr val="1E293B"/>
            </a:solidFill>
            <a:prstDash val="solid"/>
          </a:ln>
        </p:spPr>
        <p:txBody>
          <a:bodyPr/>
          <a:lstStyle/>
          <a:p>
            <a:endParaRPr lang="en-US"/>
          </a:p>
        </p:txBody>
      </p:sp>
      <p:sp>
        <p:nvSpPr>
          <p:cNvPr id="24" name="Shape 22"/>
          <p:cNvSpPr/>
          <p:nvPr/>
        </p:nvSpPr>
        <p:spPr>
          <a:xfrm>
            <a:off x="1810512" y="3986784"/>
            <a:ext cx="54864" cy="1042416"/>
          </a:xfrm>
          <a:prstGeom prst="rect">
            <a:avLst/>
          </a:prstGeom>
          <a:solidFill>
            <a:srgbClr val="F59E0B"/>
          </a:solidFill>
          <a:ln w="12700">
            <a:solidFill>
              <a:srgbClr val="F59E0B"/>
            </a:solidFill>
            <a:prstDash val="solid"/>
          </a:ln>
        </p:spPr>
        <p:txBody>
          <a:bodyPr/>
          <a:lstStyle/>
          <a:p>
            <a:endParaRPr lang="en-US"/>
          </a:p>
        </p:txBody>
      </p:sp>
      <p:sp>
        <p:nvSpPr>
          <p:cNvPr id="25" name="Text 23"/>
          <p:cNvSpPr/>
          <p:nvPr/>
        </p:nvSpPr>
        <p:spPr>
          <a:xfrm>
            <a:off x="1956816" y="4041648"/>
            <a:ext cx="365760" cy="27432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4</a:t>
            </a:r>
            <a:endParaRPr lang="en-US" sz="1000" dirty="0"/>
          </a:p>
        </p:txBody>
      </p:sp>
      <p:sp>
        <p:nvSpPr>
          <p:cNvPr id="26" name="Text 24"/>
          <p:cNvSpPr/>
          <p:nvPr/>
        </p:nvSpPr>
        <p:spPr>
          <a:xfrm>
            <a:off x="1956816" y="4253992"/>
            <a:ext cx="237744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Role-Based Stewardship</a:t>
            </a:r>
            <a:endParaRPr lang="en-US" sz="1100" dirty="0"/>
          </a:p>
        </p:txBody>
      </p:sp>
      <p:sp>
        <p:nvSpPr>
          <p:cNvPr id="27" name="Text 25"/>
          <p:cNvSpPr/>
          <p:nvPr/>
        </p:nvSpPr>
        <p:spPr>
          <a:xfrm>
            <a:off x="1956816" y="4527550"/>
            <a:ext cx="2377440" cy="402336"/>
          </a:xfrm>
          <a:prstGeom prst="rect">
            <a:avLst/>
          </a:prstGeom>
          <a:noFill/>
          <a:ln/>
        </p:spPr>
        <p:txBody>
          <a:bodyPr wrap="square" lIns="0" tIns="0" rIns="0" bIns="0" rtlCol="0" anchor="t"/>
          <a:lstStyle/>
          <a:p>
            <a:pPr marL="0" indent="0" algn="l">
              <a:lnSpc>
                <a:spcPct val="125000"/>
              </a:lnSpc>
              <a:buNone/>
            </a:pPr>
            <a:r>
              <a:rPr lang="en-US" sz="900" dirty="0">
                <a:solidFill>
                  <a:srgbClr val="9CA3AF"/>
                </a:solidFill>
                <a:latin typeface="Calibri" pitchFamily="34" charset="0"/>
                <a:ea typeface="Calibri" pitchFamily="34" charset="-122"/>
                <a:cs typeface="Calibri" pitchFamily="34" charset="-120"/>
              </a:rPr>
              <a:t>Accountability tied to products, not people. Roles and their decision records persist beyond any individual.</a:t>
            </a:r>
            <a:endParaRPr lang="en-US" sz="900" dirty="0"/>
          </a:p>
        </p:txBody>
      </p:sp>
      <p:sp>
        <p:nvSpPr>
          <p:cNvPr id="28" name="Shape 26"/>
          <p:cNvSpPr/>
          <p:nvPr/>
        </p:nvSpPr>
        <p:spPr>
          <a:xfrm>
            <a:off x="4645152" y="3986784"/>
            <a:ext cx="2633472" cy="1042416"/>
          </a:xfrm>
          <a:prstGeom prst="rect">
            <a:avLst/>
          </a:prstGeom>
          <a:solidFill>
            <a:srgbClr val="111827"/>
          </a:solidFill>
          <a:ln w="12700">
            <a:solidFill>
              <a:srgbClr val="1E293B"/>
            </a:solidFill>
            <a:prstDash val="solid"/>
          </a:ln>
        </p:spPr>
        <p:txBody>
          <a:bodyPr/>
          <a:lstStyle/>
          <a:p>
            <a:endParaRPr lang="en-US"/>
          </a:p>
        </p:txBody>
      </p:sp>
      <p:sp>
        <p:nvSpPr>
          <p:cNvPr id="29" name="Shape 27"/>
          <p:cNvSpPr/>
          <p:nvPr/>
        </p:nvSpPr>
        <p:spPr>
          <a:xfrm>
            <a:off x="4645152" y="3986784"/>
            <a:ext cx="54864" cy="1042416"/>
          </a:xfrm>
          <a:prstGeom prst="rect">
            <a:avLst/>
          </a:prstGeom>
          <a:solidFill>
            <a:srgbClr val="F59E0B"/>
          </a:solidFill>
          <a:ln w="12700">
            <a:solidFill>
              <a:srgbClr val="F59E0B"/>
            </a:solidFill>
            <a:prstDash val="solid"/>
          </a:ln>
        </p:spPr>
        <p:txBody>
          <a:bodyPr/>
          <a:lstStyle/>
          <a:p>
            <a:endParaRPr lang="en-US"/>
          </a:p>
        </p:txBody>
      </p:sp>
      <p:sp>
        <p:nvSpPr>
          <p:cNvPr id="30" name="Text 28"/>
          <p:cNvSpPr/>
          <p:nvPr/>
        </p:nvSpPr>
        <p:spPr>
          <a:xfrm>
            <a:off x="4791456" y="4041648"/>
            <a:ext cx="365760" cy="27432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5</a:t>
            </a:r>
            <a:endParaRPr lang="en-US" sz="1000" dirty="0"/>
          </a:p>
        </p:txBody>
      </p:sp>
      <p:sp>
        <p:nvSpPr>
          <p:cNvPr id="31" name="Text 29"/>
          <p:cNvSpPr/>
          <p:nvPr/>
        </p:nvSpPr>
        <p:spPr>
          <a:xfrm>
            <a:off x="4791456" y="4209542"/>
            <a:ext cx="237744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Knowledge Concentration Risk</a:t>
            </a:r>
            <a:endParaRPr lang="en-US" sz="1100" dirty="0"/>
          </a:p>
        </p:txBody>
      </p:sp>
      <p:sp>
        <p:nvSpPr>
          <p:cNvPr id="32" name="Text 30"/>
          <p:cNvSpPr/>
          <p:nvPr/>
        </p:nvSpPr>
        <p:spPr>
          <a:xfrm>
            <a:off x="4791456" y="4502150"/>
            <a:ext cx="2377440" cy="402336"/>
          </a:xfrm>
          <a:prstGeom prst="rect">
            <a:avLst/>
          </a:prstGeom>
          <a:noFill/>
          <a:ln/>
        </p:spPr>
        <p:txBody>
          <a:bodyPr wrap="square" lIns="0" tIns="0" rIns="0" bIns="0" rtlCol="0" anchor="t"/>
          <a:lstStyle/>
          <a:p>
            <a:pPr marL="0" indent="0" algn="l">
              <a:lnSpc>
                <a:spcPct val="125000"/>
              </a:lnSpc>
              <a:buNone/>
            </a:pPr>
            <a:r>
              <a:rPr lang="en-US" sz="900" dirty="0">
                <a:solidFill>
                  <a:srgbClr val="9CA3AF"/>
                </a:solidFill>
                <a:latin typeface="Calibri" pitchFamily="34" charset="0"/>
                <a:ea typeface="Calibri" pitchFamily="34" charset="-122"/>
                <a:cs typeface="Calibri" pitchFamily="34" charset="-120"/>
              </a:rPr>
              <a:t>A measurable, board-visible metric: which products have single points of knowledge failure? Quantify it before it materialises.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120"/>
          </a:solidFill>
          <a:ln w="12700">
            <a:solidFill>
              <a:srgbClr val="0B1120"/>
            </a:solidFill>
            <a:prstDash val="solid"/>
          </a:ln>
        </p:spPr>
        <p:txBody>
          <a:bodyPr/>
          <a:lstStyle/>
          <a:p>
            <a:endParaRPr lang="en-US"/>
          </a:p>
        </p:txBody>
      </p:sp>
      <p:sp>
        <p:nvSpPr>
          <p:cNvPr id="3" name="Text 1"/>
          <p:cNvSpPr/>
          <p:nvPr/>
        </p:nvSpPr>
        <p:spPr>
          <a:xfrm>
            <a:off x="384048" y="0"/>
            <a:ext cx="8229600" cy="822960"/>
          </a:xfrm>
          <a:prstGeom prst="rect">
            <a:avLst/>
          </a:prstGeom>
          <a:noFill/>
          <a:ln/>
        </p:spPr>
        <p:txBody>
          <a:bodyPr wrap="square" lIns="0" tIns="0" rIns="0" bIns="0" rtlCol="0" anchor="ctr"/>
          <a:lstStyle/>
          <a:p>
            <a:pPr marL="0" indent="0" algn="l">
              <a:buNone/>
            </a:pPr>
            <a:r>
              <a:rPr lang="en-US" sz="950" b="1" kern="0" spc="300" dirty="0">
                <a:solidFill>
                  <a:srgbClr val="818CF8"/>
                </a:solidFill>
                <a:latin typeface="Calibri" pitchFamily="34" charset="0"/>
                <a:ea typeface="Calibri" pitchFamily="34" charset="-122"/>
                <a:cs typeface="Calibri" pitchFamily="34" charset="-120"/>
              </a:rPr>
              <a:t>09 · ADOPTION ROADMAP</a:t>
            </a:r>
            <a:endParaRPr lang="en-US" sz="950" dirty="0"/>
          </a:p>
        </p:txBody>
      </p:sp>
      <p:sp>
        <p:nvSpPr>
          <p:cNvPr id="4" name="Text 2"/>
          <p:cNvSpPr/>
          <p:nvPr/>
        </p:nvSpPr>
        <p:spPr>
          <a:xfrm>
            <a:off x="384048" y="896112"/>
            <a:ext cx="8412480" cy="530352"/>
          </a:xfrm>
          <a:prstGeom prst="rect">
            <a:avLst/>
          </a:prstGeom>
          <a:noFill/>
          <a:ln/>
        </p:spPr>
        <p:txBody>
          <a:bodyPr wrap="square" lIns="0" tIns="0" rIns="0" bIns="0" rtlCol="0" anchor="ctr"/>
          <a:lstStyle/>
          <a:p>
            <a:pPr marL="0" indent="0" algn="l">
              <a:buNone/>
            </a:pPr>
            <a:r>
              <a:rPr lang="en-US" sz="2200" b="1" dirty="0">
                <a:solidFill>
                  <a:srgbClr val="111827"/>
                </a:solidFill>
                <a:latin typeface="Georgia" pitchFamily="34" charset="0"/>
                <a:ea typeface="Georgia" pitchFamily="34" charset="-122"/>
                <a:cs typeface="Georgia" pitchFamily="34" charset="-120"/>
              </a:rPr>
              <a:t>Three Horizons — Start Small, Scale with Evidence</a:t>
            </a:r>
            <a:endParaRPr lang="en-US" sz="2200" dirty="0"/>
          </a:p>
        </p:txBody>
      </p:sp>
      <p:sp>
        <p:nvSpPr>
          <p:cNvPr id="5" name="Shape 3"/>
          <p:cNvSpPr/>
          <p:nvPr/>
        </p:nvSpPr>
        <p:spPr>
          <a:xfrm>
            <a:off x="320040" y="1508760"/>
            <a:ext cx="276148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6" name="Shape 4"/>
          <p:cNvSpPr/>
          <p:nvPr/>
        </p:nvSpPr>
        <p:spPr>
          <a:xfrm>
            <a:off x="320040" y="1508760"/>
            <a:ext cx="2761488" cy="658368"/>
          </a:xfrm>
          <a:prstGeom prst="rect">
            <a:avLst/>
          </a:prstGeom>
          <a:solidFill>
            <a:srgbClr val="0B1120"/>
          </a:solidFill>
          <a:ln w="12700">
            <a:solidFill>
              <a:srgbClr val="0B112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48056" y="1609344"/>
            <a:ext cx="329184" cy="329184"/>
          </a:xfrm>
          <a:prstGeom prst="rect">
            <a:avLst/>
          </a:prstGeom>
        </p:spPr>
      </p:pic>
      <p:sp>
        <p:nvSpPr>
          <p:cNvPr id="8" name="Text 5"/>
          <p:cNvSpPr/>
          <p:nvPr/>
        </p:nvSpPr>
        <p:spPr>
          <a:xfrm>
            <a:off x="832104" y="1554480"/>
            <a:ext cx="640080" cy="274320"/>
          </a:xfrm>
          <a:prstGeom prst="rect">
            <a:avLst/>
          </a:prstGeom>
          <a:noFill/>
          <a:ln/>
        </p:spPr>
        <p:txBody>
          <a:bodyPr wrap="square" lIns="0" tIns="0" rIns="0" bIns="0" rtlCol="0" anchor="ctr"/>
          <a:lstStyle/>
          <a:p>
            <a:pPr marL="0" indent="0" algn="l">
              <a:buNone/>
            </a:pPr>
            <a:r>
              <a:rPr lang="en-US" sz="1200" b="1" dirty="0">
                <a:solidFill>
                  <a:srgbClr val="6366F1"/>
                </a:solidFill>
                <a:latin typeface="Calibri" pitchFamily="34" charset="0"/>
                <a:ea typeface="Calibri" pitchFamily="34" charset="-122"/>
                <a:cs typeface="Calibri" pitchFamily="34" charset="-120"/>
              </a:rPr>
              <a:t>H1</a:t>
            </a:r>
            <a:endParaRPr lang="en-US" sz="1200" dirty="0"/>
          </a:p>
        </p:txBody>
      </p:sp>
      <p:sp>
        <p:nvSpPr>
          <p:cNvPr id="9" name="Text 6"/>
          <p:cNvSpPr/>
          <p:nvPr/>
        </p:nvSpPr>
        <p:spPr>
          <a:xfrm>
            <a:off x="832104" y="1828800"/>
            <a:ext cx="2084832" cy="256032"/>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0–3 Months</a:t>
            </a:r>
            <a:endParaRPr lang="en-US" sz="900" dirty="0"/>
          </a:p>
        </p:txBody>
      </p:sp>
      <p:sp>
        <p:nvSpPr>
          <p:cNvPr id="10" name="Text 7"/>
          <p:cNvSpPr/>
          <p:nvPr/>
        </p:nvSpPr>
        <p:spPr>
          <a:xfrm>
            <a:off x="484632" y="2240280"/>
            <a:ext cx="2450592" cy="438912"/>
          </a:xfrm>
          <a:prstGeom prst="rect">
            <a:avLst/>
          </a:prstGeom>
          <a:noFill/>
          <a:ln/>
        </p:spPr>
        <p:txBody>
          <a:bodyPr wrap="square" lIns="0" tIns="0" rIns="0" bIns="0" rtlCol="0" anchor="ctr"/>
          <a:lstStyle/>
          <a:p>
            <a:pPr marL="0" indent="0" algn="l">
              <a:buNone/>
            </a:pPr>
            <a:r>
              <a:rPr lang="en-US" sz="1350" b="1" dirty="0">
                <a:solidFill>
                  <a:srgbClr val="6366F1"/>
                </a:solidFill>
                <a:latin typeface="Calibri" pitchFamily="34" charset="0"/>
                <a:ea typeface="Calibri" pitchFamily="34" charset="-122"/>
                <a:cs typeface="Calibri" pitchFamily="34" charset="-120"/>
              </a:rPr>
              <a:t>Govern the Foundation</a:t>
            </a:r>
            <a:endParaRPr lang="en-US" sz="1350" dirty="0"/>
          </a:p>
        </p:txBody>
      </p:sp>
      <p:sp>
        <p:nvSpPr>
          <p:cNvPr id="11" name="Text 8"/>
          <p:cNvSpPr/>
          <p:nvPr/>
        </p:nvSpPr>
        <p:spPr>
          <a:xfrm>
            <a:off x="484632" y="2724912"/>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Implement data contracts with business intent fields</a:t>
            </a:r>
            <a:endParaRPr lang="en-US" sz="1050" dirty="0"/>
          </a:p>
        </p:txBody>
      </p:sp>
      <p:sp>
        <p:nvSpPr>
          <p:cNvPr id="12" name="Text 9"/>
          <p:cNvSpPr/>
          <p:nvPr/>
        </p:nvSpPr>
        <p:spPr>
          <a:xfrm>
            <a:off x="484632" y="3236976"/>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Establish a governed, versioned business glossary</a:t>
            </a:r>
            <a:endParaRPr lang="en-US" sz="1050" dirty="0"/>
          </a:p>
        </p:txBody>
      </p:sp>
      <p:sp>
        <p:nvSpPr>
          <p:cNvPr id="13" name="Text 10"/>
          <p:cNvSpPr/>
          <p:nvPr/>
        </p:nvSpPr>
        <p:spPr>
          <a:xfrm>
            <a:off x="484632" y="3749040"/>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Commission a knowledge concentration risk audit</a:t>
            </a:r>
            <a:endParaRPr lang="en-US" sz="1050" dirty="0"/>
          </a:p>
        </p:txBody>
      </p:sp>
      <p:sp>
        <p:nvSpPr>
          <p:cNvPr id="14" name="Text 11"/>
          <p:cNvSpPr/>
          <p:nvPr/>
        </p:nvSpPr>
        <p:spPr>
          <a:xfrm>
            <a:off x="484632" y="4261104"/>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Mandate lineage as a vendor contract deliverable</a:t>
            </a:r>
            <a:endParaRPr lang="en-US" sz="1050" dirty="0"/>
          </a:p>
        </p:txBody>
      </p:sp>
      <p:sp>
        <p:nvSpPr>
          <p:cNvPr id="15" name="Shape 12"/>
          <p:cNvSpPr/>
          <p:nvPr/>
        </p:nvSpPr>
        <p:spPr>
          <a:xfrm>
            <a:off x="3246120" y="1508760"/>
            <a:ext cx="276148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16" name="Shape 13"/>
          <p:cNvSpPr/>
          <p:nvPr/>
        </p:nvSpPr>
        <p:spPr>
          <a:xfrm>
            <a:off x="3246120" y="1508760"/>
            <a:ext cx="2761488" cy="658368"/>
          </a:xfrm>
          <a:prstGeom prst="rect">
            <a:avLst/>
          </a:prstGeom>
          <a:solidFill>
            <a:srgbClr val="0B1120"/>
          </a:solidFill>
          <a:ln w="12700">
            <a:solidFill>
              <a:srgbClr val="0B112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3374136" y="1609344"/>
            <a:ext cx="329184" cy="329184"/>
          </a:xfrm>
          <a:prstGeom prst="rect">
            <a:avLst/>
          </a:prstGeom>
        </p:spPr>
      </p:pic>
      <p:sp>
        <p:nvSpPr>
          <p:cNvPr id="18" name="Text 14"/>
          <p:cNvSpPr/>
          <p:nvPr/>
        </p:nvSpPr>
        <p:spPr>
          <a:xfrm>
            <a:off x="3758184" y="1554480"/>
            <a:ext cx="640080" cy="27432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H2</a:t>
            </a:r>
            <a:endParaRPr lang="en-US" sz="1200" dirty="0"/>
          </a:p>
        </p:txBody>
      </p:sp>
      <p:sp>
        <p:nvSpPr>
          <p:cNvPr id="19" name="Text 15"/>
          <p:cNvSpPr/>
          <p:nvPr/>
        </p:nvSpPr>
        <p:spPr>
          <a:xfrm>
            <a:off x="3758184" y="1828800"/>
            <a:ext cx="2084832" cy="256032"/>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3–9 Months</a:t>
            </a:r>
            <a:endParaRPr lang="en-US" sz="900" dirty="0"/>
          </a:p>
        </p:txBody>
      </p:sp>
      <p:sp>
        <p:nvSpPr>
          <p:cNvPr id="20" name="Text 16"/>
          <p:cNvSpPr/>
          <p:nvPr/>
        </p:nvSpPr>
        <p:spPr>
          <a:xfrm>
            <a:off x="3410712" y="2240280"/>
            <a:ext cx="2450592" cy="438912"/>
          </a:xfrm>
          <a:prstGeom prst="rect">
            <a:avLst/>
          </a:prstGeom>
          <a:noFill/>
          <a:ln/>
        </p:spPr>
        <p:txBody>
          <a:bodyPr wrap="square" lIns="0" tIns="0" rIns="0" bIns="0" rtlCol="0" anchor="ctr"/>
          <a:lstStyle/>
          <a:p>
            <a:pPr marL="0" indent="0" algn="l">
              <a:buNone/>
            </a:pPr>
            <a:r>
              <a:rPr lang="en-US" sz="1350" b="1" dirty="0">
                <a:solidFill>
                  <a:srgbClr val="14B8A6"/>
                </a:solidFill>
                <a:latin typeface="Calibri" pitchFamily="34" charset="0"/>
                <a:ea typeface="Calibri" pitchFamily="34" charset="-122"/>
                <a:cs typeface="Calibri" pitchFamily="34" charset="-120"/>
              </a:rPr>
              <a:t>Deploy High-Priority Agents</a:t>
            </a:r>
            <a:endParaRPr lang="en-US" sz="1350" dirty="0"/>
          </a:p>
        </p:txBody>
      </p:sp>
      <p:sp>
        <p:nvSpPr>
          <p:cNvPr id="21" name="Text 17"/>
          <p:cNvSpPr/>
          <p:nvPr/>
        </p:nvSpPr>
        <p:spPr>
          <a:xfrm>
            <a:off x="3410712" y="2724912"/>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Engineering Agent on highest-risk data pipeline</a:t>
            </a:r>
            <a:endParaRPr lang="en-US" sz="1050" dirty="0"/>
          </a:p>
        </p:txBody>
      </p:sp>
      <p:sp>
        <p:nvSpPr>
          <p:cNvPr id="22" name="Text 18"/>
          <p:cNvSpPr/>
          <p:nvPr/>
        </p:nvSpPr>
        <p:spPr>
          <a:xfrm>
            <a:off x="3410712" y="3236976"/>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ML Agent on AI models in production decisions</a:t>
            </a:r>
            <a:endParaRPr lang="en-US" sz="1050" dirty="0"/>
          </a:p>
        </p:txBody>
      </p:sp>
      <p:sp>
        <p:nvSpPr>
          <p:cNvPr id="23" name="Text 19"/>
          <p:cNvSpPr/>
          <p:nvPr/>
        </p:nvSpPr>
        <p:spPr>
          <a:xfrm>
            <a:off x="3410712" y="3749040"/>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Governance Agent for contract compliance monitoring</a:t>
            </a:r>
            <a:endParaRPr lang="en-US" sz="1050" dirty="0"/>
          </a:p>
        </p:txBody>
      </p:sp>
      <p:sp>
        <p:nvSpPr>
          <p:cNvPr id="24" name="Text 20"/>
          <p:cNvSpPr/>
          <p:nvPr/>
        </p:nvSpPr>
        <p:spPr>
          <a:xfrm>
            <a:off x="3410712" y="4261104"/>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Measure and report onboarding time delta vs. baseline</a:t>
            </a:r>
            <a:endParaRPr lang="en-US" sz="1050" dirty="0"/>
          </a:p>
        </p:txBody>
      </p:sp>
      <p:sp>
        <p:nvSpPr>
          <p:cNvPr id="25" name="Shape 21"/>
          <p:cNvSpPr/>
          <p:nvPr/>
        </p:nvSpPr>
        <p:spPr>
          <a:xfrm>
            <a:off x="6172200" y="1508760"/>
            <a:ext cx="2761488" cy="3364992"/>
          </a:xfrm>
          <a:prstGeom prst="rect">
            <a:avLst/>
          </a:prstGeom>
          <a:solidFill>
            <a:srgbClr val="FFFFFF"/>
          </a:solidFill>
          <a:ln w="12700">
            <a:solidFill>
              <a:srgbClr val="E5E7EB"/>
            </a:solidFill>
            <a:prstDash val="solid"/>
          </a:ln>
          <a:effectLst>
            <a:outerShdw blurRad="127000" dist="38100" dir="8100000" algn="bl" rotWithShape="0">
              <a:srgbClr val="000000">
                <a:alpha val="18000"/>
              </a:srgbClr>
            </a:outerShdw>
          </a:effectLst>
        </p:spPr>
        <p:txBody>
          <a:bodyPr/>
          <a:lstStyle/>
          <a:p>
            <a:endParaRPr lang="en-US"/>
          </a:p>
        </p:txBody>
      </p:sp>
      <p:sp>
        <p:nvSpPr>
          <p:cNvPr id="26" name="Shape 22"/>
          <p:cNvSpPr/>
          <p:nvPr/>
        </p:nvSpPr>
        <p:spPr>
          <a:xfrm>
            <a:off x="6172200" y="1508760"/>
            <a:ext cx="2761488" cy="658368"/>
          </a:xfrm>
          <a:prstGeom prst="rect">
            <a:avLst/>
          </a:prstGeom>
          <a:solidFill>
            <a:srgbClr val="0B1120"/>
          </a:solidFill>
          <a:ln w="12700">
            <a:solidFill>
              <a:srgbClr val="0B1120"/>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6300216" y="1609344"/>
            <a:ext cx="329184" cy="329184"/>
          </a:xfrm>
          <a:prstGeom prst="rect">
            <a:avLst/>
          </a:prstGeom>
        </p:spPr>
      </p:pic>
      <p:sp>
        <p:nvSpPr>
          <p:cNvPr id="28" name="Text 23"/>
          <p:cNvSpPr/>
          <p:nvPr/>
        </p:nvSpPr>
        <p:spPr>
          <a:xfrm>
            <a:off x="6684264" y="1554480"/>
            <a:ext cx="640080" cy="274320"/>
          </a:xfrm>
          <a:prstGeom prst="rect">
            <a:avLst/>
          </a:prstGeom>
          <a:noFill/>
          <a:ln/>
        </p:spPr>
        <p:txBody>
          <a:bodyPr wrap="square" lIns="0" tIns="0" rIns="0" bIns="0" rtlCol="0" anchor="ctr"/>
          <a:lstStyle/>
          <a:p>
            <a:pPr marL="0" indent="0" algn="l">
              <a:buNone/>
            </a:pPr>
            <a:r>
              <a:rPr lang="en-US" sz="1200" b="1" dirty="0">
                <a:solidFill>
                  <a:srgbClr val="F59E0B"/>
                </a:solidFill>
                <a:latin typeface="Calibri" pitchFamily="34" charset="0"/>
                <a:ea typeface="Calibri" pitchFamily="34" charset="-122"/>
                <a:cs typeface="Calibri" pitchFamily="34" charset="-120"/>
              </a:rPr>
              <a:t>H3</a:t>
            </a:r>
            <a:endParaRPr lang="en-US" sz="1200" dirty="0"/>
          </a:p>
        </p:txBody>
      </p:sp>
      <p:sp>
        <p:nvSpPr>
          <p:cNvPr id="29" name="Text 24"/>
          <p:cNvSpPr/>
          <p:nvPr/>
        </p:nvSpPr>
        <p:spPr>
          <a:xfrm>
            <a:off x="6684264" y="1828800"/>
            <a:ext cx="2084832" cy="256032"/>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9–18 Months</a:t>
            </a:r>
            <a:endParaRPr lang="en-US" sz="900" dirty="0"/>
          </a:p>
        </p:txBody>
      </p:sp>
      <p:sp>
        <p:nvSpPr>
          <p:cNvPr id="30" name="Text 25"/>
          <p:cNvSpPr/>
          <p:nvPr/>
        </p:nvSpPr>
        <p:spPr>
          <a:xfrm>
            <a:off x="6336792" y="2240280"/>
            <a:ext cx="2450592" cy="438912"/>
          </a:xfrm>
          <a:prstGeom prst="rect">
            <a:avLst/>
          </a:prstGeom>
          <a:noFill/>
          <a:ln/>
        </p:spPr>
        <p:txBody>
          <a:bodyPr wrap="square" lIns="0" tIns="0" rIns="0" bIns="0" rtlCol="0" anchor="ctr"/>
          <a:lstStyle/>
          <a:p>
            <a:pPr marL="0" indent="0" algn="l">
              <a:buNone/>
            </a:pPr>
            <a:r>
              <a:rPr lang="en-US" sz="1350" b="1" dirty="0">
                <a:solidFill>
                  <a:srgbClr val="F59E0B"/>
                </a:solidFill>
                <a:latin typeface="Calibri" pitchFamily="34" charset="0"/>
                <a:ea typeface="Calibri" pitchFamily="34" charset="-122"/>
                <a:cs typeface="Calibri" pitchFamily="34" charset="-120"/>
              </a:rPr>
              <a:t>Scale Across the Lifecycle</a:t>
            </a:r>
            <a:endParaRPr lang="en-US" sz="1350" dirty="0"/>
          </a:p>
        </p:txBody>
      </p:sp>
      <p:sp>
        <p:nvSpPr>
          <p:cNvPr id="31" name="Text 26"/>
          <p:cNvSpPr/>
          <p:nvPr/>
        </p:nvSpPr>
        <p:spPr>
          <a:xfrm>
            <a:off x="6336792" y="2724912"/>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Expand agent coverage to all lifecycle phases</a:t>
            </a:r>
            <a:endParaRPr lang="en-US" sz="1050" dirty="0"/>
          </a:p>
        </p:txBody>
      </p:sp>
      <p:sp>
        <p:nvSpPr>
          <p:cNvPr id="32" name="Text 27"/>
          <p:cNvSpPr/>
          <p:nvPr/>
        </p:nvSpPr>
        <p:spPr>
          <a:xfrm>
            <a:off x="6336792" y="3236976"/>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Activate cross-entity context memory sharing</a:t>
            </a:r>
            <a:endParaRPr lang="en-US" sz="1050" dirty="0"/>
          </a:p>
        </p:txBody>
      </p:sp>
      <p:sp>
        <p:nvSpPr>
          <p:cNvPr id="33" name="Text 28"/>
          <p:cNvSpPr/>
          <p:nvPr/>
        </p:nvSpPr>
        <p:spPr>
          <a:xfrm>
            <a:off x="6336792" y="3749040"/>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Build knowledge risk reporting into governance dashboard</a:t>
            </a:r>
            <a:endParaRPr lang="en-US" sz="1050" dirty="0"/>
          </a:p>
        </p:txBody>
      </p:sp>
      <p:sp>
        <p:nvSpPr>
          <p:cNvPr id="34" name="Text 29"/>
          <p:cNvSpPr/>
          <p:nvPr/>
        </p:nvSpPr>
        <p:spPr>
          <a:xfrm>
            <a:off x="6336792" y="4261104"/>
            <a:ext cx="2450592" cy="457200"/>
          </a:xfrm>
          <a:prstGeom prst="rect">
            <a:avLst/>
          </a:prstGeom>
          <a:noFill/>
          <a:ln/>
        </p:spPr>
        <p:txBody>
          <a:bodyPr wrap="square" lIns="0" tIns="0" rIns="0" bIns="0" rtlCol="0" anchor="t"/>
          <a:lstStyle/>
          <a:p>
            <a:pPr marL="342900" indent="-342900" algn="l">
              <a:lnSpc>
                <a:spcPct val="120000"/>
              </a:lnSpc>
              <a:buSzPct val="100000"/>
              <a:buChar char="•"/>
            </a:pPr>
            <a:r>
              <a:rPr lang="en-US" sz="1050" dirty="0">
                <a:solidFill>
                  <a:srgbClr val="374151"/>
                </a:solidFill>
                <a:latin typeface="Calibri" pitchFamily="34" charset="0"/>
                <a:ea typeface="Calibri" pitchFamily="34" charset="-122"/>
                <a:cs typeface="Calibri" pitchFamily="34" charset="-120"/>
              </a:rPr>
              <a:t>Publish institutional knowledge as a boardroom KPI</a:t>
            </a:r>
            <a:endParaRPr lang="en-US" sz="1050" dirty="0"/>
          </a:p>
        </p:txBody>
      </p:sp>
      <p:sp>
        <p:nvSpPr>
          <p:cNvPr id="35" name="Shape 30"/>
          <p:cNvSpPr/>
          <p:nvPr/>
        </p:nvSpPr>
        <p:spPr>
          <a:xfrm>
            <a:off x="0" y="4773168"/>
            <a:ext cx="9144000" cy="365760"/>
          </a:xfrm>
          <a:prstGeom prst="rect">
            <a:avLst/>
          </a:prstGeom>
          <a:solidFill>
            <a:srgbClr val="1F2937"/>
          </a:solidFill>
          <a:ln w="12700">
            <a:solidFill>
              <a:srgbClr val="1F2937"/>
            </a:solidFill>
            <a:prstDash val="solid"/>
          </a:ln>
        </p:spPr>
        <p:txBody>
          <a:bodyPr/>
          <a:lstStyle/>
          <a:p>
            <a:endParaRPr lang="en-US"/>
          </a:p>
        </p:txBody>
      </p:sp>
      <p:sp>
        <p:nvSpPr>
          <p:cNvPr id="36" name="Text 31"/>
          <p:cNvSpPr/>
          <p:nvPr/>
        </p:nvSpPr>
        <p:spPr>
          <a:xfrm>
            <a:off x="457200" y="4773168"/>
            <a:ext cx="8229600" cy="365760"/>
          </a:xfrm>
          <a:prstGeom prst="rect">
            <a:avLst/>
          </a:prstGeom>
          <a:noFill/>
          <a:ln/>
        </p:spPr>
        <p:txBody>
          <a:bodyPr wrap="square" lIns="0" tIns="0" rIns="0" bIns="0" rtlCol="0" anchor="ctr"/>
          <a:lstStyle/>
          <a:p>
            <a:pPr marL="0" indent="0" algn="ctr">
              <a:buNone/>
            </a:pPr>
            <a:r>
              <a:rPr lang="en-US" sz="850" i="1" dirty="0">
                <a:solidFill>
                  <a:srgbClr val="9CA3AF"/>
                </a:solidFill>
                <a:latin typeface="Calibri" pitchFamily="34" charset="0"/>
                <a:ea typeface="Calibri" pitchFamily="34" charset="-122"/>
                <a:cs typeface="Calibri" pitchFamily="34" charset="-120"/>
              </a:rPr>
              <a:t>Deloitte 2025: 50% of orgs projected to pilot agentic AI by 2027, up from 25% in 2025. Organisations that build governance foundations now capture first-mover advantage.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1371600" y="2286000"/>
            <a:ext cx="5029200" cy="5029200"/>
          </a:xfrm>
          <a:prstGeom prst="ellipse">
            <a:avLst/>
          </a:prstGeom>
          <a:solidFill>
            <a:srgbClr val="6366F1">
              <a:alpha val="12000"/>
            </a:srgbClr>
          </a:solidFill>
          <a:ln w="12700">
            <a:solidFill>
              <a:srgbClr val="6366F1">
                <a:alpha val="12000"/>
              </a:srgbClr>
            </a:solidFill>
            <a:prstDash val="solid"/>
          </a:ln>
        </p:spPr>
        <p:txBody>
          <a:bodyPr/>
          <a:lstStyle/>
          <a:p>
            <a:endParaRPr lang="en-US"/>
          </a:p>
        </p:txBody>
      </p:sp>
      <p:sp>
        <p:nvSpPr>
          <p:cNvPr id="3" name="Shape 1"/>
          <p:cNvSpPr/>
          <p:nvPr/>
        </p:nvSpPr>
        <p:spPr>
          <a:xfrm>
            <a:off x="7498080" y="-1097280"/>
            <a:ext cx="3657600" cy="3657600"/>
          </a:xfrm>
          <a:prstGeom prst="ellipse">
            <a:avLst/>
          </a:prstGeom>
          <a:solidFill>
            <a:srgbClr val="14B8A6">
              <a:alpha val="12000"/>
            </a:srgbClr>
          </a:solidFill>
          <a:ln w="12700">
            <a:solidFill>
              <a:srgbClr val="14B8A6">
                <a:alpha val="12000"/>
              </a:srgbClr>
            </a:solidFill>
            <a:prstDash val="solid"/>
          </a:ln>
        </p:spPr>
        <p:txBody>
          <a:bodyPr/>
          <a:lstStyle/>
          <a:p>
            <a:endParaRPr lang="en-US"/>
          </a:p>
        </p:txBody>
      </p:sp>
      <p:sp>
        <p:nvSpPr>
          <p:cNvPr id="4" name="Shape 2"/>
          <p:cNvSpPr/>
          <p:nvPr/>
        </p:nvSpPr>
        <p:spPr>
          <a:xfrm>
            <a:off x="0" y="0"/>
            <a:ext cx="109728" cy="5143500"/>
          </a:xfrm>
          <a:prstGeom prst="rect">
            <a:avLst/>
          </a:prstGeom>
          <a:solidFill>
            <a:srgbClr val="6366F1"/>
          </a:solidFill>
          <a:ln w="12700">
            <a:solidFill>
              <a:srgbClr val="6366F1"/>
            </a:solidFill>
            <a:prstDash val="solid"/>
          </a:ln>
        </p:spPr>
        <p:txBody>
          <a:bodyPr/>
          <a:lstStyle/>
          <a:p>
            <a:endParaRPr lang="en-US"/>
          </a:p>
        </p:txBody>
      </p:sp>
      <p:sp>
        <p:nvSpPr>
          <p:cNvPr id="5" name="Text 3"/>
          <p:cNvSpPr/>
          <p:nvPr/>
        </p:nvSpPr>
        <p:spPr>
          <a:xfrm>
            <a:off x="347472" y="347472"/>
            <a:ext cx="8412480" cy="1572768"/>
          </a:xfrm>
          <a:prstGeom prst="rect">
            <a:avLst/>
          </a:prstGeom>
          <a:noFill/>
          <a:ln/>
        </p:spPr>
        <p:txBody>
          <a:bodyPr wrap="square" lIns="0" tIns="0" rIns="0" bIns="0" rtlCol="0" anchor="ctr"/>
          <a:lstStyle/>
          <a:p>
            <a:pPr marL="0" indent="0" algn="l">
              <a:lnSpc>
                <a:spcPct val="120000"/>
              </a:lnSpc>
              <a:buNone/>
            </a:pPr>
            <a:r>
              <a:rPr lang="en-US" sz="2400" b="1" dirty="0">
                <a:solidFill>
                  <a:srgbClr val="FFFFFF"/>
                </a:solidFill>
                <a:latin typeface="Georgia" pitchFamily="34" charset="0"/>
                <a:ea typeface="Georgia" pitchFamily="34" charset="-122"/>
                <a:cs typeface="Georgia" pitchFamily="34" charset="-120"/>
              </a:rPr>
              <a:t>The institutional knowledge that built</a:t>
            </a:r>
            <a:endParaRPr lang="en-US" sz="2400" dirty="0"/>
          </a:p>
          <a:p>
            <a:pPr marL="0" indent="0" algn="l">
              <a:lnSpc>
                <a:spcPct val="120000"/>
              </a:lnSpc>
              <a:buNone/>
            </a:pPr>
            <a:r>
              <a:rPr lang="en-US" sz="2400" b="1" dirty="0">
                <a:solidFill>
                  <a:srgbClr val="FFFFFF"/>
                </a:solidFill>
                <a:latin typeface="Georgia" pitchFamily="34" charset="0"/>
                <a:ea typeface="Georgia" pitchFamily="34" charset="-122"/>
                <a:cs typeface="Georgia" pitchFamily="34" charset="-120"/>
              </a:rPr>
              <a:t>your data products is your most valuable</a:t>
            </a:r>
            <a:endParaRPr lang="en-US" sz="2400" dirty="0"/>
          </a:p>
          <a:p>
            <a:pPr marL="0" indent="0" algn="l">
              <a:lnSpc>
                <a:spcPct val="120000"/>
              </a:lnSpc>
              <a:buNone/>
            </a:pPr>
            <a:r>
              <a:rPr lang="en-US" sz="2400" b="1" dirty="0">
                <a:solidFill>
                  <a:srgbClr val="FFFFFF"/>
                </a:solidFill>
                <a:latin typeface="Georgia" pitchFamily="34" charset="0"/>
                <a:ea typeface="Georgia" pitchFamily="34" charset="-122"/>
                <a:cs typeface="Georgia" pitchFamily="34" charset="-120"/>
              </a:rPr>
              <a:t>— and most fragile — organisational asset.</a:t>
            </a:r>
            <a:endParaRPr lang="en-US" sz="2400" dirty="0"/>
          </a:p>
        </p:txBody>
      </p:sp>
      <p:sp>
        <p:nvSpPr>
          <p:cNvPr id="6" name="Shape 4"/>
          <p:cNvSpPr/>
          <p:nvPr/>
        </p:nvSpPr>
        <p:spPr>
          <a:xfrm>
            <a:off x="347472" y="1993392"/>
            <a:ext cx="7772400" cy="36576"/>
          </a:xfrm>
          <a:prstGeom prst="rect">
            <a:avLst/>
          </a:prstGeom>
          <a:solidFill>
            <a:srgbClr val="1F2937"/>
          </a:solidFill>
          <a:ln w="12700">
            <a:solidFill>
              <a:srgbClr val="1F2937"/>
            </a:solidFill>
            <a:prstDash val="solid"/>
          </a:ln>
        </p:spPr>
        <p:txBody>
          <a:bodyPr/>
          <a:lstStyle/>
          <a:p>
            <a:endParaRPr lang="en-US"/>
          </a:p>
        </p:txBody>
      </p:sp>
      <p:sp>
        <p:nvSpPr>
          <p:cNvPr id="7" name="Text 5"/>
          <p:cNvSpPr/>
          <p:nvPr/>
        </p:nvSpPr>
        <p:spPr>
          <a:xfrm>
            <a:off x="347472" y="2084832"/>
            <a:ext cx="8412480" cy="1207008"/>
          </a:xfrm>
          <a:prstGeom prst="rect">
            <a:avLst/>
          </a:prstGeom>
          <a:noFill/>
          <a:ln/>
        </p:spPr>
        <p:txBody>
          <a:bodyPr wrap="square" lIns="0" tIns="0" rIns="0" bIns="0" rtlCol="0" anchor="t"/>
          <a:lstStyle/>
          <a:p>
            <a:pPr marL="0" indent="0" algn="l">
              <a:lnSpc>
                <a:spcPct val="150000"/>
              </a:lnSpc>
              <a:buNone/>
            </a:pPr>
            <a:r>
              <a:rPr lang="en-US" sz="1250" dirty="0">
                <a:solidFill>
                  <a:srgbClr val="9CA3AF"/>
                </a:solidFill>
                <a:latin typeface="Calibri" pitchFamily="34" charset="0"/>
                <a:ea typeface="Calibri" pitchFamily="34" charset="-122"/>
                <a:cs typeface="Calibri" pitchFamily="34" charset="-120"/>
              </a:rPr>
              <a:t>Right now, it leaves every time someone does. AI agents — built on a governed data foundation — are the first architecture capable of making that knowledge durable, persistent, and scalable. The question is not whether to act. The question is whether you act before or after the next departure, the next vendor transition, or the next incident where the person who would have known the answer left six months ago.</a:t>
            </a:r>
            <a:endParaRPr lang="en-US" sz="1250" dirty="0"/>
          </a:p>
        </p:txBody>
      </p:sp>
      <p:sp>
        <p:nvSpPr>
          <p:cNvPr id="8" name="Shape 6"/>
          <p:cNvSpPr/>
          <p:nvPr/>
        </p:nvSpPr>
        <p:spPr>
          <a:xfrm>
            <a:off x="347472" y="3456432"/>
            <a:ext cx="2706624" cy="1444752"/>
          </a:xfrm>
          <a:prstGeom prst="rect">
            <a:avLst/>
          </a:prstGeom>
          <a:solidFill>
            <a:srgbClr val="111827"/>
          </a:solidFill>
          <a:ln w="12700">
            <a:solidFill>
              <a:srgbClr val="1E293B"/>
            </a:solidFill>
            <a:prstDash val="solid"/>
          </a:ln>
        </p:spPr>
        <p:txBody>
          <a:bodyPr/>
          <a:lstStyle/>
          <a:p>
            <a:endParaRPr lang="en-US"/>
          </a:p>
        </p:txBody>
      </p:sp>
      <p:sp>
        <p:nvSpPr>
          <p:cNvPr id="9" name="Shape 7"/>
          <p:cNvSpPr/>
          <p:nvPr/>
        </p:nvSpPr>
        <p:spPr>
          <a:xfrm>
            <a:off x="347472" y="3456432"/>
            <a:ext cx="2706624" cy="54864"/>
          </a:xfrm>
          <a:prstGeom prst="rect">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347472" y="3547872"/>
            <a:ext cx="2706624" cy="658368"/>
          </a:xfrm>
          <a:prstGeom prst="rect">
            <a:avLst/>
          </a:prstGeom>
          <a:noFill/>
          <a:ln/>
        </p:spPr>
        <p:txBody>
          <a:bodyPr wrap="square" lIns="0" tIns="0" rIns="0" bIns="0" rtlCol="0" anchor="ctr"/>
          <a:lstStyle/>
          <a:p>
            <a:pPr marL="0" indent="0" algn="ctr">
              <a:buNone/>
            </a:pPr>
            <a:r>
              <a:rPr lang="en-US" sz="4000" b="1" dirty="0">
                <a:solidFill>
                  <a:srgbClr val="EF4444"/>
                </a:solidFill>
                <a:latin typeface="Georgia" pitchFamily="34" charset="0"/>
                <a:ea typeface="Georgia" pitchFamily="34" charset="-122"/>
                <a:cs typeface="Georgia" pitchFamily="34" charset="-120"/>
              </a:rPr>
              <a:t>$47M</a:t>
            </a:r>
            <a:endParaRPr lang="en-US" sz="4000" dirty="0"/>
          </a:p>
        </p:txBody>
      </p:sp>
      <p:sp>
        <p:nvSpPr>
          <p:cNvPr id="11" name="Text 9"/>
          <p:cNvSpPr/>
          <p:nvPr/>
        </p:nvSpPr>
        <p:spPr>
          <a:xfrm>
            <a:off x="457200" y="4224528"/>
            <a:ext cx="2487168" cy="603504"/>
          </a:xfrm>
          <a:prstGeom prst="rect">
            <a:avLst/>
          </a:prstGeom>
          <a:noFill/>
          <a:ln/>
        </p:spPr>
        <p:txBody>
          <a:bodyPr wrap="square" lIns="0" tIns="0" rIns="0" bIns="0" rtlCol="0" anchor="t"/>
          <a:lstStyle/>
          <a:p>
            <a:pPr marL="0" indent="0" algn="ctr">
              <a:lnSpc>
                <a:spcPct val="135000"/>
              </a:lnSpc>
              <a:buNone/>
            </a:pPr>
            <a:r>
              <a:rPr lang="en-US" sz="950" dirty="0">
                <a:solidFill>
                  <a:srgbClr val="9CA3AF"/>
                </a:solidFill>
                <a:latin typeface="Calibri" pitchFamily="34" charset="0"/>
                <a:ea typeface="Calibri" pitchFamily="34" charset="-122"/>
                <a:cs typeface="Calibri" pitchFamily="34" charset="-120"/>
              </a:rPr>
              <a:t>lost per enterprise</a:t>
            </a:r>
            <a:endParaRPr lang="en-US" sz="950" dirty="0"/>
          </a:p>
          <a:p>
            <a:pPr marL="0" indent="0" algn="ctr">
              <a:lnSpc>
                <a:spcPct val="135000"/>
              </a:lnSpc>
              <a:buNone/>
            </a:pPr>
            <a:r>
              <a:rPr lang="en-US" sz="950" dirty="0">
                <a:solidFill>
                  <a:srgbClr val="9CA3AF"/>
                </a:solidFill>
                <a:latin typeface="Calibri" pitchFamily="34" charset="0"/>
                <a:ea typeface="Calibri" pitchFamily="34" charset="-122"/>
                <a:cs typeface="Calibri" pitchFamily="34" charset="-120"/>
              </a:rPr>
              <a:t>per year · Panopto 2025</a:t>
            </a:r>
            <a:endParaRPr lang="en-US" sz="950" dirty="0"/>
          </a:p>
        </p:txBody>
      </p:sp>
      <p:sp>
        <p:nvSpPr>
          <p:cNvPr id="12" name="Shape 10"/>
          <p:cNvSpPr/>
          <p:nvPr/>
        </p:nvSpPr>
        <p:spPr>
          <a:xfrm>
            <a:off x="3218688" y="3456432"/>
            <a:ext cx="2706624" cy="1444752"/>
          </a:xfrm>
          <a:prstGeom prst="rect">
            <a:avLst/>
          </a:prstGeom>
          <a:solidFill>
            <a:srgbClr val="111827"/>
          </a:solidFill>
          <a:ln w="12700">
            <a:solidFill>
              <a:srgbClr val="1E293B"/>
            </a:solidFill>
            <a:prstDash val="solid"/>
          </a:ln>
        </p:spPr>
        <p:txBody>
          <a:bodyPr/>
          <a:lstStyle/>
          <a:p>
            <a:endParaRPr lang="en-US"/>
          </a:p>
        </p:txBody>
      </p:sp>
      <p:sp>
        <p:nvSpPr>
          <p:cNvPr id="13" name="Shape 11"/>
          <p:cNvSpPr/>
          <p:nvPr/>
        </p:nvSpPr>
        <p:spPr>
          <a:xfrm>
            <a:off x="3218688" y="3456432"/>
            <a:ext cx="2706624" cy="54864"/>
          </a:xfrm>
          <a:prstGeom prst="rect">
            <a:avLst/>
          </a:prstGeom>
          <a:solidFill>
            <a:srgbClr val="6366F1"/>
          </a:solidFill>
          <a:ln w="12700">
            <a:solidFill>
              <a:srgbClr val="6366F1"/>
            </a:solidFill>
            <a:prstDash val="solid"/>
          </a:ln>
        </p:spPr>
        <p:txBody>
          <a:bodyPr/>
          <a:lstStyle/>
          <a:p>
            <a:endParaRPr lang="en-US"/>
          </a:p>
        </p:txBody>
      </p:sp>
      <p:sp>
        <p:nvSpPr>
          <p:cNvPr id="14" name="Text 12"/>
          <p:cNvSpPr/>
          <p:nvPr/>
        </p:nvSpPr>
        <p:spPr>
          <a:xfrm>
            <a:off x="3218688" y="3547872"/>
            <a:ext cx="2706624" cy="658368"/>
          </a:xfrm>
          <a:prstGeom prst="rect">
            <a:avLst/>
          </a:prstGeom>
          <a:noFill/>
          <a:ln/>
        </p:spPr>
        <p:txBody>
          <a:bodyPr wrap="square" lIns="0" tIns="0" rIns="0" bIns="0" rtlCol="0" anchor="ctr"/>
          <a:lstStyle/>
          <a:p>
            <a:pPr marL="0" indent="0" algn="ctr">
              <a:buNone/>
            </a:pPr>
            <a:r>
              <a:rPr lang="en-US" sz="4000" b="1" dirty="0">
                <a:solidFill>
                  <a:srgbClr val="6366F1"/>
                </a:solidFill>
                <a:latin typeface="Georgia" pitchFamily="34" charset="0"/>
                <a:ea typeface="Georgia" pitchFamily="34" charset="-122"/>
                <a:cs typeface="Georgia" pitchFamily="34" charset="-120"/>
              </a:rPr>
              <a:t>57%</a:t>
            </a:r>
            <a:endParaRPr lang="en-US" sz="4000" dirty="0"/>
          </a:p>
        </p:txBody>
      </p:sp>
      <p:sp>
        <p:nvSpPr>
          <p:cNvPr id="15" name="Text 13"/>
          <p:cNvSpPr/>
          <p:nvPr/>
        </p:nvSpPr>
        <p:spPr>
          <a:xfrm>
            <a:off x="3328416" y="4224528"/>
            <a:ext cx="2487168" cy="603504"/>
          </a:xfrm>
          <a:prstGeom prst="rect">
            <a:avLst/>
          </a:prstGeom>
          <a:noFill/>
          <a:ln/>
        </p:spPr>
        <p:txBody>
          <a:bodyPr wrap="square" lIns="0" tIns="0" rIns="0" bIns="0" rtlCol="0" anchor="t"/>
          <a:lstStyle/>
          <a:p>
            <a:pPr marL="0" indent="0" algn="ctr">
              <a:lnSpc>
                <a:spcPct val="135000"/>
              </a:lnSpc>
              <a:buNone/>
            </a:pPr>
            <a:r>
              <a:rPr lang="en-US" sz="950" dirty="0">
                <a:solidFill>
                  <a:srgbClr val="9CA3AF"/>
                </a:solidFill>
                <a:latin typeface="Calibri" pitchFamily="34" charset="0"/>
                <a:ea typeface="Calibri" pitchFamily="34" charset="-122"/>
                <a:cs typeface="Calibri" pitchFamily="34" charset="-120"/>
              </a:rPr>
              <a:t>of orgs with agents</a:t>
            </a:r>
            <a:endParaRPr lang="en-US" sz="950" dirty="0"/>
          </a:p>
          <a:p>
            <a:pPr marL="0" indent="0" algn="ctr">
              <a:lnSpc>
                <a:spcPct val="135000"/>
              </a:lnSpc>
              <a:buNone/>
            </a:pPr>
            <a:r>
              <a:rPr lang="en-US" sz="950" dirty="0">
                <a:solidFill>
                  <a:srgbClr val="9CA3AF"/>
                </a:solidFill>
                <a:latin typeface="Calibri" pitchFamily="34" charset="0"/>
                <a:ea typeface="Calibri" pitchFamily="34" charset="-122"/>
                <a:cs typeface="Calibri" pitchFamily="34" charset="-120"/>
              </a:rPr>
              <a:t>in production · LangChain 2025</a:t>
            </a:r>
            <a:endParaRPr lang="en-US" sz="950" dirty="0"/>
          </a:p>
        </p:txBody>
      </p:sp>
      <p:sp>
        <p:nvSpPr>
          <p:cNvPr id="16" name="Shape 14"/>
          <p:cNvSpPr/>
          <p:nvPr/>
        </p:nvSpPr>
        <p:spPr>
          <a:xfrm>
            <a:off x="6089904" y="3456432"/>
            <a:ext cx="2706624" cy="1444752"/>
          </a:xfrm>
          <a:prstGeom prst="rect">
            <a:avLst/>
          </a:prstGeom>
          <a:solidFill>
            <a:srgbClr val="111827"/>
          </a:solidFill>
          <a:ln w="12700">
            <a:solidFill>
              <a:srgbClr val="1E293B"/>
            </a:solidFill>
            <a:prstDash val="solid"/>
          </a:ln>
        </p:spPr>
        <p:txBody>
          <a:bodyPr/>
          <a:lstStyle/>
          <a:p>
            <a:endParaRPr lang="en-US"/>
          </a:p>
        </p:txBody>
      </p:sp>
      <p:sp>
        <p:nvSpPr>
          <p:cNvPr id="17" name="Shape 15"/>
          <p:cNvSpPr/>
          <p:nvPr/>
        </p:nvSpPr>
        <p:spPr>
          <a:xfrm>
            <a:off x="6089904" y="3456432"/>
            <a:ext cx="2706624" cy="54864"/>
          </a:xfrm>
          <a:prstGeom prst="rect">
            <a:avLst/>
          </a:prstGeom>
          <a:solidFill>
            <a:srgbClr val="14B8A6"/>
          </a:solidFill>
          <a:ln w="12700">
            <a:solidFill>
              <a:srgbClr val="14B8A6"/>
            </a:solidFill>
            <a:prstDash val="solid"/>
          </a:ln>
        </p:spPr>
        <p:txBody>
          <a:bodyPr/>
          <a:lstStyle/>
          <a:p>
            <a:endParaRPr lang="en-US"/>
          </a:p>
        </p:txBody>
      </p:sp>
      <p:sp>
        <p:nvSpPr>
          <p:cNvPr id="18" name="Text 16"/>
          <p:cNvSpPr/>
          <p:nvPr/>
        </p:nvSpPr>
        <p:spPr>
          <a:xfrm>
            <a:off x="6089904" y="3547872"/>
            <a:ext cx="2706624" cy="658368"/>
          </a:xfrm>
          <a:prstGeom prst="rect">
            <a:avLst/>
          </a:prstGeom>
          <a:noFill/>
          <a:ln/>
        </p:spPr>
        <p:txBody>
          <a:bodyPr wrap="square" lIns="0" tIns="0" rIns="0" bIns="0" rtlCol="0" anchor="ctr"/>
          <a:lstStyle/>
          <a:p>
            <a:pPr marL="0" indent="0" algn="ctr">
              <a:buNone/>
            </a:pPr>
            <a:r>
              <a:rPr lang="en-US" sz="4000" b="1" dirty="0">
                <a:solidFill>
                  <a:srgbClr val="14B8A6"/>
                </a:solidFill>
                <a:latin typeface="Georgia" pitchFamily="34" charset="0"/>
                <a:ea typeface="Georgia" pitchFamily="34" charset="-122"/>
                <a:cs typeface="Georgia" pitchFamily="34" charset="-120"/>
              </a:rPr>
              <a:t>91%</a:t>
            </a:r>
            <a:endParaRPr lang="en-US" sz="4000" dirty="0"/>
          </a:p>
        </p:txBody>
      </p:sp>
      <p:sp>
        <p:nvSpPr>
          <p:cNvPr id="19" name="Text 17"/>
          <p:cNvSpPr/>
          <p:nvPr/>
        </p:nvSpPr>
        <p:spPr>
          <a:xfrm>
            <a:off x="6199632" y="4224528"/>
            <a:ext cx="2487168" cy="603504"/>
          </a:xfrm>
          <a:prstGeom prst="rect">
            <a:avLst/>
          </a:prstGeom>
          <a:noFill/>
          <a:ln/>
        </p:spPr>
        <p:txBody>
          <a:bodyPr wrap="square" lIns="0" tIns="0" rIns="0" bIns="0" rtlCol="0" anchor="t"/>
          <a:lstStyle/>
          <a:p>
            <a:pPr marL="0" indent="0" algn="ctr">
              <a:lnSpc>
                <a:spcPct val="135000"/>
              </a:lnSpc>
              <a:buNone/>
            </a:pPr>
            <a:r>
              <a:rPr lang="en-US" sz="950" dirty="0">
                <a:solidFill>
                  <a:srgbClr val="9CA3AF"/>
                </a:solidFill>
                <a:latin typeface="Calibri" pitchFamily="34" charset="0"/>
                <a:ea typeface="Calibri" pitchFamily="34" charset="-122"/>
                <a:cs typeface="Calibri" pitchFamily="34" charset="-120"/>
              </a:rPr>
              <a:t>search time saved</a:t>
            </a:r>
            <a:endParaRPr lang="en-US" sz="950" dirty="0"/>
          </a:p>
          <a:p>
            <a:pPr marL="0" indent="0" algn="ctr">
              <a:lnSpc>
                <a:spcPct val="135000"/>
              </a:lnSpc>
              <a:buNone/>
            </a:pPr>
            <a:r>
              <a:rPr lang="en-US" sz="950" dirty="0">
                <a:solidFill>
                  <a:srgbClr val="9CA3AF"/>
                </a:solidFill>
                <a:latin typeface="Calibri" pitchFamily="34" charset="0"/>
                <a:ea typeface="Calibri" pitchFamily="34" charset="-122"/>
                <a:cs typeface="Calibri" pitchFamily="34" charset="-120"/>
              </a:rPr>
              <a:t>with AI knowledge tools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1156</TotalTime>
  <Words>2012</Words>
  <Application>Microsoft Office PowerPoint</Application>
  <PresentationFormat>On-screen Show (16:9)</PresentationFormat>
  <Paragraphs>265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Closing the Institutional Knowledge Gap — AI Agent Use Case</dc:title>
  <dc:subject>PptxGenJS Presentation</dc:subject>
  <dc:creator>PptxGenJS</dc:creator>
  <cp:lastModifiedBy>RAJIYAN Jogesh</cp:lastModifiedBy>
  <cp:revision>5</cp:revision>
  <dcterms:created xsi:type="dcterms:W3CDTF">2026-04-14T18:58:55Z</dcterms:created>
  <dcterms:modified xsi:type="dcterms:W3CDTF">2026-04-16T05:15:35Z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949dd3d-8f72-40c4-a080-4e95254d1a20_Enabled">
    <vt:lpwstr>true</vt:lpwstr>
  </property>
  <property fmtid="{D5CDD505-2E9C-101B-9397-08002B2CF9AE}" pid="3" name="MSIP_Label_7949dd3d-8f72-40c4-a080-4e95254d1a20_SetDate">
    <vt:lpwstr>2026-04-15T09:58:48Z</vt:lpwstr>
  </property>
  <property fmtid="{D5CDD505-2E9C-101B-9397-08002B2CF9AE}" pid="4" name="MSIP_Label_7949dd3d-8f72-40c4-a080-4e95254d1a20_Method">
    <vt:lpwstr>Standard</vt:lpwstr>
  </property>
  <property fmtid="{D5CDD505-2E9C-101B-9397-08002B2CF9AE}" pid="5" name="MSIP_Label_7949dd3d-8f72-40c4-a080-4e95254d1a20_Name">
    <vt:lpwstr>AXABS Internal</vt:lpwstr>
  </property>
  <property fmtid="{D5CDD505-2E9C-101B-9397-08002B2CF9AE}" pid="6" name="MSIP_Label_7949dd3d-8f72-40c4-a080-4e95254d1a20_SiteId">
    <vt:lpwstr>396b38cc-aa65-492b-bb0e-3d94ed25a97b</vt:lpwstr>
  </property>
  <property fmtid="{D5CDD505-2E9C-101B-9397-08002B2CF9AE}" pid="7" name="MSIP_Label_7949dd3d-8f72-40c4-a080-4e95254d1a20_ActionId">
    <vt:lpwstr>4e093bdf-54a9-444b-9ee5-d17cd71bb7a1</vt:lpwstr>
  </property>
  <property fmtid="{D5CDD505-2E9C-101B-9397-08002B2CF9AE}" pid="8" name="MSIP_Label_7949dd3d-8f72-40c4-a080-4e95254d1a20_ContentBits">
    <vt:lpwstr>2</vt:lpwstr>
  </property>
  <property fmtid="{D5CDD505-2E9C-101B-9397-08002B2CF9AE}" pid="9" name="MSIP_Label_7949dd3d-8f72-40c4-a080-4e95254d1a20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AXA - GBS Internal</vt:lpwstr>
  </property>
</Properties>
</file>